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524" r:id="rId27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Escrow balance (ETH)</c:v>
                </c:pt>
              </c:strCache>
            </c:strRef>
          </c:tx>
          <c:spPr>
            <a:solidFill>
              <a:srgbClr val="1F6FEB"/>
            </a:solidFill>
          </c:spPr>
          <c:cat>
            <c:strRef>
              <c:f>Sheet1!$A$2:$A$4</c:f>
              <c:strCache>
                <c:ptCount val="3"/>
                <c:pt idx="0">
                  <c:v>Buyer deposits</c:v>
                </c:pt>
                <c:pt idx="1">
                  <c:v>Escrow funded</c:v>
                </c:pt>
                <c:pt idx="2">
                  <c:v>Seller released</c:v>
                </c:pt>
              </c:strCache>
            </c:strRef>
          </c:cat>
          <c:val>
            <c:numRef>
              <c:f>Sheet1!$B$2:$B$4</c:f>
              <c:numCache>
                <c:formatCode>0.00</c:formatCode>
                <c:ptCount val="3"/>
                <c:pt idx="0">
                  <c:v>0</c:v>
                </c:pt>
                <c:pt idx="1">
                  <c:v>0.1</c:v>
                </c:pt>
                <c:pt idx="2">
                  <c:v>0</c:v>
                </c:pt>
              </c:numCache>
            </c:numRef>
          </c:val>
        </c:ser>
        <c:ser>
          <c:idx val="1"/>
          <c:order val="1"/>
          <c:tx>
            <c:strRef>
              <c:f>Sheet1!$C$1</c:f>
              <c:strCache>
                <c:ptCount val="1"/>
                <c:pt idx="0">
                  <c:v>Seller received (ETH)</c:v>
                </c:pt>
              </c:strCache>
            </c:strRef>
          </c:tx>
          <c:spPr>
            <a:solidFill>
              <a:srgbClr val="10B981"/>
            </a:solidFill>
          </c:spPr>
          <c:cat>
            <c:strRef>
              <c:f>Sheet1!$A$2:$A$4</c:f>
              <c:strCache>
                <c:ptCount val="3"/>
                <c:pt idx="0">
                  <c:v>Buyer deposits</c:v>
                </c:pt>
                <c:pt idx="1">
                  <c:v>Escrow funded</c:v>
                </c:pt>
                <c:pt idx="2">
                  <c:v>Seller released</c:v>
                </c:pt>
              </c:strCache>
            </c:strRef>
          </c:cat>
          <c:val>
            <c:numRef>
              <c:f>Sheet1!$C$2:$C$4</c:f>
              <c:numCache>
                <c:formatCode>0.00</c:formatCode>
                <c:ptCount val="3"/>
                <c:pt idx="0">
                  <c:v>0</c:v>
                </c:pt>
                <c:pt idx="1">
                  <c:v>0</c:v>
                </c:pt>
                <c:pt idx="2">
                  <c:v>0.1</c:v>
                </c:pt>
              </c:numCache>
            </c:numRef>
          </c:val>
        </c:ser>
        <c:dLbls>
          <c:numFmt formatCode="0.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numFmt formatCode="0.00" sourceLinked="0"/>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After transfer / delegated spend (WSC)</c:v>
                </c:pt>
              </c:strCache>
            </c:strRef>
          </c:tx>
          <c:spPr>
            <a:solidFill>
              <a:srgbClr val="1F6FEB"/>
            </a:solidFill>
          </c:spPr>
          <c:cat>
            <c:strRef>
              <c:f>Sheet1!$A$2:$A$4</c:f>
              <c:strCache>
                <c:ptCount val="3"/>
                <c:pt idx="0">
                  <c:v>Issuer</c:v>
                </c:pt>
                <c:pt idx="1">
                  <c:v>Learner</c:v>
                </c:pt>
                <c:pt idx="2">
                  <c:v>Spender</c:v>
                </c:pt>
              </c:strCache>
            </c:strRef>
          </c:cat>
          <c:val>
            <c:numRef>
              <c:f>Sheet1!$B$2:$B$4</c:f>
              <c:numCache>
                <c:formatCode>0</c:formatCode>
                <c:ptCount val="3"/>
                <c:pt idx="0">
                  <c:v>999500</c:v>
                </c:pt>
                <c:pt idx="1">
                  <c:v>480</c:v>
                </c:pt>
                <c:pt idx="2">
                  <c:v>20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numFmt formatCode="0" sourceLinked="0"/>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gasUsed</c:v>
                </c:pt>
              </c:strCache>
            </c:strRef>
          </c:tx>
          <c:spPr>
            <a:solidFill>
              <a:srgbClr val="1F6FEB"/>
            </a:solidFill>
          </c:spPr>
          <c:cat>
            <c:strRef>
              <c:f>Sheet1!$A$2:$A$4</c:f>
              <c:strCache>
                <c:ptCount val="3"/>
                <c:pt idx="0">
                  <c:v>Zero → nonzero</c:v>
                </c:pt>
                <c:pt idx="1">
                  <c:v>Nonzero → nonzero</c:v>
                </c:pt>
                <c:pt idx="2">
                  <c:v>Array append</c:v>
                </c:pt>
              </c:strCache>
            </c:strRef>
          </c:cat>
          <c:val>
            <c:numRef>
              <c:f>Sheet1!$B$2:$B$4</c:f>
              <c:numCache>
                <c:formatCode>0</c:formatCode>
                <c:ptCount val="3"/>
                <c:pt idx="0">
                  <c:v>43776</c:v>
                </c:pt>
                <c:pt idx="1">
                  <c:v>26676</c:v>
                </c:pt>
                <c:pt idx="2">
                  <c:v>65709</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numFmt formatCode="0" sourceLinked="0"/>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Course identity and version. Source: https://www.tertiarycourses.com.sg/wsq-develop-blockchain-and-web3-app-with-vibe-coding.html.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course_application/SME resume and cert.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https://www.tertiarycourses.com.sg/wsq-develop-blockchain-and-web3-app-with-vibe-coding.html | reference/Assessment Plan_NICf_Smart_Contract_v1.0.txt.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https://lms-tms.tertiaryinfotech.com.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parentHash ← previous block hash; register(bytes32 digest). Source: https://docs.soliditylang.org/en/latest/ | https://web3py.readthedocs.io/en/stable/providers.html. Toolchain Solidity 0.8.30, OpenZeppelin 5.4.0, web3.py 8.0.0, Py-EVM 0.12.1b1; checked 13 September 2026.</a:t>
            </a:r>
          </a:p>
          <a:p/>
          <a:p>
            <a:r>
              <a:t>Original v17 slide 18 verbatim content:</a:t>
            </a:r>
          </a:p>
          <a:p>
            <a:r>
              <a:t>What is Blockchain?</a:t>
            </a:r>
          </a:p>
          <a:p/>
          <a:p/>
          <a:p/>
          <a:p/>
          <a:p/>
          <a:p/>
          <a:p>
            <a:r>
              <a:t>Blockchain is set of distributed data structure blocks, that is not editable or removable after published, linked by cryptographic validation in peer-to-peer network.</a:t>
            </a:r>
          </a:p>
          <a:p>
            <a:r>
              <a:t>It is based on cryptographic ledgers which are treated in a decentralised and distributed manner.</a:t>
            </a:r>
          </a:p>
          <a:p>
            <a:r>
              <a:t>It is are maintained and verified by  the actors participating in the system, ensuring digital transparency and confidence in the records of information blocks.</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registered[digest] reads public state; register requires issuer. Source: https://docs.soliditylang.org/en/latest/ | https://web3py.readthedocs.io/en/stable/providers.html. Toolchain Solidity 0.8.30, OpenZeppelin 5.4.0, web3.py 8.0.0, Py-EVM 0.12.1b1; checked 13 September 2026.</a:t>
            </a:r>
          </a:p>
          <a:p/>
          <a:p>
            <a:r>
              <a:t>Original v17 slide 19 verbatim content:</a:t>
            </a:r>
          </a:p>
          <a:p>
            <a:r>
              <a:t>Traditional vs Blockchain Databases</a:t>
            </a:r>
          </a:p>
          <a:p>
            <a:r>
              <a:t>While all records secured on a traditional database are centralized managed by database administrators, each participant on a blockchain has a secured copy of all records and there is no database administrators.</a:t>
            </a:r>
          </a:p>
          <a:p/>
          <a:p>
            <a:r>
              <a:t>This new approach has greatly enhance the data immutability, transparency and security of the data.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reject(register(forgedDigest), outsider). Source: https://docs.soliditylang.org/en/latest/ | https://web3py.readthedocs.io/en/stable/providers.html. Toolchain Solidity 0.8.30, OpenZeppelin 5.4.0, web3.py 8.0.0, Py-EVM 0.12.1b1; checked 13 September 2026.</a:t>
            </a:r>
          </a:p>
          <a:p/>
          <a:p>
            <a:r>
              <a:t>Original v17 slide 20 verbatim content:</a:t>
            </a:r>
          </a:p>
          <a:p>
            <a:r>
              <a:t>Risks and Challenges of Traditional Model</a:t>
            </a:r>
          </a:p>
          <a:p>
            <a:r>
              <a:t>Single point of failure - all data is stored in a few centralized databases which are prompt to cyber hacking.</a:t>
            </a:r>
          </a:p>
          <a:p/>
          <a:p>
            <a:r>
              <a:t>Fraud and security breaches - database administrators have full control over delegating access and granting various permissions to other users. With sufficient permissions, any one can freely alter information stored on the centralized server. If the security of the authority is compromised, the data can be altered, or even deleted.</a:t>
            </a:r>
          </a:p>
          <a:p/>
          <a:p>
            <a:r>
              <a:t>Lack of transparency and visibility - traditional database keep information up-to-date at a point in time. There is no real-time visibility into what changes are being made by multiple users at the same time.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buyer = msg.sender; seller = constructor argument. Source: https://docs.soliditylang.org/en/latest/ | https://web3py.readthedocs.io/en/stable/providers.html. Toolchain Solidity 0.8.30, OpenZeppelin 5.4.0, web3.py 8.0.0, Py-EVM 0.12.1b1; checked 13 September 2026.</a:t>
            </a:r>
          </a:p>
          <a:p/>
          <a:p>
            <a:r>
              <a:t>Original v17 slide 21 verbatim content:</a:t>
            </a:r>
          </a:p>
          <a:p>
            <a:r>
              <a:t>Trust is Important in Traditional Model</a:t>
            </a:r>
          </a:p>
          <a:p>
            <a:r>
              <a:t>‹#›</a:t>
            </a:r>
          </a:p>
          <a:p>
            <a:r>
              <a:t>When you use traditional methods of payment, you need to trust in a third party to set your transaction (e.g. Visa, Mastercard, PayPal, banks, kickstarter, Lazada, Shoppe etc...)</a:t>
            </a:r>
          </a:p>
          <a:p>
            <a:r>
              <a:t>What if the Trust is broken one 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Bitcoin: SHA256d header target; Ethereum: PoS validators. Source: https://docs.soliditylang.org/en/latest/ | https://web3py.readthedocs.io/en/stable/providers.html. Toolchain Solidity 0.8.30, OpenZeppelin 5.4.0, web3.py 8.0.0, Py-EVM 0.12.1b1; checked 13 September 2026.</a:t>
            </a:r>
          </a:p>
          <a:p/>
          <a:p>
            <a:r>
              <a:t>Original v17 slide 22 verbatim content:</a:t>
            </a:r>
          </a:p>
          <a:p>
            <a:r>
              <a:t>History of Blockchain</a:t>
            </a:r>
          </a:p>
          <a:p/>
          <a:p/>
          <a:p/>
          <a:p/>
          <a:p/>
          <a:p/>
          <a:p>
            <a:r>
              <a:t>Blockchain started its journey back in 1991.  </a:t>
            </a:r>
          </a:p>
          <a:p>
            <a:r>
              <a:t>2009 - Satoshi Nakamoto introduce the first generation of blockchain - Bitcoin blockchain </a:t>
            </a:r>
          </a:p>
          <a:p>
            <a:r>
              <a:t>In 2013, a 19 years old Vitalik Buterin introduce the second generation of blockchain - Ethereum blockchain for smart contracts</a:t>
            </a:r>
          </a:p>
          <a:p>
            <a:r>
              <a:t>Since then, many blockchains have been created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Bitcoin: no Solidity EVM; Ethereum: EVM; Py-EVM: local execution. Source: https://docs.soliditylang.org/en/latest/ | https://web3py.readthedocs.io/en/stable/providers.html. Toolchain Solidity 0.8.30, OpenZeppelin 5.4.0, web3.py 8.0.0, Py-EVM 0.12.1b1; checked 13 September 2026.</a:t>
            </a:r>
          </a:p>
          <a:p/>
          <a:p>
            <a:r>
              <a:t>Original v17 slide 23 verbatim content:</a:t>
            </a:r>
          </a:p>
          <a:p>
            <a:r>
              <a:t>Popular Blockchain Projects </a:t>
            </a:r>
          </a:p>
          <a:p>
            <a:r>
              <a:t>‹#›</a:t>
            </a:r>
          </a:p>
          <a:p>
            <a:r>
              <a:t>and Many More!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static HTML → EIP-1193 wallet → eth_call → contract state. Source: https://docs.soliditylang.org/en/latest/ | https://web3py.readthedocs.io/en/stable/providers.html. Toolchain Solidity 0.8.30, OpenZeppelin 5.4.0, web3.py 8.0.0, Py-EVM 0.12.1b1; checked 13 September 2026.</a:t>
            </a:r>
          </a:p>
          <a:p/>
          <a:p>
            <a:r>
              <a:t>Original v17 slide 24 verbatim content:</a:t>
            </a:r>
          </a:p>
          <a:p>
            <a:r>
              <a:t>Web3</a:t>
            </a:r>
          </a:p>
          <a:p/>
          <a:p/>
          <a:p/>
          <a:p/>
          <a:p/>
          <a:p/>
          <a:p>
            <a:r>
              <a:t>Web 1 is characterized by static information webpages</a:t>
            </a:r>
          </a:p>
          <a:p>
            <a:r>
              <a:t>Web 2 is characterized by centralized internet platform and user interactivity . </a:t>
            </a:r>
          </a:p>
          <a:p>
            <a:r>
              <a:t>Web 3 is characterized by decentralized apps that run on the blockchain.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BigInt(walletChainId) === BigInt(manifest.chainId). Source: https://docs.soliditylang.org/en/latest/ | https://web3py.readthedocs.io/en/stable/providers.html. Toolchain Solidity 0.8.30, OpenZeppelin 5.4.0, web3.py 8.0.0, Py-EVM 0.12.1b1; checked 13 September 2026.</a:t>
            </a:r>
          </a:p>
          <a:p/>
          <a:p>
            <a:r>
              <a:t>Original v17 slide 25 verbatim content:</a:t>
            </a:r>
          </a:p>
          <a:p>
            <a:r>
              <a:t>The Emergence of Web3 </a:t>
            </a:r>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msg.value (wei) differs from balanceOf(holder) (token units). Source: https://docs.soliditylang.org/en/latest/ | https://web3py.readthedocs.io/en/stable/providers.html. Toolchain Solidity 0.8.30, OpenZeppelin 5.4.0, web3.py 8.0.0, Py-EVM 0.12.1b1; checked 13 September 2026.</a:t>
            </a:r>
          </a:p>
          <a:p/>
          <a:p>
            <a:r>
              <a:t>Original v17 slide 26 verbatim content:</a:t>
            </a:r>
          </a:p>
          <a:p>
            <a:r>
              <a:t>Blockchains, Crypto and Tokens</a:t>
            </a:r>
          </a:p>
          <a:p>
            <a:r>
              <a:t>‹#›</a:t>
            </a:r>
          </a:p>
          <a:p/>
          <a:p>
            <a:r>
              <a:t>Ethereum</a:t>
            </a:r>
          </a:p>
          <a:p>
            <a:r>
              <a:t>PoW</a:t>
            </a:r>
          </a:p>
          <a:p>
            <a:r>
              <a:t>Polygon</a:t>
            </a:r>
          </a:p>
          <a:p>
            <a:r>
              <a:t>PoS</a:t>
            </a:r>
          </a:p>
          <a:p>
            <a:r>
              <a:t>Bitcoin</a:t>
            </a:r>
          </a:p>
          <a:p>
            <a:r>
              <a:t>PoW</a:t>
            </a:r>
          </a:p>
          <a:p>
            <a:r>
              <a:t>Blockchains</a:t>
            </a:r>
          </a:p>
          <a:p>
            <a:r>
              <a:t>Protocol</a:t>
            </a:r>
          </a:p>
          <a:p/>
          <a:p>
            <a:r>
              <a:t>Ether</a:t>
            </a:r>
          </a:p>
          <a:p>
            <a:r>
              <a:t>LINK</a:t>
            </a:r>
          </a:p>
          <a:p>
            <a:r>
              <a:t>USTD</a:t>
            </a:r>
          </a:p>
          <a:p>
            <a:r>
              <a:t>WBTC</a:t>
            </a:r>
          </a:p>
          <a:p>
            <a:r>
              <a:t>OMG</a:t>
            </a:r>
          </a:p>
          <a:p>
            <a:r>
              <a:t>SAND</a:t>
            </a:r>
          </a:p>
          <a:p>
            <a:r>
              <a:t>MANA</a:t>
            </a:r>
          </a:p>
          <a:p>
            <a:r>
              <a:t>MATIC</a:t>
            </a:r>
          </a:p>
          <a:p/>
          <a:p>
            <a:r>
              <a:t>Blockchain Technology</a:t>
            </a:r>
          </a:p>
          <a:p>
            <a:r>
              <a:t>Blockchains</a:t>
            </a:r>
          </a:p>
          <a:p>
            <a:r>
              <a:t>Crypto and Tokens</a:t>
            </a:r>
          </a:p>
          <a:p>
            <a:r>
              <a:t>Solana</a:t>
            </a:r>
          </a:p>
          <a:p>
            <a:r>
              <a:t>PoH</a:t>
            </a:r>
          </a:p>
          <a:p>
            <a:r>
              <a:t>SOL</a:t>
            </a:r>
          </a:p>
          <a:p>
            <a:r>
              <a:t>ERC-20, ERC-721, ERC-1155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 tx.value; ERC20: transfer(to, amount) calldata. Source: https://docs.soliditylang.org/en/latest/ | https://web3py.readthedocs.io/en/stable/providers.html. Toolchain Solidity 0.8.30, OpenZeppelin 5.4.0, web3.py 8.0.0, Py-EVM 0.12.1b1; checked 13 September 2026.</a:t>
            </a:r>
          </a:p>
          <a:p/>
          <a:p>
            <a:r>
              <a:t>Original v17 slide 27 verbatim content:</a:t>
            </a:r>
          </a:p>
          <a:p>
            <a:r>
              <a:t>Cryptocurrencies vs. Tokens</a:t>
            </a:r>
          </a:p>
          <a:p/>
          <a:p/>
          <a:p/>
          <a:p/>
          <a:p/>
          <a:p/>
          <a:p>
            <a:r>
              <a:t>It’s important not to confuse the terms “cryptocurrencies” and “tokens,” as there are fundamental differences that distinguish them.</a:t>
            </a:r>
          </a:p>
          <a:p>
            <a:r>
              <a:t>The biggest differentiation between the two is that cryptocurrencies have their own blockchains, whereas crypto tokens are built on an existing blockchain.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balanceOf(a)+balanceOf(b)+balanceOf(c) == totalSupply(). Source: https://docs.soliditylang.org/en/latest/ | https://web3py.readthedocs.io/en/stable/providers.html. Toolchain Solidity 0.8.30, OpenZeppelin 5.4.0, web3.py 8.0.0, Py-EVM 0.12.1b1; checked 13 September 2026.</a:t>
            </a:r>
          </a:p>
          <a:p/>
          <a:p>
            <a:r>
              <a:t>Original v17 slide 28 verbatim content:</a:t>
            </a:r>
          </a:p>
          <a:p>
            <a:r>
              <a:t>Token Standards</a:t>
            </a:r>
          </a:p>
          <a:p>
            <a:r>
              <a:t>‹#›</a:t>
            </a:r>
          </a:p>
          <a:p>
            <a:r>
              <a:t>There are several widely used token standards for creating crypto tokens, the majority of which have been built on top of Ethereum.  Two most popular Ethereum tokens are:</a:t>
            </a:r>
          </a:p>
          <a:p/>
          <a:p>
            <a:r>
              <a:t>Fungible tokens - ERC 20 standards. </a:t>
            </a:r>
          </a:p>
          <a:p>
            <a:r>
              <a:t>Non-Fungible tokens - ERC 721 standards.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supportsInterface(0x80ac58cd); ownerOf(tokenId). Source: https://docs.soliditylang.org/en/latest/ | https://web3py.readthedocs.io/en/stable/providers.html. Toolchain Solidity 0.8.30, OpenZeppelin 5.4.0, web3.py 8.0.0, Py-EVM 0.12.1b1; checked 13 September 2026.</a:t>
            </a:r>
          </a:p>
          <a:p/>
          <a:p>
            <a:r>
              <a:t>Original v17 slide 29 verbatim content:</a:t>
            </a:r>
          </a:p>
          <a:p>
            <a:r>
              <a:t>Token Standards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Bitcoin hash target is not Ethereum EVM contract execution. Source: https://docs.soliditylang.org/en/latest/ | https://web3py.readthedocs.io/en/stable/providers.html. Toolchain Solidity 0.8.30, OpenZeppelin 5.4.0, web3.py 8.0.0, Py-EVM 0.12.1b1; checked 13 September 2026.</a:t>
            </a:r>
          </a:p>
          <a:p/>
          <a:p>
            <a:r>
              <a:t>Original v17 slide 30 verbatim content:</a:t>
            </a:r>
          </a:p>
          <a:p>
            <a:r>
              <a:t>Bitcoin</a:t>
            </a:r>
          </a:p>
          <a:p>
            <a:r>
              <a:t>‹#›</a:t>
            </a:r>
          </a:p>
          <a:p>
            <a:r>
              <a:t>Bitcoin (https://bitcoin.org/en/) was the first cryptocurrency created using Blockchain Technology and many people have perception that Bitcoin is Blockchain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eth_accounts → address; require(msg.sender == issuer). Source: https://docs.soliditylang.org/en/latest/ | https://web3py.readthedocs.io/en/stable/providers.html. Toolchain Solidity 0.8.30, OpenZeppelin 5.4.0, web3.py 8.0.0, Py-EVM 0.12.1b1; checked 13 September 2026.</a:t>
            </a:r>
          </a:p>
          <a:p/>
          <a:p>
            <a:r>
              <a:t>Original v17 slide 31 verbatim content:</a:t>
            </a:r>
          </a:p>
          <a:p>
            <a:r>
              <a:t>Bitcoin Wallet</a:t>
            </a:r>
          </a:p>
          <a:p>
            <a:r>
              <a:t>‹#›</a:t>
            </a:r>
          </a:p>
          <a:p>
            <a:r>
              <a:t>A Bitcoin wallet is a type of digital wallet used to send and receive Bitcoins. This is analogous to a physical wallet. </a:t>
            </a:r>
          </a:p>
          <a:p>
            <a:r>
              <a:t>However, instead of storing physical currency, the wallet stores the cryptographic information used to access Bitcoin addresses and send transactions. </a:t>
            </a:r>
          </a:p>
          <a:p>
            <a:r>
              <a:t>Some Bitcoin wallets can also be used for other cryptocurrencies.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hash(block_i.parent) == hash(block_(i-1)). Source: https://docs.soliditylang.org/en/latest/ | https://web3py.readthedocs.io/en/stable/providers.html. Toolchain Solidity 0.8.30, OpenZeppelin 5.4.0, web3.py 8.0.0, Py-EVM 0.12.1b1; checked 13 September 2026.</a:t>
            </a:r>
          </a:p>
          <a:p/>
          <a:p>
            <a:r>
              <a:t>Original v17 slide 32 verbatim content:</a:t>
            </a:r>
          </a:p>
          <a:p>
            <a:r>
              <a:t>The Birth of Blockchain in Bitcoin</a:t>
            </a:r>
          </a:p>
          <a:p>
            <a:r>
              <a:t>In October 2008, Satoshi published the original whitepaper, describing his blueprint for a “A Peer-to-Peer Electronic Cash System.”</a:t>
            </a:r>
          </a:p>
          <a:p>
            <a:r>
              <a:t>In January 2009 he released version 0.1 of the source code and launched the cryptocurrency by mining the genesis block.</a:t>
            </a:r>
          </a:p>
          <a:p>
            <a:r>
              <a:t>Nakamoto was the first to solve the double-spending problem for a decentralized digital currency, creating a new asset, the likes of which the world had never seen before: Bitcoin.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certificate validity = issuer policy ∧ digest match ∧ !revoked. Source: https://docs.soliditylang.org/en/latest/ | https://web3py.readthedocs.io/en/stable/providers.html. Toolchain Solidity 0.8.30, OpenZeppelin 5.4.0, web3.py 8.0.0, Py-EVM 0.12.1b1; checked 13 September 2026.</a:t>
            </a:r>
          </a:p>
          <a:p/>
          <a:p>
            <a:r>
              <a:t>Original v17 slide 33 verbatim content:</a:t>
            </a:r>
          </a:p>
          <a:p>
            <a:r>
              <a:t>Who is Satoshi Nakamoto?</a:t>
            </a:r>
          </a:p>
          <a:p/>
          <a:p/>
          <a:p/>
          <a:p>
            <a:r>
              <a:t>The name Satoshi Nakamoto is an alias used by the person or entity who created Bitcoin to hide their true identity. </a:t>
            </a:r>
          </a:p>
          <a:p>
            <a:r>
              <a:t>The founder of Bitcoin continued to work on the software project for about another year and a half before disengaging from active development.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w3.eth.get_block(receipt.blockNumber)["parentHash"]. Source: https://docs.soliditylang.org/en/latest/ | https://web3py.readthedocs.io/en/stable/providers.html. Toolchain Solidity 0.8.30, OpenZeppelin 5.4.0, web3.py 8.0.0, Py-EVM 0.12.1b1; checked 13 September 2026.</a:t>
            </a:r>
          </a:p>
          <a:p/>
          <a:p>
            <a:r>
              <a:t>Original v17 slide 34 verbatim content:</a:t>
            </a:r>
          </a:p>
          <a:p>
            <a:r>
              <a:t>What is a Block?</a:t>
            </a:r>
          </a:p>
          <a:p/>
          <a:p/>
          <a:p/>
          <a:p>
            <a:r>
              <a:t>‹#›</a:t>
            </a:r>
          </a:p>
          <a:p>
            <a:r>
              <a:t>A block can be thought of like a link or node in a chain.</a:t>
            </a:r>
          </a:p>
          <a:p>
            <a:r>
              <a:t>It consists of at least 3 main components</a:t>
            </a:r>
          </a:p>
          <a:p>
            <a:r>
              <a:t>Data</a:t>
            </a:r>
          </a:p>
          <a:p>
            <a:r>
              <a:t>Hash</a:t>
            </a:r>
          </a:p>
          <a:p>
            <a:r>
              <a:t>Hash of previous block</a:t>
            </a:r>
          </a:p>
          <a:p>
            <a:r>
              <a:t>The data contains all of the records of the transactions Eg Buyer, seller, and the amount.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sha256(json.dumps(mock,sort_keys=True,separators=(",",":")).encode()). Source: https://docs.soliditylang.org/en/latest/ | https://web3py.readthedocs.io/en/stable/providers.html. Toolchain Solidity 0.8.30, OpenZeppelin 5.4.0, web3.py 8.0.0, Py-EVM 0.12.1b1; checked 13 September 2026.</a:t>
            </a:r>
          </a:p>
          <a:p/>
          <a:p>
            <a:r>
              <a:t>Original v17 slide 35 verbatim content:</a:t>
            </a:r>
          </a:p>
          <a:p>
            <a:r>
              <a:t>Hashing</a:t>
            </a:r>
          </a:p>
          <a:p/>
          <a:p/>
          <a:p/>
          <a:p/>
          <a:p/>
          <a:p/>
          <a:p>
            <a:r>
              <a:t>‹#›</a:t>
            </a:r>
          </a:p>
          <a:p>
            <a:r>
              <a:t>Hashing means taking an input string of any length and giving out an output of a fixed length.</a:t>
            </a:r>
          </a:p>
          <a:p>
            <a:r>
              <a:t>In the context of cryptocurrencies like Bitcoin, the transactions are taken as input and run through a hashing algorithm (Bitcoin uses SHA-256) which gives an output of a fixed length.</a:t>
            </a:r>
          </a:p>
          <a:p>
            <a:r>
              <a:t>The hash can be thought of like the fingerprint of the block.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len(digest) == 32; digest_old != digest_changed. Source: https://docs.soliditylang.org/en/latest/ | https://web3py.readthedocs.io/en/stable/providers.html. Toolchain Solidity 0.8.30, OpenZeppelin 5.4.0, web3.py 8.0.0, Py-EVM 0.12.1b1; checked 13 September 2026.</a:t>
            </a:r>
          </a:p>
          <a:p/>
          <a:p>
            <a:r>
              <a:t>Original v17 slide 36 verbatim content:</a:t>
            </a:r>
          </a:p>
          <a:p>
            <a:r>
              <a:t>Hash Function</a:t>
            </a:r>
          </a:p>
          <a:p>
            <a:r>
              <a:t>A hash function is any function that can be used to map data of arbitrary size onto data of a fixed size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digest.hex():64 chars; bytes32 digest:32 bytes. Source: https://docs.soliditylang.org/en/latest/ | https://web3py.readthedocs.io/en/stable/providers.html. Toolchain Solidity 0.8.30, OpenZeppelin 5.4.0, web3.py 8.0.0, Py-EVM 0.12.1b1; checked 13 September 2026.</a:t>
            </a:r>
          </a:p>
          <a:p/>
          <a:p>
            <a:r>
              <a:t>Original v17 slide 37 verbatim content:</a:t>
            </a:r>
          </a:p>
          <a:p>
            <a:r>
              <a:t>SHA-256 Hashing  Function</a:t>
            </a:r>
          </a:p>
          <a:p>
            <a:r>
              <a:t>SHA (Secure Hash Algorithm) is the one used in bitcoin and most blockchains.</a:t>
            </a:r>
          </a:p>
          <a:p>
            <a:r>
              <a:t>SHA-256 algorithm generates an almost-unique, fixed size 256-bit (32-byte) hash. </a:t>
            </a:r>
          </a:p>
          <a:p>
            <a:r>
              <a:t>This makes it suitable for password validation, challenge hash authentication, anti-tamper, digital signatures.</a:t>
            </a:r>
          </a:p>
          <a:p>
            <a:r>
              <a:t>‹#›</a:t>
            </a:r>
          </a:p>
          <a:p>
            <a:r>
              <a:t>File</a:t>
            </a:r>
          </a:p>
          <a:p>
            <a:r>
              <a:t>SHA 256</a:t>
            </a:r>
          </a:p>
          <a:p>
            <a:r>
              <a:t>Hash value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SHA256(canonical_bytes) == independently computed SHA256. Source: https://docs.soliditylang.org/en/latest/ | https://web3py.readthedocs.io/en/stable/providers.html. Toolchain Solidity 0.8.30, OpenZeppelin 5.4.0, web3.py 8.0.0, Py-EVM 0.12.1b1; checked 13 September 2026.</a:t>
            </a:r>
          </a:p>
          <a:p/>
          <a:p>
            <a:r>
              <a:t>Original v17 slide 38 verbatim content:</a:t>
            </a:r>
          </a:p>
          <a:p>
            <a:r>
              <a:t>Activity: SHA256 Hashing</a:t>
            </a:r>
          </a:p>
          <a:p>
            <a:r>
              <a:t>https://demoblockchain.org/hash</a:t>
            </a:r>
          </a:p>
          <a:p>
            <a:r>
              <a:t>Type "Blockchain is a trustless distributed ledger" </a:t>
            </a:r>
          </a:p>
          <a:p>
            <a:r>
              <a:t>As you type, change the length of th Hash is it the same.</a:t>
            </a:r>
          </a:p>
          <a:p>
            <a:r>
              <a:t>Change Blockchain to lowercase "blockchain" and see the change in hash.</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recomputed_previous_hash != next_block.parent_hash. Source: https://docs.soliditylang.org/en/latest/ | https://web3py.readthedocs.io/en/stable/providers.html. Toolchain Solidity 0.8.30, OpenZeppelin 5.4.0, web3.py 8.0.0, Py-EVM 0.12.1b1; checked 13 September 2026.</a:t>
            </a:r>
          </a:p>
          <a:p/>
          <a:p>
            <a:r>
              <a:t>Original v17 slide 39 verbatim content:</a:t>
            </a:r>
          </a:p>
          <a:p>
            <a:r>
              <a:t>Linking the Blocks</a:t>
            </a:r>
          </a:p>
          <a:p/>
          <a:p/>
          <a:p/>
          <a:p/>
          <a:p/>
          <a:p/>
          <a:p>
            <a:r>
              <a:t>‹#›</a:t>
            </a:r>
          </a:p>
          <a:p>
            <a:r>
              <a:t>To link up the blocks, each block will store the hash of the previous block.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for i&gt;0: blocks[i].parent == hash(blocks[i-1]). Source: https://docs.soliditylang.org/en/latest/ | https://web3py.readthedocs.io/en/stable/providers.html. Toolchain Solidity 0.8.30, OpenZeppelin 5.4.0, web3.py 8.0.0, Py-EVM 0.12.1b1; checked 13 September 2026.</a:t>
            </a:r>
          </a:p>
          <a:p/>
          <a:p>
            <a:r>
              <a:t>Original v17 slide 40 verbatim content:</a:t>
            </a:r>
          </a:p>
          <a:p>
            <a:r>
              <a:t>Activity: Linking the Blocks</a:t>
            </a:r>
          </a:p>
          <a:p>
            <a:r>
              <a:t>Goto https://demoblockchain.org/block</a:t>
            </a:r>
          </a:p>
          <a:p>
            <a:r>
              <a:t>Add the following to the data to Block 1:</a:t>
            </a:r>
          </a:p>
          <a:p>
            <a:r>
              <a:t>Buyer: Alice</a:t>
            </a:r>
          </a:p>
          <a:p>
            <a:r>
              <a:t>Seller: Bob</a:t>
            </a:r>
          </a:p>
          <a:p>
            <a:r>
              <a:t>Transaction: 10000</a:t>
            </a:r>
          </a:p>
          <a:p>
            <a:r>
              <a:t>To add the block to the blockchain, you need to mine the block.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int(SHA256d(header),16) &lt; target. Source: https://docs.soliditylang.org/en/latest/ | https://web3py.readthedocs.io/en/stable/providers.html. Toolchain Solidity 0.8.30, OpenZeppelin 5.4.0, web3.py 8.0.0, Py-EVM 0.12.1b1; checked 13 September 2026.</a:t>
            </a:r>
          </a:p>
          <a:p/>
          <a:p>
            <a:r>
              <a:t>Original v17 slide 41 verbatim content:</a:t>
            </a:r>
          </a:p>
          <a:p>
            <a:r>
              <a:t>Mining </a:t>
            </a:r>
          </a:p>
          <a:p/>
          <a:p/>
          <a:p/>
          <a:p/>
          <a:p/>
          <a:p/>
          <a:p>
            <a:r>
              <a:t>‹#›</a:t>
            </a:r>
          </a:p>
          <a:p>
            <a:r>
              <a:t>To further mitigate any data tampering by hackers, blockchain requires validation of a new block in order to add the block to a blockchain, This is known as Proof of Work (PoW)</a:t>
            </a:r>
          </a:p>
          <a:p>
            <a:r>
              <a:t>In Bitcoin, it takes about 10 mins for each PoW.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Toy model: linked bytes; Py-EVM: receipts + storage assertions. Source: https://docs.soliditylang.org/en/latest/ | https://web3py.readthedocs.io/en/stable/providers.html. Toolchain Solidity 0.8.30, OpenZeppelin 5.4.0, web3.py 8.0.0, Py-EVM 0.12.1b1; checked 13 September 2026.</a:t>
            </a:r>
          </a:p>
          <a:p/>
          <a:p>
            <a:r>
              <a:t>Original v17 slide 42 verbatim content:</a:t>
            </a:r>
          </a:p>
          <a:p>
            <a:r>
              <a:t>Activity: Blockchain</a:t>
            </a:r>
          </a:p>
          <a:p>
            <a:r>
              <a:t>Goto https://demoblockchain.org/blockchain</a:t>
            </a:r>
          </a:p>
          <a:p>
            <a:r>
              <a:t>Add the data "Buyer: Alice, Seller: Bob, Transaction: 10000" to Block 1</a:t>
            </a:r>
          </a:p>
          <a:p>
            <a:r>
              <a:t>Add the data "Buyer: Charlie, Seller: Eve, Transaction: 20000" to Block 2</a:t>
            </a:r>
          </a:p>
          <a:p>
            <a:r>
              <a:t>Add the data "Buyer: Alice, Seller: Eve, Transaction: 30000" to Block 3</a:t>
            </a:r>
          </a:p>
          <a:p>
            <a:r>
              <a:t>Mine the 3 blocks</a:t>
            </a:r>
          </a:p>
          <a:p>
            <a:r>
              <a:t>Change Transaction from 20000 to 20001 in Block 2 and see what happen to the block 2 and 3.</a:t>
            </a:r>
          </a:p>
          <a:p>
            <a:r>
              <a:t>Note that the prev hash is the same value as the has has in previous block</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block accepted ≠ caller authorized ≠ evidence authentic. Source: https://docs.soliditylang.org/en/latest/ | https://web3py.readthedocs.io/en/stable/providers.html. Toolchain Solidity 0.8.30, OpenZeppelin 5.4.0, web3.py 8.0.0, Py-EVM 0.12.1b1; checked 13 September 2026.</a:t>
            </a:r>
          </a:p>
          <a:p/>
          <a:p>
            <a:r>
              <a:t>Original v17 slide 43 verbatim content:</a:t>
            </a:r>
          </a:p>
          <a:p>
            <a:r>
              <a:t>Consensus Mechanism</a:t>
            </a:r>
          </a:p>
          <a:p>
            <a:r>
              <a:t>Public blockchains that operate as decentralized, self-regulating systems work on a global scale without any single authority. </a:t>
            </a:r>
          </a:p>
          <a:p>
            <a:r>
              <a:t>They involve contributions from hundreds of thousands of participants who work on verification and authentication of transactions occurring on the blockchain, and on the block mining activities.</a:t>
            </a:r>
          </a:p>
          <a:p>
            <a:r>
              <a:t>In such a dynamically changing status of the blockchain, these publicly shared ledgers need an efficient, fair, real-time, functional, reliable, and secure mechanism to ensure that all the transactions occurring on the network are genuine and all participants agree on a consensus on the status of the ledger. </a:t>
            </a:r>
          </a:p>
          <a:p>
            <a:r>
              <a:t>This all-important task is performed by the consensus mechanism, which is a set of rules that decides on the legitimacy of contributions made by the various participants (i.e., nodes or transactors) of the blockchain.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Bitcoin: hash&lt;target; Ethereum: validators; local: execution only. Source: https://docs.soliditylang.org/en/latest/ | https://web3py.readthedocs.io/en/stable/providers.html. Toolchain Solidity 0.8.30, OpenZeppelin 5.4.0, web3.py 8.0.0, Py-EVM 0.12.1b1; checked 13 September 2026.</a:t>
            </a:r>
          </a:p>
          <a:p/>
          <a:p>
            <a:r>
              <a:t>Original v17 slide 44 verbatim content:</a:t>
            </a:r>
          </a:p>
          <a:p>
            <a:r>
              <a:t>Consensus Mechanisms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P(success)=16^-4; E[trials]=65536. Source: https://docs.soliditylang.org/en/latest/ | https://web3py.readthedocs.io/en/stable/providers.html. Toolchain Solidity 0.8.30, OpenZeppelin 5.4.0, web3.py 8.0.0, Py-EVM 0.12.1b1; checked 13 September 2026.</a:t>
            </a:r>
          </a:p>
          <a:p/>
          <a:p>
            <a:r>
              <a:t>Original v17 slide 45 verbatim content:</a:t>
            </a:r>
          </a:p>
          <a:p>
            <a:r>
              <a:t>Proof of Work (PoW)</a:t>
            </a:r>
          </a:p>
          <a:p>
            <a:r>
              <a:t>Blockchains use Proof-of-Work, or PoW,  consensus algorithms to elect a leader who will decide the contents of the next block.</a:t>
            </a:r>
          </a:p>
          <a:p>
            <a:r>
              <a:t>This algorithm is used to confirm transactions and produce new blocks to the chain. </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receipt.status validates execution; public finality is separate. Source: https://docs.soliditylang.org/en/latest/ | https://web3py.readthedocs.io/en/stable/providers.html. Toolchain Solidity 0.8.30, OpenZeppelin 5.4.0, web3.py 8.0.0, Py-EVM 0.12.1b1; checked 13 September 2026.</a:t>
            </a:r>
          </a:p>
          <a:p/>
          <a:p>
            <a:r>
              <a:t>Original v17 slide 46 verbatim content:</a:t>
            </a:r>
          </a:p>
          <a:p>
            <a:r>
              <a:t>Proof of Stake (PoS)</a:t>
            </a:r>
          </a:p>
          <a:p>
            <a:r>
              <a:t>‹#›</a:t>
            </a:r>
          </a:p>
          <a:p>
            <a:r>
              <a:t>With proof-of-stake (POS), cryptocurrency owners validate block transactions based on the number of coins a validator stakes.</a:t>
            </a:r>
          </a:p>
          <a:p>
            <a:r>
              <a:t>Proof-of-stake reduces the amount of computational work needed to verify blocks and transactions</a:t>
            </a:r>
          </a:p>
          <a:p>
            <a:r>
              <a:t>Validators are then selected randomly to "mine," or validate the block. This system randomizes who gets to "mine" rather than using a competition-based mechanism like proof-of-work.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hash_int &lt; target; lower target → lower success probability. Source: https://docs.soliditylang.org/en/latest/ | https://web3py.readthedocs.io/en/stable/providers.html. Toolchain Solidity 0.8.30, OpenZeppelin 5.4.0, web3.py 8.0.0, Py-EVM 0.12.1b1; checked 13 September 2026.</a:t>
            </a:r>
          </a:p>
          <a:p/>
          <a:p>
            <a:r>
              <a:t>Original v17 slide 47 verbatim content:</a:t>
            </a:r>
          </a:p>
          <a:p>
            <a:r>
              <a:t>Nonce and Difficulty Level</a:t>
            </a:r>
          </a:p>
          <a:p>
            <a:r>
              <a:t>A nonce is an abbreviation for "number only used once," which, in the context of cryptocurrency mining, is a number added to a hashed—or encrypted—block in a blockchain that, when rehashed, meets the difficulty level restrictions.</a:t>
            </a:r>
          </a:p>
          <a:p>
            <a:r>
              <a:t>The nonce is the number that blockchain miners are solving for. When the solution is found, the blockchain miners are offered cryptocurrency in exchange.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verify(header,nonce,target): computed_hash_int &lt; target. Source: https://docs.soliditylang.org/en/latest/ | https://web3py.readthedocs.io/en/stable/providers.html. Toolchain Solidity 0.8.30, OpenZeppelin 5.4.0, web3.py 8.0.0, Py-EVM 0.12.1b1; checked 13 September 2026.</a:t>
            </a:r>
          </a:p>
          <a:p/>
          <a:p>
            <a:r>
              <a:t>Original v17 slide 48 verbatim content:</a:t>
            </a:r>
          </a:p>
          <a:p>
            <a:r>
              <a:t>Activity: Nonce</a:t>
            </a:r>
          </a:p>
          <a:p>
            <a:r>
              <a:t>Goto https://demoblockchain.org/blockchain</a:t>
            </a:r>
          </a:p>
          <a:p>
            <a:r>
              <a:t>Add the data "Buyer: Alice, Seller: Bob, Transaction: 10000" to Block 1</a:t>
            </a:r>
          </a:p>
          <a:p>
            <a:r>
              <a:t>Manually change the nonce to obtain first 4 digit to be 0000 in the hash </a:t>
            </a:r>
          </a:p>
          <a:p>
            <a:r>
              <a:t>Then press the Mine button to find the correct nonce.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client → HTTPProvider → RPC node; node ↔ peers. Source: https://docs.soliditylang.org/en/latest/ | https://web3py.readthedocs.io/en/stable/providers.html. Toolchain Solidity 0.8.30, OpenZeppelin 5.4.0, web3.py 8.0.0, Py-EVM 0.12.1b1; checked 13 September 2026.</a:t>
            </a:r>
          </a:p>
          <a:p/>
          <a:p>
            <a:r>
              <a:t>Original v17 slide 49 verbatim content:</a:t>
            </a:r>
          </a:p>
          <a:p>
            <a:r>
              <a:t>Peer to Peer Distributed Network</a:t>
            </a:r>
          </a:p>
          <a:p>
            <a:r>
              <a:t>The PoW is carried out on a Peer to Peer (P2P) distributed network.</a:t>
            </a:r>
          </a:p>
          <a:p>
            <a:r>
              <a:t>Whenever there is a new block, it will be send to every peer in the blockchain. </a:t>
            </a:r>
          </a:p>
          <a:p>
            <a:r>
              <a:t>The miners will validate the block via PoW.</a:t>
            </a:r>
          </a:p>
          <a:p>
            <a:r>
              <a:t>Once validated, the block will be added to the blockchain. The winning miner will be rewarded with bitcoins.</a:t>
            </a:r>
          </a:p>
          <a:p>
            <a:r>
              <a:t>In Blockchain, a P2P network has replaced the role the central authority of a centralized database.</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chainId_A == chainId_B; blockHash_A(n) == blockHash_B(n). Source: https://docs.soliditylang.org/en/latest/ | https://web3py.readthedocs.io/en/stable/providers.html. Toolchain Solidity 0.8.30, OpenZeppelin 5.4.0, web3.py 8.0.0, Py-EVM 0.12.1b1; checked 13 September 2026.</a:t>
            </a:r>
          </a:p>
          <a:p/>
          <a:p>
            <a:r>
              <a:t>Original v17 slide 50 verbatim content:</a:t>
            </a:r>
          </a:p>
          <a:p>
            <a:r>
              <a:t>Activity: Peer to Peer Network</a:t>
            </a:r>
          </a:p>
          <a:p>
            <a:r>
              <a:t>Goto https://demoblockchain.org/distributed</a:t>
            </a:r>
          </a:p>
          <a:p>
            <a:r>
              <a:t>The blockchains for all 3 peers are the same.</a:t>
            </a:r>
          </a:p>
          <a:p>
            <a:r>
              <a:t>Assume we temper Block 3 for Peer 1 by adding some new data</a:t>
            </a:r>
          </a:p>
          <a:p>
            <a:r>
              <a:t>Mine the Block 3, 4, 5 blockchain for Peer 1</a:t>
            </a:r>
          </a:p>
          <a:p>
            <a:r>
              <a:t>Notice the hashes of Peer 1  are different from Peer 2 and Peer 3.</a:t>
            </a:r>
          </a:p>
          <a:p>
            <a:r>
              <a:t>Therefore the community will know Peer 1 Block is being tempered.</a:t>
            </a:r>
          </a:p>
          <a:p>
            <a:r>
              <a:t>‹#›</a:t>
            </a:r>
          </a:p>
          <a:p/>
          <a:p>
            <a:r>
              <a:t>Tampered!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state getter = current value; event logs = historical transitions. Source: https://docs.soliditylang.org/en/latest/ | https://web3py.readthedocs.io/en/stable/providers.html. Toolchain Solidity 0.8.30, OpenZeppelin 5.4.0, web3.py 8.0.0, Py-EVM 0.12.1b1; checked 13 September 2026.</a:t>
            </a:r>
          </a:p>
          <a:p/>
          <a:p>
            <a:r>
              <a:t>Original v17 slide 51 verbatim content:</a:t>
            </a:r>
          </a:p>
          <a:p>
            <a:r>
              <a:t>Immutable</a:t>
            </a:r>
          </a:p>
          <a:p>
            <a:r>
              <a:t>One of the attributes that the blockchain is often associated with is its immutability. </a:t>
            </a:r>
          </a:p>
          <a:p>
            <a:r>
              <a:t>If the data of a block is tampered, the hash will change, this will cause a mismatch in the hash. </a:t>
            </a:r>
          </a:p>
          <a:p>
            <a:r>
              <a:t>So a hacker would need to change the hashes for all the subsequent blocks to avoid being detected!</a:t>
            </a:r>
          </a:p>
          <a:p>
            <a:r>
              <a:t>This make the data immutable.</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issuer fixed; registered[digest]:false → true. Source: https://docs.soliditylang.org/en/latest/ | https://web3py.readthedocs.io/en/stable/providers.html. Toolchain Solidity 0.8.30, OpenZeppelin 5.4.0, web3.py 8.0.0, Py-EVM 0.12.1b1; checked 13 September 2026.</a:t>
            </a:r>
          </a:p>
          <a:p/>
          <a:p>
            <a:r>
              <a:t>Original v17 slide 52 verbatim content:</a:t>
            </a:r>
          </a:p>
          <a:p>
            <a:r>
              <a:t>Activity: Immutable</a:t>
            </a:r>
          </a:p>
          <a:p>
            <a:r>
              <a:t>Goto https://demoblockchain.org/tokens </a:t>
            </a:r>
          </a:p>
          <a:p>
            <a:r>
              <a:t>The blockchains for all 3 peers are the same.</a:t>
            </a:r>
          </a:p>
          <a:p>
            <a:r>
              <a:t>Assume we temper Block 3 for Peer 1 by changing the transaction fee from $5 to $7..</a:t>
            </a:r>
          </a:p>
          <a:p>
            <a:r>
              <a:t>Mine the Block 3, 4, 5 blockchain for Peer 1</a:t>
            </a:r>
          </a:p>
          <a:p>
            <a:r>
              <a:t>Notice the hashes of Peer 1  are different from Peer 2 and Peer 3.</a:t>
            </a:r>
          </a:p>
          <a:p>
            <a:r>
              <a:t>Therefore the community will know Peer 1 Block is being tempered</a:t>
            </a:r>
          </a:p>
          <a:p>
            <a:r>
              <a:t>‹#›</a:t>
            </a:r>
          </a:p>
          <a:p/>
          <a:p>
            <a:r>
              <a:t>Tampered!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Batch{id,custodian,digest,stage} + authorized Handover. Source: https://docs.soliditylang.org/en/latest/ | https://web3py.readthedocs.io/en/stable/providers.html. Toolchain Solidity 0.8.30, OpenZeppelin 5.4.0, web3.py 8.0.0, Py-EVM 0.12.1b1; checked 13 September 2026.</a:t>
            </a:r>
          </a:p>
          <a:p/>
          <a:p>
            <a:r>
              <a:t>Original v17 slide 53 verbatim content:</a:t>
            </a:r>
          </a:p>
          <a:p>
            <a:r>
              <a:t>Impact of Blockchain on Industry</a:t>
            </a:r>
          </a:p>
          <a:p/>
          <a:p/>
          <a:p/>
          <a:p/>
          <a:p/>
          <a:p/>
          <a:p>
            <a:r>
              <a:t>‹#›</a:t>
            </a:r>
          </a:p>
          <a:p>
            <a:r>
              <a:t>The applications of blockchain technology are far beyond virtual currency and the financial industry.  This technology have disrupt  many sectors such as below:</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Certificate:{id,holder,digest,revoked}; Batch:{id,custodian,stage}. Source: https://docs.soliditylang.org/en/latest/ | https://web3py.readthedocs.io/en/stable/providers.html. Toolchain Solidity 0.8.30, OpenZeppelin 5.4.0, web3.py 8.0.0, Py-EVM 0.12.1b1; checked 13 September 2026.</a:t>
            </a:r>
          </a:p>
          <a:p/>
          <a:p>
            <a:r>
              <a:t>Original v17 slide 54 verbatim content:</a:t>
            </a:r>
          </a:p>
          <a:p>
            <a:r>
              <a:t>Blockchain Applications</a:t>
            </a:r>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contract_balance_before_release == price. Source: https://docs.soliditylang.org/en/latest/ | https://web3py.readthedocs.io/en/stable/providers.html. Toolchain Solidity 0.8.30, OpenZeppelin 5.4.0, web3.py 8.0.0, Py-EVM 0.12.1b1; checked 13 September 2026.</a:t>
            </a:r>
          </a:p>
          <a:p/>
          <a:p>
            <a:r>
              <a:t>Original v17 slide 55 verbatim content:</a:t>
            </a:r>
          </a:p>
          <a:p>
            <a:r>
              <a:t>DeFi</a:t>
            </a:r>
          </a:p>
          <a:p/>
          <a:p/>
          <a:p/>
          <a:p/>
          <a:p/>
          <a:p/>
          <a:p>
            <a:r>
              <a:t>Decentralized finance (DeFi) is an emerging financial technology based on secure distributed ledgers similar to those used by cryptocurrencies.</a:t>
            </a:r>
          </a:p>
          <a:p>
            <a:r>
              <a:t>The system removes the control banks and institutions have on money, financial products, and financial services.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0.1 ETH principal; fee = gasUsed × effectiveGasPrice. Source: https://docs.soliditylang.org/en/latest/ | https://web3py.readthedocs.io/en/stable/providers.html. Toolchain Solidity 0.8.30, OpenZeppelin 5.4.0, web3.py 8.0.0, Py-EVM 0.12.1b1; checked 13 September 2026.</a:t>
            </a:r>
          </a:p>
          <a:p/>
          <a:p>
            <a:r>
              <a:t>Original v17 slide 56 verbatim content:</a:t>
            </a:r>
          </a:p>
          <a:p>
            <a:r>
              <a:t>DeFi Market Size</a:t>
            </a:r>
          </a:p>
          <a:p>
            <a:r>
              <a:t>‹#›</a:t>
            </a:r>
          </a:p>
          <a:p>
            <a:r>
              <a:t>https://www.defipulse.com/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collateral_ratio = collateral_value/debt; require(ratio&gt;=1.5). Source: https://docs.soliditylang.org/en/latest/ | https://web3py.readthedocs.io/en/stable/providers.html. Toolchain Solidity 0.8.30, OpenZeppelin 5.4.0, web3.py 8.0.0, Py-EVM 0.12.1b1; checked 13 September 2026.</a:t>
            </a:r>
          </a:p>
          <a:p/>
          <a:p>
            <a:r>
              <a:t>Original v17 slide 57 verbatim content:</a:t>
            </a:r>
          </a:p>
          <a:p>
            <a:r>
              <a:t>DeFi Loan and Lending Platforms</a:t>
            </a:r>
          </a:p>
          <a:p>
            <a:r>
              <a:t>‹#›</a:t>
            </a:r>
          </a:p>
          <a:p>
            <a:r>
              <a:t>https://loanscan.io/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sum(holder balances) == totalSupply in smallest units. Source: https://docs.soliditylang.org/en/latest/ | https://web3py.readthedocs.io/en/stable/providers.html. Toolchain Solidity 0.8.30, OpenZeppelin 5.4.0, web3.py 8.0.0, Py-EVM 0.12.1b1; checked 13 September 2026.</a:t>
            </a:r>
          </a:p>
          <a:p/>
          <a:p>
            <a:r>
              <a:t>Original v17 slide 58 verbatim content:</a:t>
            </a:r>
          </a:p>
          <a:p>
            <a:r>
              <a:t>TokenSets</a:t>
            </a:r>
          </a:p>
          <a:p>
            <a:r>
              <a:t>‹#›</a:t>
            </a:r>
          </a:p>
          <a:p>
            <a:r>
              <a:t>https://www.tokensets.com/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on-chain totalSupply is not proof of off-chain reserve value. Source: https://docs.soliditylang.org/en/latest/ | https://web3py.readthedocs.io/en/stable/providers.html. Toolchain Solidity 0.8.30, OpenZeppelin 5.4.0, web3.py 8.0.0, Py-EVM 0.12.1b1; checked 13 September 2026.</a:t>
            </a:r>
          </a:p>
          <a:p/>
          <a:p>
            <a:r>
              <a:t>Original v17 slide 59 verbatim content:</a:t>
            </a:r>
          </a:p>
          <a:p>
            <a:r>
              <a:t>‹#›</a:t>
            </a:r>
          </a:p>
          <a:p>
            <a:r>
              <a:t>What is Terra Stablecoins?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source hash + dependency lock + invariant test + receipt evidence. Source: https://docs.soliditylang.org/en/latest/ | https://web3py.readthedocs.io/en/stable/providers.html. Toolchain Solidity 0.8.30, OpenZeppelin 5.4.0, web3.py 8.0.0, Py-EVM 0.12.1b1; checked 13 September 2026.</a:t>
            </a:r>
          </a:p>
          <a:p/>
          <a:p>
            <a:r>
              <a:t>Original v17 slide 60 verbatim content:</a:t>
            </a:r>
          </a:p>
          <a:p>
            <a:r>
              <a:t>The Future of DeFi</a:t>
            </a:r>
          </a:p>
          <a:p>
            <a:r>
              <a:t>‹#›</a:t>
            </a:r>
          </a:p>
          <a:p>
            <a:r>
              <a:t>Decentralized Finance has already seen phenomenal growth over the last few years. However, there are over 1.7 billion unbanked people in the World excluded from the traditional financial system who could benefit from DeFi.</a:t>
            </a:r>
          </a:p>
          <a:p>
            <a:r>
              <a:t>Imagine if you are living in a developing country with high inflation. DeFi gives you the opportunity to get out of your local currency and hold USD via stable coins like Dai. Even better, you can then take that Dai and lend it out at 5+% interest on DeFi platforms like Compound Finance. DeFi already offers people the tools to hedge out local currency risk and that’s a pretty big deal in countries like Venezuela. </a:t>
            </a:r>
          </a:p>
          <a:p>
            <a:r>
              <a:t>Although DeFi loans currently need to be over-collateralized, it will only be a matter of time befer under-collateralized loans are available via a form of DeFi borrowing reputation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effects before interaction; ReenterProbe.blocked()==true. Source: https://docs.soliditylang.org/en/latest/ | https://web3py.readthedocs.io/en/stable/providers.html. Toolchain Solidity 0.8.30, OpenZeppelin 5.4.0, web3.py 8.0.0, Py-EVM 0.12.1b1; checked 13 September 2026.</a:t>
            </a:r>
          </a:p>
          <a:p/>
          <a:p>
            <a:r>
              <a:t>Original v17 slide 61 verbatim content:</a:t>
            </a:r>
          </a:p>
          <a:p>
            <a:r>
              <a:t>Problems With DeFi</a:t>
            </a:r>
          </a:p>
          <a:p>
            <a:r>
              <a:t>‹#›</a:t>
            </a:r>
          </a:p>
          <a:p>
            <a:r>
              <a:t>It’s hard for the average person to access DeFi and that's due to friction between the crypto and traditional finance ecosystem. .</a:t>
            </a:r>
          </a:p>
          <a:p>
            <a:r>
              <a:t>Another major issue facing DeFi are smart contract bugs. These could result in DeFi users losing access to a significant amount of funds and it’s even more worrying seeing that bugs are not unheard of in smart contracts.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w3.eth.get_balance(test_address) reads selected chain. Source: https://docs.soliditylang.org/en/latest/ | https://web3py.readthedocs.io/en/stable/providers.html. Toolchain Solidity 0.8.30, OpenZeppelin 5.4.0, web3.py 8.0.0, Py-EVM 0.12.1b1; checked 13 September 2026.</a:t>
            </a:r>
          </a:p>
          <a:p/>
          <a:p>
            <a:r>
              <a:t>Original v17 slide 62 verbatim content:</a:t>
            </a:r>
          </a:p>
          <a:p>
            <a:r>
              <a:t>Crypto Exchanges</a:t>
            </a:r>
          </a:p>
          <a:p>
            <a:r>
              <a:t>‹#›</a:t>
            </a:r>
          </a:p>
          <a:p>
            <a:r>
              <a:t>https://coinmarketcap.com/rankings/exchanges/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No exchange API credentials; local test accounts only. Source: https://docs.soliditylang.org/en/latest/ | https://web3py.readthedocs.io/en/stable/providers.html. Toolchain Solidity 0.8.30, OpenZeppelin 5.4.0, web3.py 8.0.0, Py-EVM 0.12.1b1; checked 13 September 2026.</a:t>
            </a:r>
          </a:p>
          <a:p/>
          <a:p>
            <a:r>
              <a:t>Original v17 slide 63 verbatim content:</a:t>
            </a:r>
          </a:p>
          <a:p>
            <a:r>
              <a:t>Binance</a:t>
            </a:r>
          </a:p>
          <a:p>
            <a:r>
              <a:t>‹#›</a:t>
            </a:r>
          </a:p>
          <a:p>
            <a:r>
              <a:t>https://www.binance.com</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receipt.status==1 ∧ recipient balance delta correct. Source: https://docs.soliditylang.org/en/latest/ | https://web3py.readthedocs.io/en/stable/providers.html. Toolchain Solidity 0.8.30, OpenZeppelin 5.4.0, web3.py 8.0.0, Py-EVM 0.12.1b1; checked 13 September 2026.</a:t>
            </a:r>
          </a:p>
          <a:p/>
          <a:p>
            <a:r>
              <a:t>Original v17 slide 64 verbatim content:</a:t>
            </a:r>
          </a:p>
          <a:p>
            <a:r>
              <a:t>Coinbase</a:t>
            </a:r>
          </a:p>
          <a:p>
            <a:r>
              <a:t>‹#›</a:t>
            </a:r>
          </a:p>
          <a:p>
            <a:r>
              <a:t>https://www.coinbase.com/</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reject(issue(outsider,id,digest), outsider). Source: https://docs.soliditylang.org/en/latest/ | https://web3py.readthedocs.io/en/stable/providers.html. Toolchain Solidity 0.8.30, OpenZeppelin 5.4.0, web3.py 8.0.0, Py-EVM 0.12.1b1; checked 13 September 2026.</a:t>
            </a:r>
          </a:p>
          <a:p/>
          <a:p>
            <a:r>
              <a:t>Original v17 slide 65 verbatim content:</a:t>
            </a:r>
          </a:p>
          <a:p>
            <a:r>
              <a:t>Gemini</a:t>
            </a:r>
          </a:p>
          <a:p>
            <a:r>
              <a:t>‹#›</a:t>
            </a:r>
          </a:p>
          <a:p>
            <a:r>
              <a:t>https://www.gemini.com/share/gyx5ekvtx</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Which caller may change custody? Which assertion rejects it?. Source: https://docs.soliditylang.org/en/latest/ | https://web3py.readthedocs.io/en/stable/providers.html. Toolchain Solidity 0.8.30, OpenZeppelin 5.4.0, web3.py 8.0.0, Py-EVM 0.12.1b1; checked 13 September 2026.</a:t>
            </a:r>
          </a:p>
          <a:p/>
          <a:p>
            <a:r>
              <a:t>Original v17 slide 66 verbatim content: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outsider handover attempt must revert without state change. Source: https://docs.soliditylang.org/en/latest/ | https://web3py.readthedocs.io/en/stable/providers.html. Toolchain Solidity 0.8.30, OpenZeppelin 5.4.0, web3.py 8.0.0, Py-EVM 0.12.1b1; checked 13 September 2026.</a:t>
            </a:r>
          </a:p>
          <a:p/>
          <a:p>
            <a:r>
              <a:t>Original v17 slide 67 verbatim content:</a:t>
            </a:r>
          </a:p>
          <a:p>
            <a:r>
              <a:t>‹#›</a:t>
            </a:r>
          </a:p>
          <a:p>
            <a:r>
              <a:t>source: https://www.channelnewsasia.com/business/singapore-based-cryptocurrency-exchange-cryptocom-hacked-more-400-users-affected-2450671</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vault total balance stays1 ETH during0.1 ETH reentrant probe. Source: https://docs.soliditylang.org/en/latest/ | https://web3py.readthedocs.io/en/stable/providers.html. Toolchain Solidity 0.8.30, OpenZeppelin 5.4.0, web3.py 8.0.0, Py-EVM 0.12.1b1; checked 13 September 2026.</a:t>
            </a:r>
          </a:p>
          <a:p/>
          <a:p>
            <a:r>
              <a:t>Original v17 slide 68 verbatim content:</a:t>
            </a:r>
          </a:p>
          <a:p>
            <a:r>
              <a:t>‹#›</a:t>
            </a:r>
          </a:p>
          <a:p>
            <a:r>
              <a:t>source:" https://www.coindesk.com/markets/2019/03/26/singapore-based-crypto-exchange-dragonex-has-been-hacked/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register(digest) commits a SHA-256 evidence digest; issuer authorization and duplicate rejection define acceptance..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register(digest) commits a SHA-256 evidence digest; issuer authorization and duplicate rejection define acceptance..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Created → funded → released; exactly 0.1 ETH is paid once and only the buyer authorizes release..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Created → funded → released; exactly 0.1 ETH is paid once and only the buyer authorizes release..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0.1 ETH conserved through escrow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len(w3.eth.get_code(address)) &gt; 0. Source: https://docs.soliditylang.org/en/latest/ | https://web3py.readthedocs.io/en/stable/providers.html. Toolchain Solidity 0.8.30, OpenZeppelin 5.4.0, web3.py 8.0.0, Py-EVM 0.12.1b1; checked 13 September 2026.</a:t>
            </a:r>
          </a:p>
          <a:p/>
          <a:p>
            <a:r>
              <a:t>Original v17 slide 70 verbatim content:</a:t>
            </a:r>
          </a:p>
          <a:p>
            <a:r>
              <a:t>What is Ethereum ?</a:t>
            </a:r>
            <a:br/>
          </a:p>
          <a:p/>
          <a:p/>
          <a:p/>
          <a:p/>
          <a:p/>
          <a:p/>
          <a:p>
            <a:r>
              <a:t>Ethereum (https://www.ethereum.org/) is a new generation of blockchain (first generation is the bitcoin).</a:t>
            </a:r>
          </a:p>
          <a:p>
            <a:r>
              <a:t>It is an open-source, public, blockchain-based distributed computing platform featuring smart contract functionality. </a:t>
            </a:r>
          </a:p>
          <a:p>
            <a:r>
              <a:t>It is a programmable Blockchain platform for Decentralized Applications (DApps) that run on Ethereum Virtual Machine (EVM)</a:t>
            </a:r>
          </a:p>
          <a:p>
            <a:r>
              <a:t>Developers can create smart contract DApps on EVM using Solidity programming language</a:t>
            </a:r>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solc0.8.30 + evmVersion=cancun + chainId manifest. Source: https://docs.soliditylang.org/en/latest/ | https://web3py.readthedocs.io/en/stable/providers.html. Toolchain Solidity 0.8.30, OpenZeppelin 5.4.0, web3.py 8.0.0, Py-EVM 0.12.1b1; checked 13 September 2026.</a:t>
            </a:r>
          </a:p>
          <a:p/>
          <a:p>
            <a:r>
              <a:t>Original v17 slide 71 verbatim content:</a:t>
            </a:r>
          </a:p>
          <a:p>
            <a:r>
              <a:t>History of Ethereum</a:t>
            </a:r>
            <a:br/>
          </a:p>
          <a:p/>
          <a:p/>
          <a:p/>
          <a:p/>
          <a:p/>
          <a:p/>
          <a:p>
            <a:r>
              <a:t>Ethereum was proposed in late 2013 by Vitalik Buterin </a:t>
            </a:r>
          </a:p>
          <a:p>
            <a:r>
              <a:t>Development was funded by an online crowdsale that took place between July and August 2014. </a:t>
            </a:r>
          </a:p>
          <a:p>
            <a:r>
              <a:t>Ethereum went live on 30 July 2015</a:t>
            </a:r>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calldata → EVM → receipt.status1 → getter assertion. Source: https://docs.soliditylang.org/en/latest/ | https://web3py.readthedocs.io/en/stable/providers.html. Toolchain Solidity 0.8.30, OpenZeppelin 5.4.0, web3.py 8.0.0, Py-EVM 0.12.1b1; checked 13 September 2026.</a:t>
            </a:r>
          </a:p>
          <a:p/>
          <a:p>
            <a:r>
              <a:t>Original v17 slide 72 verbatim content:</a:t>
            </a:r>
          </a:p>
          <a:p>
            <a:r>
              <a:t>How Ethereum Work?</a:t>
            </a:r>
          </a:p>
          <a:p>
            <a:r>
              <a:t>‹#›</a:t>
            </a:r>
          </a:p>
          <a:p>
            <a:r>
              <a:t>Contracts written in a smart contract-specific programming languages eg Solidity are compiled into ‘bytecode’ that can run on ‘ethereum virtual machine’ (EVM)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require(msg.sender==buyer &amp;&amp; !funded,"buyer/state"). Source: https://docs.soliditylang.org/en/latest/ | https://web3py.readthedocs.io/en/stable/providers.html. Toolchain Solidity 0.8.30, OpenZeppelin 5.4.0, web3.py 8.0.0, Py-EVM 0.12.1b1; checked 13 September 2026.</a:t>
            </a:r>
          </a:p>
          <a:p/>
          <a:p>
            <a:r>
              <a:t>Original v17 slide 73 verbatim content:</a:t>
            </a:r>
          </a:p>
          <a:p>
            <a:r>
              <a:t>Smart Contract </a:t>
            </a:r>
          </a:p>
          <a:p>
            <a:r>
              <a:t>Smart Contracts are sets of Business Rules in the system.</a:t>
            </a:r>
          </a:p>
          <a:p>
            <a:r>
              <a:t>All smart contracts are verified and signed by participants.</a:t>
            </a:r>
          </a:p>
          <a:p>
            <a:r>
              <a:t>When certain conditions are met, auto execute it with together the transaction</a:t>
            </a:r>
          </a:p>
          <a:p>
            <a:r>
              <a:t>Ethereum is the first blockchain platform that implement smart contracts in Dapp</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fund:(buyer,price,!funded); release:(buyer,funded,!released). Source: https://docs.soliditylang.org/en/latest/ | https://web3py.readthedocs.io/en/stable/providers.html. Toolchain Solidity 0.8.30, OpenZeppelin 5.4.0, web3.py 8.0.0, Py-EVM 0.12.1b1; checked 13 September 2026.</a:t>
            </a:r>
          </a:p>
          <a:p/>
          <a:p>
            <a:r>
              <a:t>Original v17 slide 74 verbatim content:</a:t>
            </a:r>
          </a:p>
          <a:p>
            <a:r>
              <a:t>Overview of Smart Contract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index.html → deployment.json → wallet → CertificateNFT. Source: https://docs.soliditylang.org/en/latest/ | https://web3py.readthedocs.io/en/stable/providers.html. Toolchain Solidity 0.8.30, OpenZeppelin 5.4.0, web3.py 8.0.0, Py-EVM 0.12.1b1; checked 13 September 2026.</a:t>
            </a:r>
          </a:p>
          <a:p/>
          <a:p>
            <a:r>
              <a:t>Original v17 slide 75 verbatim content:</a:t>
            </a:r>
          </a:p>
          <a:p>
            <a:r>
              <a:t>A dapp has its backend code running on a decentralized peer-to-peer network. </a:t>
            </a:r>
          </a:p>
          <a:p>
            <a:r>
              <a:t>You can explore the DApps created on Ethereum here</a:t>
            </a:r>
          </a:p>
          <a:p>
            <a:r>
              <a:t>https://www.stateofthedapps.com/</a:t>
            </a:r>
          </a:p>
          <a:p/>
          <a:p/>
          <a:p>
            <a:r>
              <a:t>What is a DApp</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w3.to_wei("0.1","ether") == 10**17. Source: https://docs.soliditylang.org/en/latest/ | https://web3py.readthedocs.io/en/stable/providers.html. Toolchain Solidity 0.8.30, OpenZeppelin 5.4.0, web3.py 8.0.0, Py-EVM 0.12.1b1; checked 13 September 2026.</a:t>
            </a:r>
          </a:p>
          <a:p/>
          <a:p>
            <a:r>
              <a:t>Original v17 slide 76 verbatim content:</a:t>
            </a:r>
          </a:p>
          <a:p>
            <a:r>
              <a:t>Ether (ETH) Unit</a:t>
            </a:r>
          </a:p>
          <a:p>
            <a:r>
              <a:t>Ether can be broken down to smaller units: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fee_wei = receipt.gasUsed × receipt.effectiveGasPrice. Source: https://docs.soliditylang.org/en/latest/ | https://web3py.readthedocs.io/en/stable/providers.html. Toolchain Solidity 0.8.30, OpenZeppelin 5.4.0, web3.py 8.0.0, Py-EVM 0.12.1b1; checked 13 September 2026.</a:t>
            </a:r>
          </a:p>
          <a:p/>
          <a:p>
            <a:r>
              <a:t>Original v17 slide 77 verbatim content:</a:t>
            </a:r>
          </a:p>
          <a:p>
            <a:r>
              <a:t>Ether Price </a:t>
            </a:r>
          </a:p>
          <a:p>
            <a:r>
              <a:t>‹#›</a:t>
            </a:r>
          </a:p>
          <a:p>
            <a:r>
              <a:t>https://finance.yahoo.com/chart/ETH-USD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chainId + contractAddress + receipt.status + get_code. Source: https://docs.soliditylang.org/en/latest/ | https://web3py.readthedocs.io/en/stable/providers.html. Toolchain Solidity 0.8.30, OpenZeppelin 5.4.0, web3.py 8.0.0, Py-EVM 0.12.1b1; checked 13 September 2026.</a:t>
            </a:r>
          </a:p>
          <a:p/>
          <a:p>
            <a:r>
              <a:t>Original v17 slide 78 verbatim content:</a:t>
            </a:r>
          </a:p>
          <a:p>
            <a:r>
              <a:t>Etherscan is website that monitors all the Ethereum transactions and tokens.</a:t>
            </a:r>
          </a:p>
          <a:p>
            <a:r>
              <a:t>https://etherscan.io/</a:t>
            </a:r>
          </a:p>
          <a:p/>
          <a:p/>
          <a:p/>
          <a:p/>
          <a:p/>
          <a:p/>
          <a:p/>
          <a:p/>
          <a:p>
            <a:r>
              <a:t>    </a:t>
            </a:r>
          </a:p>
          <a:p/>
          <a:p/>
          <a:p>
            <a:r>
              <a:t>Etherscan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w3.eth.get_transaction_receipt(hash)["blockNumber"]. Source: https://docs.soliditylang.org/en/latest/ | https://web3py.readthedocs.io/en/stable/providers.html. Toolchain Solidity 0.8.30, OpenZeppelin 5.4.0, web3.py 8.0.0, Py-EVM 0.12.1b1; checked 13 September 2026.</a:t>
            </a:r>
          </a:p>
          <a:p/>
          <a:p>
            <a:r>
              <a:t>Original v17 slide 79 verbatim content:</a:t>
            </a:r>
          </a:p>
          <a:p>
            <a:r>
              <a:t>Goto https://etherscan.io/ </a:t>
            </a:r>
          </a:p>
          <a:p>
            <a:r>
              <a:t>Look at the Ethereum transaction</a:t>
            </a:r>
          </a:p>
          <a:p>
            <a:r>
              <a:t>Goto one of the Ethereum block and look at the data inside the block</a:t>
            </a:r>
          </a:p>
          <a:p/>
          <a:p>
            <a:r>
              <a:t>Activity: Ethereum Transactions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signer from eth_accounts; holder from ownerOf(id). Source: https://docs.soliditylang.org/en/latest/ | https://web3py.readthedocs.io/en/stable/providers.html. Toolchain Solidity 0.8.30, OpenZeppelin 5.4.0, web3.py 8.0.0, Py-EVM 0.12.1b1; checked 13 September 2026.</a:t>
            </a:r>
          </a:p>
          <a:p/>
          <a:p>
            <a:r>
              <a:t>Original v17 slide 80 verbatim content:</a:t>
            </a:r>
          </a:p>
          <a:p>
            <a:r>
              <a:t>Crypto Wallet</a:t>
            </a:r>
          </a:p>
          <a:p>
            <a:r>
              <a:t>‹#›</a:t>
            </a:r>
          </a:p>
          <a:p>
            <a:r>
              <a:t>A crypto wallet, such as MetaMask, stores your ETH and processes transactions on the Ethereum blockchain. </a:t>
            </a:r>
          </a:p>
          <a:p>
            <a:r>
              <a:t>A unique wallet address will be generated and you will use this address to complete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ethereum.request({method:"eth_requestAccounts"}). Source: https://docs.soliditylang.org/en/latest/ | https://web3py.readthedocs.io/en/stable/providers.html. Toolchain Solidity 0.8.30, OpenZeppelin 5.4.0, web3.py 8.0.0, Py-EVM 0.12.1b1; checked 13 September 2026.</a:t>
            </a:r>
          </a:p>
          <a:p/>
          <a:p>
            <a:r>
              <a:t>Original v17 slide 81 verbatim content:</a:t>
            </a:r>
          </a:p>
          <a:p>
            <a:r>
              <a:t>Ethereum Wallet - MetaMask</a:t>
            </a:r>
          </a:p>
          <a:p>
            <a:r>
              <a:t>MetaMask (https://metamask.io/)  is a browser extension that provide a way for way for normal web browser to access the blockchain and propose transactions. </a:t>
            </a:r>
          </a:p>
          <a:p>
            <a:r>
              <a:t>It injects web3 API into every website you visit. </a:t>
            </a:r>
          </a:p>
          <a:p>
            <a:r>
              <a:t>It allows you to run Ethereum dApps right in your browser without running a full Ethereum node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wallet0x7a69 == decimal31337; Sepolia11155111 differs. Source: https://docs.soliditylang.org/en/latest/ | https://web3py.readthedocs.io/en/stable/providers.html. Toolchain Solidity 0.8.30, OpenZeppelin 5.4.0, web3.py 8.0.0, Py-EVM 0.12.1b1; checked 13 September 2026.</a:t>
            </a:r>
          </a:p>
          <a:p/>
          <a:p>
            <a:r>
              <a:t>Original v17 slide 82 verbatim content:</a:t>
            </a:r>
          </a:p>
          <a:p>
            <a:r>
              <a:t>‹#›</a:t>
            </a:r>
          </a:p>
          <a:p>
            <a:r>
              <a:t>MetaMask Wallet</a:t>
            </a:r>
          </a:p>
          <a:p>
            <a:r>
              <a:t>https://metamask.io/</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EIP1193 provider injected; no private-key form in dApp. Source: https://docs.soliditylang.org/en/latest/ | https://web3py.readthedocs.io/en/stable/providers.html. Toolchain Solidity 0.8.30, OpenZeppelin 5.4.0, web3.py 8.0.0, Py-EVM 0.12.1b1; checked 13 September 2026.</a:t>
            </a:r>
          </a:p>
          <a:p/>
          <a:p>
            <a:r>
              <a:t>Original v17 slide 83 verbatim content:</a:t>
            </a:r>
          </a:p>
          <a:p>
            <a:r>
              <a:t>‹#›</a:t>
            </a:r>
          </a:p>
          <a:p>
            <a:r>
              <a:t>Activity: Install Metamask Wallet</a:t>
            </a:r>
          </a:p>
          <a:p>
            <a:r>
              <a:t>Goto https://metamask.io/download/</a:t>
            </a:r>
          </a:p>
          <a:p>
            <a:r>
              <a:t>Install Metamask Wallet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(chainId,address) together identify deployment. Source: https://docs.soliditylang.org/en/latest/ | https://web3py.readthedocs.io/en/stable/providers.html. Toolchain Solidity 0.8.30, OpenZeppelin 5.4.0, web3.py 8.0.0, Py-EVM 0.12.1b1; checked 13 September 2026.</a:t>
            </a:r>
          </a:p>
          <a:p/>
          <a:p>
            <a:r>
              <a:t>Original v17 slide 84 verbatim content:</a:t>
            </a:r>
          </a:p>
          <a:p>
            <a:r>
              <a:t>Mainnet vs Tesnet</a:t>
            </a:r>
          </a:p>
          <a:p>
            <a:r>
              <a:t>‹#›</a:t>
            </a:r>
          </a:p>
          <a:p>
            <a:r>
              <a:t>Mainnet is the term used to describe when a blockchain protocol is fully developed and deployed, meaning that cryptocurrency transactions are being broadcasted, verified, and recorded on a distributed ledger technology blockchain.</a:t>
            </a:r>
          </a:p>
          <a:p>
            <a:r>
              <a:t> A testnet is used by programmers and developers to test and troubleshoot all the aspects and features of a blockchain network before they are sure the system is secure and ready for the mainnet launch.</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Sepolia chainId11155111; explorer sepolia.etherscan.io. Source: https://docs.soliditylang.org/en/latest/ | https://web3py.readthedocs.io/en/stable/providers.html. Toolchain Solidity 0.8.30, OpenZeppelin 5.4.0, web3.py 8.0.0, Py-EVM 0.12.1b1; checked 13 September 2026.</a:t>
            </a:r>
          </a:p>
          <a:p/>
          <a:p>
            <a:r>
              <a:t>Original v17 slide 85 verbatim content:</a:t>
            </a:r>
          </a:p>
          <a:p>
            <a:r>
              <a:t>Ethereum Testnets</a:t>
            </a:r>
          </a:p>
          <a:p>
            <a:r>
              <a:t>‹#›</a:t>
            </a:r>
          </a:p>
          <a:p>
            <a:r>
              <a:t>Görli</a:t>
            </a:r>
          </a:p>
          <a:p>
            <a:r>
              <a:t>Kovan</a:t>
            </a:r>
          </a:p>
          <a:p>
            <a:r>
              <a:t>Rinkeby</a:t>
            </a:r>
          </a:p>
          <a:p>
            <a:r>
              <a:t>Ropsten</a:t>
            </a:r>
          </a:p>
          <a:p/>
          <a:p/>
          <a:p>
            <a:r>
              <a:t>ETH on testnets has no real value; therefore, there are no markets for testnet ETH. Since you need ETH to actually interact with Ethereum, most people get testnet ETH from faucets.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get_balance(test_account) sufficient for test fee. Source: https://docs.soliditylang.org/en/latest/ | https://web3py.readthedocs.io/en/stable/providers.html. Toolchain Solidity 0.8.30, OpenZeppelin 5.4.0, web3.py 8.0.0, Py-EVM 0.12.1b1; checked 13 September 2026.</a:t>
            </a:r>
          </a:p>
          <a:p/>
          <a:p>
            <a:r>
              <a:t>Original v17 slide 86 verbatim content:</a:t>
            </a:r>
          </a:p>
          <a:p>
            <a:r>
              <a:t>Activity: Get Testnet Ethers</a:t>
            </a:r>
          </a:p>
          <a:p>
            <a:r>
              <a:t>You can get Rinkeby testnets ethers from the faucets below </a:t>
            </a:r>
          </a:p>
          <a:p>
            <a:r>
              <a:t>https://faucet.rinkeby.io/ </a:t>
            </a:r>
          </a:p>
          <a:p>
            <a:r>
              <a:t>Send the testnet ethers to each other in the class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gas=3000000; receipt.gasUsed; receipt.status. Source: https://docs.soliditylang.org/en/latest/ | https://web3py.readthedocs.io/en/stable/providers.html. Toolchain Solidity 0.8.30, OpenZeppelin 5.4.0, web3.py 8.0.0, Py-EVM 0.12.1b1; checked 13 September 2026.</a:t>
            </a:r>
          </a:p>
          <a:p/>
          <a:p>
            <a:r>
              <a:t>Original v17 slide 87 verbatim content:</a:t>
            </a:r>
          </a:p>
          <a:p>
            <a:r>
              <a:t>Ethereum Gas Fee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fee = gasUsed × effectiveGasPrice; wei→ETH ÷10**18. Source: https://docs.soliditylang.org/en/latest/ | https://web3py.readthedocs.io/en/stable/providers.html. Toolchain Solidity 0.8.30, OpenZeppelin 5.4.0, web3.py 8.0.0, Py-EVM 0.12.1b1; checked 13 September 2026.</a:t>
            </a:r>
          </a:p>
          <a:p/>
          <a:p>
            <a:r>
              <a:t>Original v17 slide 88 verbatim content:</a:t>
            </a:r>
          </a:p>
          <a:p>
            <a:r>
              <a:t>Beware of Ethereum Gas Price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a,b,c = w3.eth.accounts[:3]; a != c. Source: https://docs.soliditylang.org/en/latest/ | https://web3py.readthedocs.io/en/stable/providers.html. Toolchain Solidity 0.8.30, OpenZeppelin 5.4.0, web3.py 8.0.0, Py-EVM 0.12.1b1; checked 13 September 2026.</a:t>
            </a:r>
          </a:p>
          <a:p/>
          <a:p>
            <a:r>
              <a:t>Original v17 slide 89 verbatim content:</a:t>
            </a:r>
          </a:p>
          <a:p>
            <a:r>
              <a:t>Create a 2nd test account on Rinkeby Test Network</a:t>
            </a:r>
          </a:p>
          <a:p>
            <a:r>
              <a:t>Send 5 ether from the 1st test account to 2nd test account</a:t>
            </a:r>
          </a:p>
          <a:p>
            <a:r>
              <a:t>Specify the gas price used</a:t>
            </a:r>
          </a:p>
          <a:p/>
          <a:p/>
          <a:p>
            <a:r>
              <a:t>Activity: Ether Transaction and Gas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from=a; to=contract; value=10**17; receipt.status=1. Source: https://docs.soliditylang.org/en/latest/ | https://web3py.readthedocs.io/en/stable/providers.html. Toolchain Solidity 0.8.30, OpenZeppelin 5.4.0, web3.py 8.0.0, Py-EVM 0.12.1b1; checked 13 September 2026.</a:t>
            </a:r>
          </a:p>
          <a:p/>
          <a:p>
            <a:r>
              <a:t>Original v17 slide 90 verbatim content:</a:t>
            </a:r>
          </a:p>
          <a:p>
            <a:r>
              <a:t>Transaction Details on Etherscan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receipt → ownerOf / revoked or balanceOf / totalSupply. Source: https://docs.soliditylang.org/en/latest/ | https://web3py.readthedocs.io/en/stable/providers.html. Toolchain Solidity 0.8.30, OpenZeppelin 5.4.0, web3.py 8.0.0, Py-EVM 0.12.1b1; checked 13 September 2026.</a:t>
            </a:r>
          </a:p>
          <a:p/>
          <a:p>
            <a:r>
              <a:t>Original v17 slide 91 verbatim content:</a:t>
            </a:r>
          </a:p>
          <a:p>
            <a:r>
              <a:t>Activity: Etherscan </a:t>
            </a:r>
          </a:p>
          <a:p>
            <a:r>
              <a:t>‹#›</a:t>
            </a:r>
          </a:p>
          <a:p>
            <a:r>
              <a:t>View all your test transactions on Rinkeby Etherscan https://rinkeby.etherscan.io/</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uint256 quantity; address supplier; bytes32 orderId;. Source: https://docs.soliditylang.org/en/latest/ | https://web3py.readthedocs.io/en/stable/providers.html. Toolchain Solidity 0.8.30, OpenZeppelin 5.4.0, web3.py 8.0.0, Py-EVM 0.12.1b1; checked 13 September 2026.</a:t>
            </a:r>
          </a:p>
          <a:p/>
          <a:p>
            <a:r>
              <a:t>Original v17 slide 92 verbatim content:</a:t>
            </a:r>
          </a:p>
          <a:p>
            <a:r>
              <a:t>Solidity </a:t>
            </a:r>
          </a:p>
          <a:p>
            <a:r>
              <a:t>Solidity is an object-oriented, high-level language for implementing smart contracts. Smart contracts are programs which govern the behaviour of accounts within the Ethereum state.</a:t>
            </a:r>
          </a:p>
          <a:p>
            <a:r>
              <a:t>Solidity was influenced by C++, Python and JavaScript and is designed to target the Ethereum Virtual Machine (EVM).</a:t>
            </a:r>
          </a:p>
          <a:p>
            <a:r>
              <a:t>Solidity is statically typed, supports inheritance, libraries and complex user-defined types among other features.</a:t>
            </a:r>
          </a:p>
          <a:p>
            <a:r>
              <a:t>With Solidity you can create contracts for uses such as voting, crowdfunding, blind auctions, and multi-signature wallets.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compiler0.8.30; optimizer200; EVM Cancun; intended contract. Source: https://docs.soliditylang.org/en/latest/ | https://web3py.readthedocs.io/en/stable/providers.html. Toolchain Solidity 0.8.30, OpenZeppelin 5.4.0, web3.py 8.0.0, Py-EVM 0.12.1b1; checked 13 September 2026.</a:t>
            </a:r>
          </a:p>
          <a:p/>
          <a:p>
            <a:r>
              <a:t>Original v17 slide 93 verbatim content:</a:t>
            </a:r>
          </a:p>
          <a:p>
            <a:r>
              <a:t>Remix IDE for Solidity </a:t>
            </a:r>
          </a:p>
          <a:p>
            <a:r>
              <a:t>Remix is a suite of tools to interact with the Ethereum blockchain in order to debug transactions, stored in this Git repository</a:t>
            </a:r>
          </a:p>
          <a:p>
            <a:r>
              <a:t>Remix IDE is a browser-based IDE built by the Ethereum development team.</a:t>
            </a:r>
          </a:p>
          <a:p>
            <a:r>
              <a:t>http://remix.ethereum.org</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SPDX → pragma solidity ^0.8.30 → import → contract. Source: https://docs.soliditylang.org/en/latest/ | https://web3py.readthedocs.io/en/stable/providers.html. Toolchain Solidity 0.8.30, OpenZeppelin 5.4.0, web3.py 8.0.0, Py-EVM 0.12.1b1; checked 13 September 2026.</a:t>
            </a:r>
          </a:p>
          <a:p/>
          <a:p>
            <a:r>
              <a:t>Original v17 slide 94 verbatim content:</a:t>
            </a:r>
          </a:p>
          <a:p>
            <a:r>
              <a:t>Layout of a Solidity Source File</a:t>
            </a:r>
          </a:p>
          <a:p>
            <a:r>
              <a:t>Source files can contain an arbitrary number of contract definitions, import directives, pragma directives and struct, enum, function, error and constant variable definitions.</a:t>
            </a:r>
          </a:p>
          <a:p>
            <a:r>
              <a:t>A typical layout of solidity source file includes:</a:t>
            </a:r>
          </a:p>
          <a:p>
            <a:r>
              <a:t>SPDX License Identifier</a:t>
            </a:r>
          </a:p>
          <a:p>
            <a:r>
              <a:t>Pragmas</a:t>
            </a:r>
          </a:p>
          <a:p>
            <a:r>
              <a:t>Contract</a:t>
            </a:r>
          </a:p>
          <a:p>
            <a:r>
              <a:t>Comments - Single-line comments (//) and multi-line comments (/*...*/) are possible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mapping(bytes32=&gt;bool) public registered; issuer-only register. Source: https://docs.soliditylang.org/en/latest/ | https://web3py.readthedocs.io/en/stable/providers.html. Toolchain Solidity 0.8.30, OpenZeppelin 5.4.0, web3.py 8.0.0, Py-EVM 0.12.1b1; checked 13 September 2026.</a:t>
            </a:r>
          </a:p>
          <a:p/>
          <a:p>
            <a:r>
              <a:t>Original v17 slide 95 verbatim content:</a:t>
            </a:r>
          </a:p>
          <a:p>
            <a:r>
              <a:t>Sample Smart Contract</a:t>
            </a:r>
          </a:p>
          <a:p>
            <a:r>
              <a:t>// SPDX-License-Identifier: GPL-3.0</a:t>
            </a:r>
          </a:p>
          <a:p>
            <a:r>
              <a:t>pragma solidity &gt;=0.7.0 &lt;0.9.0;</a:t>
            </a:r>
          </a:p>
          <a:p/>
          <a:p>
            <a:r>
              <a:t>contract Storage {</a:t>
            </a:r>
          </a:p>
          <a:p>
            <a:r>
              <a:t>    uint256 number;</a:t>
            </a:r>
          </a:p>
          <a:p/>
          <a:p>
            <a:r>
              <a:t>    function store(uint256 num) public {</a:t>
            </a:r>
          </a:p>
          <a:p>
            <a:r>
              <a:t>        number = num;</a:t>
            </a:r>
          </a:p>
          <a:p>
            <a:r>
              <a:t>    }</a:t>
            </a:r>
          </a:p>
          <a:p/>
          <a:p>
            <a:r>
              <a:t>    function retrieve() public view returns (uint256){</a:t>
            </a:r>
          </a:p>
          <a:p>
            <a:r>
              <a:t>        return number;</a:t>
            </a:r>
          </a:p>
          <a:p>
            <a:r>
              <a:t>    }</a:t>
            </a:r>
          </a:p>
          <a:p>
            <a:r>
              <a:t>// This is a comment</a:t>
            </a:r>
          </a:p>
          <a:p>
            <a:r>
              <a: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SPDX-License-Identifier: MIT. Source: https://docs.soliditylang.org/en/latest/ | https://web3py.readthedocs.io/en/stable/providers.html. Toolchain Solidity 0.8.30, OpenZeppelin 5.4.0, web3.py 8.0.0, Py-EVM 0.12.1b1; checked 13 September 2026.</a:t>
            </a:r>
          </a:p>
          <a:p/>
          <a:p>
            <a:r>
              <a:t>Original v17 slide 96 verbatim content:</a:t>
            </a:r>
          </a:p>
          <a:p>
            <a:r>
              <a:t>SPDX License Identifier</a:t>
            </a:r>
          </a:p>
          <a:p>
            <a:r>
              <a:t>Since making source code available always touches on legal problems with regards to copyright, the Solidity compiler encourages the use of machine-readable SPDX license identifiers.</a:t>
            </a:r>
          </a:p>
          <a:p>
            <a:r>
              <a:t>Every source file should start with a comment indicating its license</a:t>
            </a:r>
          </a:p>
          <a:p/>
          <a:p>
            <a:r>
              <a:t>For example</a:t>
            </a:r>
          </a:p>
          <a:p/>
          <a:p>
            <a:r>
              <a:t>// SPDX-License-Identifier: MIT</a:t>
            </a:r>
          </a:p>
          <a:p>
            <a:r>
              <a:t>// SPDX-License-Identifier: GPL-3.0</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pragma ^0.8.30; solc.version() exact execution label. Source: https://docs.soliditylang.org/en/latest/ | https://web3py.readthedocs.io/en/stable/providers.html. Toolchain Solidity 0.8.30, OpenZeppelin 5.4.0, web3.py 8.0.0, Py-EVM 0.12.1b1; checked 13 September 2026.</a:t>
            </a:r>
          </a:p>
          <a:p/>
          <a:p>
            <a:r>
              <a:t>Original v17 slide 97 verbatim content:</a:t>
            </a:r>
          </a:p>
          <a:p>
            <a:r>
              <a:t>Pragmas</a:t>
            </a:r>
          </a:p>
          <a:p>
            <a:r>
              <a:t>The pragma keyword is used to enable certain compiler features or checks. </a:t>
            </a:r>
          </a:p>
          <a:p>
            <a:r>
              <a:t>A pragma directive is always local to a source file, so you have to add the pragma to all your files if you want to enable it in your whole project. </a:t>
            </a:r>
          </a:p>
          <a:p>
            <a:r>
              <a:t>If you import another file, the pragma from that file does not automatically apply to the importing file.</a:t>
            </a:r>
          </a:p>
          <a:p/>
          <a:p>
            <a:r>
              <a:t>For Example:</a:t>
            </a:r>
          </a:p>
          <a:p>
            <a:r>
              <a:t>pragma solidity ^0.5.2;</a:t>
            </a:r>
          </a:p>
          <a:p>
            <a:r>
              <a:t>pragma solidity &gt;=0.7.0 &lt;0.9.0;</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address public immutable issuer = msg.sender;. Source: https://docs.soliditylang.org/en/latest/ | https://web3py.readthedocs.io/en/stable/providers.html. Toolchain Solidity 0.8.30, OpenZeppelin 5.4.0, web3.py 8.0.0, Py-EVM 0.12.1b1; checked 13 September 2026.</a:t>
            </a:r>
          </a:p>
          <a:p/>
          <a:p>
            <a:r>
              <a:t>Original v17 slide 98 verbatim content:</a:t>
            </a:r>
          </a:p>
          <a:p>
            <a:r>
              <a:t>Contract</a:t>
            </a:r>
          </a:p>
          <a:p>
            <a:r>
              <a:t>Contracts in Solidity are similar to classes in object-oriented languages.</a:t>
            </a:r>
          </a:p>
          <a:p>
            <a:r>
              <a:t>Contracts in Solidity is a collection of code (its functions) and data (its state) </a:t>
            </a:r>
          </a:p>
          <a:p>
            <a:r>
              <a:t>Each contract can contain declarations of State Variables, Functions, Function Modifiers, Events, Struct Types and Enum Types. </a:t>
            </a:r>
          </a:p>
          <a:p>
            <a:r>
              <a:t>Contracts can inherit from other contracts.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issuer | registered | Registered | register(bytes32). Source: https://docs.soliditylang.org/en/latest/ | https://web3py.readthedocs.io/en/stable/providers.html. Toolchain Solidity 0.8.30, OpenZeppelin 5.4.0, web3.py 8.0.0, Py-EVM 0.12.1b1; checked 13 September 2026.</a:t>
            </a:r>
          </a:p>
          <a:p/>
          <a:p>
            <a:r>
              <a:t>Original v17 slide 99 verbatim content:</a:t>
            </a:r>
          </a:p>
          <a:p>
            <a:r>
              <a:t>Structure of a Contract</a:t>
            </a:r>
          </a:p>
          <a:p>
            <a:r>
              <a:t>Contract in Solidity is similar to a Class in C++. A Contract have following properties.</a:t>
            </a:r>
          </a:p>
          <a:p>
            <a:r>
              <a:t>Constructor − A special function declared with constructor keyword which will be executed once per contract and is invoked when a contract is created.</a:t>
            </a:r>
          </a:p>
          <a:p>
            <a:r>
              <a:t>State Variables − Variables per Contract to store the state of the contract.</a:t>
            </a:r>
          </a:p>
          <a:p>
            <a:r>
              <a:t>Functions − Functions per Contract which can modify the state variables to alter the state of a contract.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registered[digest]=true; emit Registered(digest,msg.sender);. Source: https://docs.soliditylang.org/en/latest/ | https://web3py.readthedocs.io/en/stable/providers.html. Toolchain Solidity 0.8.30, OpenZeppelin 5.4.0, web3.py 8.0.0, Py-EVM 0.12.1b1; checked 13 September 2026.</a:t>
            </a:r>
          </a:p>
          <a:p/>
          <a:p>
            <a:r>
              <a:t>Original v17 slide 100 verbatim content:</a:t>
            </a:r>
          </a:p>
          <a:p>
            <a:r>
              <a:t>Solidity Contract Structure</a:t>
            </a:r>
          </a:p>
          <a:p>
            <a:r>
              <a:t>// SPDX-License-Identifier: MIT</a:t>
            </a:r>
          </a:p>
          <a:p>
            <a:r>
              <a:t>pragma solidity 0.8.6;</a:t>
            </a:r>
          </a:p>
          <a:p/>
          <a:p>
            <a:r>
              <a:t>&lt;import library&gt;</a:t>
            </a:r>
          </a:p>
          <a:p/>
          <a:p>
            <a:r>
              <a:t>contract ContractName {</a:t>
            </a:r>
          </a:p>
          <a:p>
            <a:r>
              <a:t>&lt;state variable declaration&gt;</a:t>
            </a:r>
          </a:p>
          <a:p>
            <a:r>
              <a:t>&lt;mapping&gt;</a:t>
            </a:r>
          </a:p>
          <a:p/>
          <a:p>
            <a:r>
              <a:t>&lt;constructor&gt;</a:t>
            </a:r>
          </a:p>
          <a:p>
            <a:r>
              <a:t>&lt;modifiers&gt;</a:t>
            </a:r>
          </a:p>
          <a:p/>
          <a:p>
            <a:r>
              <a:t>&lt;functions&gt;</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deploy(); register(digest); assert registered(digest). Source: https://docs.soliditylang.org/en/latest/ | https://web3py.readthedocs.io/en/stable/providers.html. Toolchain Solidity 0.8.30, OpenZeppelin 5.4.0, web3.py 8.0.0, Py-EVM 0.12.1b1; checked 13 September 2026.</a:t>
            </a:r>
          </a:p>
          <a:p/>
          <a:p>
            <a:r>
              <a:t>Original v17 slide 101 verbatim content:</a:t>
            </a:r>
          </a:p>
          <a:p>
            <a:r>
              <a:t>Hello World Contract Demo</a:t>
            </a:r>
          </a:p>
          <a:p>
            <a:r>
              <a:t>// SPDX-License-Identifier: GPL-3.0</a:t>
            </a:r>
          </a:p>
          <a:p/>
          <a:p>
            <a:r>
              <a:t>pragma solidity &gt;=0.7.0 &lt;0.9.0;</a:t>
            </a:r>
          </a:p>
          <a:p/>
          <a:p>
            <a:r>
              <a:t>contract Hello {</a:t>
            </a:r>
          </a:p>
          <a:p>
            <a:r>
              <a:t>    </a:t>
            </a:r>
          </a:p>
          <a:p>
            <a:r>
              <a:t>    uint256 public myNum;</a:t>
            </a:r>
          </a:p>
          <a:p>
            <a:r>
              <a:t>    </a:t>
            </a:r>
          </a:p>
          <a:p>
            <a:r>
              <a:t>    function store(uint256 _myNum) public {</a:t>
            </a:r>
          </a:p>
          <a:p>
            <a:r>
              <a:t>         myNum = _myNum;</a:t>
            </a:r>
          </a:p>
          <a:p>
            <a:r>
              <a:t>    }</a:t>
            </a:r>
          </a:p>
          <a:p>
            <a:r>
              <a:t>    </a:t>
            </a:r>
          </a:p>
          <a:p>
            <a:r>
              <a:t>   </a:t>
            </a:r>
          </a:p>
          <a:p>
            <a:r>
              <a:t>}</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external register(...) + require(msg.sender==issuer). Source: https://docs.soliditylang.org/en/latest/ | https://web3py.readthedocs.io/en/stable/providers.html. Toolchain Solidity 0.8.30, OpenZeppelin 5.4.0, web3.py 8.0.0, Py-EVM 0.12.1b1; checked 13 September 2026.</a:t>
            </a:r>
          </a:p>
          <a:p/>
          <a:p>
            <a:r>
              <a:t>Original v17 slide 102 verbatim content:</a:t>
            </a:r>
          </a:p>
          <a:p>
            <a:r>
              <a:t>Visibility Quantifiers</a:t>
            </a:r>
          </a:p>
          <a:p>
            <a:r>
              <a:t>External − External functions are meant to be called by other contracts. They cannot be used for internal call. To call external function within contract this.function_name() call is required. State variables cannot be marked as external.</a:t>
            </a:r>
          </a:p>
          <a:p>
            <a:r>
              <a:t>Public − Public functions/ Variables can be used both externally and internally. For public state variable, Solidity automatically creates a getter function.</a:t>
            </a:r>
          </a:p>
          <a:p>
            <a:r>
              <a:t>Internal − Internal functions/ Variables can only be used internally or by derived contracts.</a:t>
            </a:r>
          </a:p>
          <a:p>
            <a:r>
              <a:t>Private − Private functions/ Variables can only be used internally and not even by derived contracts.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errors.filter(e=&gt;e.severity==="error").length == 0. Source: https://docs.soliditylang.org/en/latest/ | https://web3py.readthedocs.io/en/stable/providers.html. Toolchain Solidity 0.8.30, OpenZeppelin 5.4.0, web3.py 8.0.0, Py-EVM 0.12.1b1; checked 13 September 2026.</a:t>
            </a:r>
          </a:p>
          <a:p/>
          <a:p>
            <a:r>
              <a:t>Original v17 slide 103 verbatim content:</a:t>
            </a:r>
          </a:p>
          <a:p>
            <a:r>
              <a:t>Compile Smart Contract</a:t>
            </a:r>
          </a:p>
          <a:p>
            <a:r>
              <a:t>Choose the Solidity compiler version</a:t>
            </a:r>
          </a:p>
          <a:p>
            <a:r>
              <a:t>Compile the smart contract.</a:t>
            </a:r>
          </a:p>
          <a:p>
            <a:r>
              <a:t>Compiler will output the bytecode and ABI</a:t>
            </a:r>
          </a:p>
          <a:p/>
          <a:p/>
          <a:p/>
          <a:p>
            <a:r>
              <a:t>You can copy the Bytecode and ABI after you compile here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keccak256("ownerOf(uint256)")[0:4] + uint256(1). Source: https://docs.soliditylang.org/en/latest/ | https://web3py.readthedocs.io/en/stable/providers.html. Toolchain Solidity 0.8.30, OpenZeppelin 5.4.0, web3.py 8.0.0, Py-EVM 0.12.1b1; checked 13 September 2026.</a:t>
            </a:r>
          </a:p>
          <a:p/>
          <a:p>
            <a:r>
              <a:t>Original v17 slide 104 verbatim content:</a:t>
            </a:r>
          </a:p>
          <a:p>
            <a:r>
              <a:t>The Contract Application Binary Interface (ABI) is the standard way to interact with contracts in the Ethereum ecosystem, both from outside the blockchain and for contract-to-contract interaction. </a:t>
            </a:r>
          </a:p>
          <a:p>
            <a:r>
              <a:t>Data is encoded according to its type, as described in this specification. </a:t>
            </a:r>
          </a:p>
          <a:p>
            <a:r>
              <a:t>The encoding is not self describing and thus requires a schema in order to decode</a:t>
            </a:r>
          </a:p>
          <a:p/>
          <a:p/>
          <a:p/>
          <a:p/>
          <a:p/>
          <a:p/>
          <a:p>
            <a:r>
              <a:t>    </a:t>
            </a:r>
          </a:p>
          <a:p/>
          <a:p/>
          <a:p>
            <a:r>
              <a:t>Contract ABI</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contractAddress = receipt.contractAddress; get_code(address). Source: https://docs.soliditylang.org/en/latest/ | https://web3py.readthedocs.io/en/stable/providers.html. Toolchain Solidity 0.8.30, OpenZeppelin 5.4.0, web3.py 8.0.0, Py-EVM 0.12.1b1; checked 13 September 2026.</a:t>
            </a:r>
          </a:p>
          <a:p/>
          <a:p>
            <a:r>
              <a:t>Original v17 slide 105 verbatim content:</a:t>
            </a:r>
          </a:p>
          <a:p>
            <a:r>
              <a:t>Deploy Smart Contract</a:t>
            </a:r>
          </a:p>
          <a:p>
            <a:r>
              <a:t>Choose the Javascript VM </a:t>
            </a:r>
          </a:p>
          <a:p>
            <a:r>
              <a:t>Click on Deploy button</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function release() external {require(...); ...}. Source: https://docs.soliditylang.org/en/latest/ | https://web3py.readthedocs.io/en/stable/providers.html. Toolchain Solidity 0.8.30, OpenZeppelin 5.4.0, web3.py 8.0.0, Py-EVM 0.12.1b1; checked 13 September 2026.</a:t>
            </a:r>
          </a:p>
          <a:p/>
          <a:p>
            <a:r>
              <a:t>Original v17 slide 106 verbatim content:</a:t>
            </a:r>
          </a:p>
          <a:p>
            <a:r>
              <a:t>Function Syntax</a:t>
            </a:r>
          </a:p>
          <a:p>
            <a:r>
              <a:t>function functionName(arguments…) &lt;visibility&gt; &lt;state mutability&gt; returns &lt;return types&gt; {....}</a:t>
            </a:r>
          </a:p>
          <a:p>
            <a:r>
              <a:t>Function return type</a:t>
            </a:r>
          </a:p>
          <a:p>
            <a:r>
              <a:t>State Mutability</a:t>
            </a:r>
          </a:p>
          <a:p>
            <a:r>
              <a:t>Function Visibility</a:t>
            </a:r>
          </a:p>
          <a:p>
            <a:r>
              <a:t>function functionName(arguments…)</a:t>
            </a:r>
          </a:p>
          <a:p>
            <a:r>
              <a:t>public/private/…  pure/view/payable</a:t>
            </a:r>
          </a:p>
          <a:p>
            <a:r>
              <a:t>returns &lt;return types&gt; {</a:t>
            </a:r>
          </a:p>
          <a:p>
            <a:r>
              <a:t>	…..code your function logic here</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constructor:require(q&gt;0); quantity=q; getter quantity(). Source: https://docs.soliditylang.org/en/latest/ | https://web3py.readthedocs.io/en/stable/providers.html. Toolchain Solidity 0.8.30, OpenZeppelin 5.4.0, web3.py 8.0.0, Py-EVM 0.12.1b1; checked 13 September 2026.</a:t>
            </a:r>
          </a:p>
          <a:p/>
          <a:p>
            <a:r>
              <a:t>Original v17 slide 107 verbatim content:</a:t>
            </a:r>
          </a:p>
          <a:p>
            <a:r>
              <a:t>Store and Retrieve Number</a:t>
            </a:r>
          </a:p>
          <a:p>
            <a:r>
              <a:t>// SPDX-License-Identifier: GPL-3.0</a:t>
            </a:r>
          </a:p>
          <a:p>
            <a:r>
              <a:t>pragma solidity &gt;=0.7.0 &lt;0.9.0;</a:t>
            </a:r>
          </a:p>
          <a:p/>
          <a:p>
            <a:r>
              <a:t>contract Hello {</a:t>
            </a:r>
          </a:p>
          <a:p>
            <a:r>
              <a:t>    uint256 public myNum;</a:t>
            </a:r>
          </a:p>
          <a:p>
            <a:r>
              <a:t>    </a:t>
            </a:r>
          </a:p>
          <a:p>
            <a:r>
              <a:t>    function store(uint256 _myNum) public {</a:t>
            </a:r>
          </a:p>
          <a:p>
            <a:r>
              <a:t>         myNum = _myNum;</a:t>
            </a:r>
          </a:p>
          <a:p>
            <a:r>
              <a:t>    }</a:t>
            </a:r>
          </a:p>
          <a:p>
            <a:r>
              <a:t>    </a:t>
            </a:r>
          </a:p>
          <a:p>
            <a:r>
              <a:t>    function retrieve() public view returns(uint256) {</a:t>
            </a:r>
          </a:p>
          <a:p>
            <a:r>
              <a:t>        return myNum;</a:t>
            </a:r>
          </a:p>
          <a:p>
            <a:r>
              <a:t>    }</a:t>
            </a:r>
          </a:p>
          <a:p>
            <a:r>
              <a:t>   </a:t>
            </a:r>
          </a:p>
          <a:p>
            <a:r>
              <a:t>}</a:t>
            </a:r>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name():string; documentHash(id):bytes32. Source: https://docs.soliditylang.org/en/latest/ | https://web3py.readthedocs.io/en/stable/providers.html. Toolchain Solidity 0.8.30, OpenZeppelin 5.4.0, web3.py 8.0.0, Py-EVM 0.12.1b1; checked 13 September 2026.</a:t>
            </a:r>
          </a:p>
          <a:p/>
          <a:p>
            <a:r>
              <a:t>Original v17 slide 108 verbatim content:</a:t>
            </a:r>
          </a:p>
          <a:p>
            <a:r>
              <a:t>Store and Retrieve String</a:t>
            </a:r>
          </a:p>
          <a:p>
            <a:r>
              <a:t>// SPDX-License-Identifier: GPL-3.0</a:t>
            </a:r>
          </a:p>
          <a:p>
            <a:r>
              <a:t>pragma solidity &gt;=0.7.0 &lt;0.9.0;</a:t>
            </a:r>
          </a:p>
          <a:p/>
          <a:p>
            <a:r>
              <a:t>contract Hello {</a:t>
            </a:r>
          </a:p>
          <a:p>
            <a:r>
              <a:t>    string public myString;</a:t>
            </a:r>
          </a:p>
          <a:p>
            <a:r>
              <a:t>    </a:t>
            </a:r>
          </a:p>
          <a:p>
            <a:r>
              <a:t>    function store(string memory _myString) public {</a:t>
            </a:r>
          </a:p>
          <a:p>
            <a:r>
              <a:t>         myString = _myString;</a:t>
            </a:r>
          </a:p>
          <a:p>
            <a:r>
              <a:t>    }</a:t>
            </a:r>
          </a:p>
          <a:p>
            <a:r>
              <a:t>    </a:t>
            </a:r>
          </a:p>
          <a:p>
            <a:r>
              <a:t>    function retrieve() public view returns(string memory) {</a:t>
            </a:r>
          </a:p>
          <a:p>
            <a:r>
              <a:t>        return myString;</a:t>
            </a:r>
          </a:p>
          <a:p>
            <a:r>
              <a:t>    }</a:t>
            </a:r>
          </a:p>
          <a:p>
            <a:r>
              <a:t>   </a:t>
            </a:r>
          </a:p>
          <a:p>
            <a:r>
              <a:t>}</a:t>
            </a:r>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constructor(address payable seller,uint256 price). Source: https://docs.soliditylang.org/en/latest/ | https://web3py.readthedocs.io/en/stable/providers.html. Toolchain Solidity 0.8.30, OpenZeppelin 5.4.0, web3.py 8.0.0, Py-EVM 0.12.1b1; checked 13 September 2026.</a:t>
            </a:r>
          </a:p>
          <a:p/>
          <a:p>
            <a:r>
              <a:t>Original v17 slide 109 verbatim content:</a:t>
            </a:r>
          </a:p>
          <a:p>
            <a:r>
              <a:t>Constructor</a:t>
            </a:r>
          </a:p>
          <a:p>
            <a:r>
              <a:t>Constructor is a special function declared using constructor keyword. </a:t>
            </a:r>
          </a:p>
          <a:p>
            <a:r>
              <a:t>When a contract is created, its constructor (a function declared with the constructor keyword) is executed once.</a:t>
            </a:r>
          </a:p>
          <a:p>
            <a:r>
              <a:t>Constructor is generally used to set the default values for state variables</a:t>
            </a:r>
          </a:p>
          <a:p>
            <a:r>
              <a:t>A constructor is optional. </a:t>
            </a:r>
          </a:p>
          <a:p>
            <a:r>
              <a:t>Only one constructor is allowed for a contract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buyer=msg.sender; seller=s; price=p;. Source: https://docs.soliditylang.org/en/latest/ | https://web3py.readthedocs.io/en/stable/providers.html. Toolchain Solidity 0.8.30, OpenZeppelin 5.4.0, web3.py 8.0.0, Py-EVM 0.12.1b1; checked 13 September 2026.</a:t>
            </a:r>
          </a:p>
          <a:p/>
          <a:p>
            <a:r>
              <a:t>Original v17 slide 110 verbatim content:</a:t>
            </a:r>
          </a:p>
          <a:p>
            <a:r>
              <a:t>Contractor Demo</a:t>
            </a:r>
          </a:p>
          <a:p>
            <a:r>
              <a:t>// SPDX-License-Identifier: GPL-3.0</a:t>
            </a:r>
          </a:p>
          <a:p>
            <a:r>
              <a:t>pragma solidity &gt;=0.7.0 &lt;0.9.0;</a:t>
            </a:r>
          </a:p>
          <a:p/>
          <a:p>
            <a:r>
              <a:t>contract Hello {</a:t>
            </a:r>
          </a:p>
          <a:p>
            <a:r>
              <a:t>    uint256 number;</a:t>
            </a:r>
          </a:p>
          <a:p>
            <a:r>
              <a:t>    </a:t>
            </a:r>
          </a:p>
          <a:p>
            <a:r>
              <a:t>    constructor() {</a:t>
            </a:r>
          </a:p>
          <a:p>
            <a:r>
              <a:t>        number = 10;</a:t>
            </a:r>
          </a:p>
          <a:p>
            <a:r>
              <a:t>    }</a:t>
            </a:r>
          </a:p>
          <a:p>
            <a:r>
              <a:t>    function store(uint256 num) public {</a:t>
            </a:r>
          </a:p>
          <a:p>
            <a:r>
              <a:t>        number = num;</a:t>
            </a:r>
          </a:p>
          <a:p>
            <a:r>
              <a:t>    }</a:t>
            </a:r>
          </a:p>
          <a:p>
            <a:r>
              <a:t>    function retrieve() public view returns (uint256){</a:t>
            </a:r>
          </a:p>
          <a:p>
            <a:r>
              <a:t>        return number;</a:t>
            </a:r>
          </a:p>
          <a:p>
            <a:r>
              <a:t>    }</a:t>
            </a:r>
          </a:p>
          <a:p>
            <a:r>
              <a:t>}</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PurchaseOrder(q=25) accepted; q=0 rejected. Source: https://docs.soliditylang.org/en/latest/ | https://web3py.readthedocs.io/en/stable/providers.html. Toolchain Solidity 0.8.30, OpenZeppelin 5.4.0, web3.py 8.0.0, Py-EVM 0.12.1b1; checked 13 September 2026.</a:t>
            </a:r>
          </a:p>
          <a:p/>
          <a:p>
            <a:r>
              <a:t>Original v17 slide 111 verbatim content:</a:t>
            </a:r>
          </a:p>
          <a:p>
            <a:r>
              <a:t>Activity: Constructor</a:t>
            </a:r>
          </a:p>
          <a:p>
            <a:r>
              <a:t>Create a constructor to assign a string value</a:t>
            </a:r>
          </a:p>
          <a:p/>
          <a:p/>
          <a:p>
            <a:r>
              <a:t>Hint:</a:t>
            </a:r>
          </a:p>
          <a:p/>
          <a:p>
            <a:r>
              <a:t>string myString;</a:t>
            </a:r>
          </a:p>
          <a:p>
            <a:r>
              <a:t>    </a:t>
            </a:r>
          </a:p>
          <a:p>
            <a:r>
              <a:t>constructor() {</a:t>
            </a:r>
          </a:p>
          <a:p>
            <a:r>
              <a:t>        myString = "Hello";</a:t>
            </a:r>
          </a:p>
          <a:p>
            <a:r>
              <a:t>    }</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provider chainId11155111; receipt.status1; contract code. Source: https://docs.soliditylang.org/en/latest/ | https://web3py.readthedocs.io/en/stable/providers.html. Toolchain Solidity 0.8.30, OpenZeppelin 5.4.0, web3.py 8.0.0, Py-EVM 0.12.1b1; checked 13 September 2026.</a:t>
            </a:r>
          </a:p>
          <a:p/>
          <a:p>
            <a:r>
              <a:t>Original v17 slide 112 verbatim content:</a:t>
            </a:r>
          </a:p>
          <a:p>
            <a:r>
              <a:t>Deploy Smart Contract on TestNet</a:t>
            </a:r>
          </a:p>
          <a:p>
            <a:r>
              <a:t>To deploy your smart contract on Rinkeby, change the environment from Javascript VM to Injected Web3.</a:t>
            </a:r>
          </a:p>
          <a:p>
            <a:r>
              <a:t>Each transaction will cost a gas fee.</a:t>
            </a:r>
          </a:p>
          <a:p>
            <a:r>
              <a:t>View the transactions on Rinkeby Etherscan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source hash + solc0.8.30 + optimizer200 + Cancun. Source: https://docs.soliditylang.org/en/latest/ | https://web3py.readthedocs.io/en/stable/providers.html. Toolchain Solidity 0.8.30, OpenZeppelin 5.4.0, web3.py 8.0.0, Py-EVM 0.12.1b1; checked 13 September 2026.</a:t>
            </a:r>
          </a:p>
          <a:p/>
          <a:p>
            <a:r>
              <a:t>Original v17 slide 113 verbatim content:</a:t>
            </a:r>
          </a:p>
          <a:p>
            <a:r>
              <a:t>Activity: Deploy Contract to Testnet</a:t>
            </a:r>
          </a:p>
          <a:p>
            <a:r>
              <a:t>Deploy the contract in previous constructor activity to Rinkeby testnet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quantity:uint256; funded:bool; digest:bytes32; issuer:address. Source: https://docs.soliditylang.org/en/latest/ | https://web3py.readthedocs.io/en/stable/providers.html. Toolchain Solidity 0.8.30, OpenZeppelin 5.4.0, web3.py 8.0.0, Py-EVM 0.12.1b1; checked 13 September 2026.</a:t>
            </a:r>
          </a:p>
          <a:p/>
          <a:p>
            <a:r>
              <a:t>Original v17 slide 114 verbatim content:</a:t>
            </a:r>
          </a:p>
          <a:p>
            <a:r>
              <a:t>Simple Data Types</a:t>
            </a:r>
          </a:p>
          <a:p>
            <a:r>
              <a:t>String</a:t>
            </a:r>
          </a:p>
          <a:p>
            <a:r>
              <a:t>Integers (int or uint)</a:t>
            </a:r>
          </a:p>
          <a:p>
            <a:r>
              <a:t>Bool</a:t>
            </a:r>
          </a:p>
          <a:p>
            <a:r>
              <a:t>Address</a:t>
            </a:r>
          </a:p>
          <a:p>
            <a:r>
              <a:t>Bytes</a:t>
            </a:r>
          </a:p>
          <a:p/>
          <a:p/>
          <a:p>
            <a:r>
              <a:t>Data Types</a:t>
            </a:r>
          </a:p>
          <a:p>
            <a:r>
              <a:t>Complex Data Types</a:t>
            </a:r>
          </a:p>
          <a:p>
            <a:r>
              <a:t>Array</a:t>
            </a:r>
          </a:p>
          <a:p>
            <a:r>
              <a:t>Struct </a:t>
            </a:r>
          </a:p>
          <a:p>
            <a:r>
              <a:t>Enum</a:t>
            </a:r>
          </a:p>
          <a:p>
            <a:r>
              <a:t>Mapping</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constant fixed literal; immutable assigned at constructor. Source: https://docs.soliditylang.org/en/latest/ | https://web3py.readthedocs.io/en/stable/providers.html. Toolchain Solidity 0.8.30, OpenZeppelin 5.4.0, web3.py 8.0.0, Py-EVM 0.12.1b1; checked 13 September 2026.</a:t>
            </a:r>
          </a:p>
          <a:p/>
          <a:p>
            <a:r>
              <a:t>Original v17 slide 115 verbatim content:</a:t>
            </a:r>
          </a:p>
          <a:p>
            <a:r>
              <a:t>Constant</a:t>
            </a:r>
          </a:p>
          <a:p>
            <a:r>
              <a:t>// SPDX-License-Identifier: MIT</a:t>
            </a:r>
          </a:p>
          <a:p>
            <a:r>
              <a:t>pragma solidity &gt;=0.7.0 &lt;0.9.0;</a:t>
            </a:r>
          </a:p>
          <a:p/>
          <a:p>
            <a:r>
              <a:t>contract MyContract {</a:t>
            </a:r>
          </a:p>
          <a:p>
            <a:r>
              <a:t>    string public constant myString= "Hello"; </a:t>
            </a:r>
          </a:p>
          <a:p>
            <a:r>
              <a:t>}</a:t>
            </a:r>
          </a:p>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state()==0 → accept →1 → deliver →2. Source: https://docs.soliditylang.org/en/latest/ | https://web3py.readthedocs.io/en/stable/providers.html. Toolchain Solidity 0.8.30, OpenZeppelin 5.4.0, web3.py 8.0.0, Py-EVM 0.12.1b1; checked 13 September 2026.</a:t>
            </a:r>
          </a:p>
          <a:p/>
          <a:p>
            <a:r>
              <a:t>Original v17 slide 116 verbatim content:</a:t>
            </a:r>
          </a:p>
          <a:p>
            <a:r>
              <a:t>Simple Data Types Demo</a:t>
            </a:r>
          </a:p>
          <a:p>
            <a:r>
              <a:t>// SPDX-License-Identifier: MIT</a:t>
            </a:r>
          </a:p>
          <a:p>
            <a:r>
              <a:t>pragma solidity &gt;=0.7.0 &lt;0.9.0;</a:t>
            </a:r>
          </a:p>
          <a:p/>
          <a:p>
            <a:r>
              <a:t>contract MyContract {</a:t>
            </a:r>
          </a:p>
          <a:p>
            <a:r>
              <a:t>    string public myString = "myString";</a:t>
            </a:r>
          </a:p>
          <a:p>
            <a:r>
              <a:t>    bool public myBool = true;</a:t>
            </a:r>
          </a:p>
          <a:p>
            <a:r>
              <a:t>    int public myInt = 1;</a:t>
            </a:r>
          </a:p>
          <a:p>
            <a:r>
              <a:t>    uint public myUint = 1;</a:t>
            </a:r>
          </a:p>
          <a:p>
            <a:r>
              <a:t>    uint8 public mUint8 = 8;</a:t>
            </a:r>
          </a:p>
          <a:p>
            <a:r>
              <a:t>    uint256 public myUint265 = 9999;</a:t>
            </a:r>
          </a:p>
          <a:p>
            <a:r>
              <a:t>        </a:t>
            </a:r>
          </a:p>
          <a:p>
            <a:r>
              <a:t>}</a:t>
            </a:r>
          </a:p>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registered[newDigest]==false; batches[id].custodian==0. Source: https://docs.soliditylang.org/en/latest/ | https://web3py.readthedocs.io/en/stable/providers.html. Toolchain Solidity 0.8.30, OpenZeppelin 5.4.0, web3.py 8.0.0, Py-EVM 0.12.1b1; checked 13 September 2026.</a:t>
            </a:r>
          </a:p>
          <a:p/>
          <a:p>
            <a:r>
              <a:t>Original v17 slide 117 verbatim content:</a:t>
            </a:r>
          </a:p>
          <a:p>
            <a:r>
              <a:t>Mapping</a:t>
            </a:r>
          </a:p>
          <a:p>
            <a:r>
              <a:t>Mapping is a reference type as arrays and structs. Following is the syntax to declare a mapping type.\</a:t>
            </a:r>
          </a:p>
          <a:p/>
          <a:p>
            <a:r>
              <a:t>Syntax:</a:t>
            </a:r>
          </a:p>
          <a:p>
            <a:r>
              <a:t>mapping(_KeyType =&gt; _ValueType)</a:t>
            </a:r>
          </a:p>
          <a:p/>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registered[digestA]=true; registered[digestB]==false. Source: https://docs.soliditylang.org/en/latest/ | https://web3py.readthedocs.io/en/stable/providers.html. Toolchain Solidity 0.8.30, OpenZeppelin 5.4.0, web3.py 8.0.0, Py-EVM 0.12.1b1; checked 13 September 2026.</a:t>
            </a:r>
          </a:p>
          <a:p/>
          <a:p>
            <a:r>
              <a:t>Original v17 slide 118 verbatim content:</a:t>
            </a:r>
          </a:p>
          <a:p>
            <a:r>
              <a:t>Mapping Demo</a:t>
            </a:r>
          </a:p>
          <a:p>
            <a:r>
              <a:t>// SPDX-License-Identifier: MIT</a:t>
            </a:r>
          </a:p>
          <a:p>
            <a:r>
              <a:t>pragma solidity 0.8.6;</a:t>
            </a:r>
          </a:p>
          <a:p/>
          <a:p>
            <a:r>
              <a:t>contract Hello {</a:t>
            </a:r>
          </a:p>
          <a:p>
            <a:r>
              <a:t>    </a:t>
            </a:r>
          </a:p>
          <a:p>
            <a:r>
              <a:t> mapping(string =&gt; uint256) public person;</a:t>
            </a:r>
          </a:p>
          <a:p>
            <a:r>
              <a:t>    </a:t>
            </a:r>
          </a:p>
          <a:p>
            <a:r>
              <a:t> function addPerson(string memory _name, uint256 _age) public {</a:t>
            </a:r>
          </a:p>
          <a:p>
            <a:r>
              <a:t>         person[_name] = _age;</a:t>
            </a:r>
          </a:p>
          <a:p>
            <a:r>
              <a:t>    }</a:t>
            </a:r>
          </a:p>
          <a:p>
            <a:r>
              <a:t>}</a:t>
            </a:r>
          </a:p>
          <a:p/>
          <a:p/>
          <a:p/>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require(!registered[digest],"duplicate"). Source: https://docs.soliditylang.org/en/latest/ | https://web3py.readthedocs.io/en/stable/providers.html. Toolchain Solidity 0.8.30, OpenZeppelin 5.4.0, web3.py 8.0.0, Py-EVM 0.12.1b1; checked 13 September 2026.</a:t>
            </a:r>
          </a:p>
          <a:p/>
          <a:p>
            <a:r>
              <a:t>Original v17 slide 119 verbatim content:</a:t>
            </a:r>
          </a:p>
          <a:p>
            <a:r>
              <a:t>Activity: Mapping</a:t>
            </a:r>
          </a:p>
          <a:p>
            <a:r>
              <a:t>Create a mapping to people count to Person struct and to keep track of the people</a:t>
            </a:r>
          </a:p>
          <a:p/>
          <a:p>
            <a:r>
              <a:t>Hint:</a:t>
            </a:r>
          </a:p>
          <a:p/>
          <a:p>
            <a:r>
              <a:t>struct Person {</a:t>
            </a:r>
          </a:p>
          <a:p>
            <a:r>
              <a:t>        uint _id;</a:t>
            </a:r>
          </a:p>
          <a:p>
            <a:r>
              <a:t>        string _firstname;</a:t>
            </a:r>
          </a:p>
          <a:p>
            <a:r>
              <a:t>        string _lastname;</a:t>
            </a:r>
          </a:p>
          <a:p>
            <a:r>
              <a:t>    }</a:t>
            </a:r>
          </a:p>
          <a:p/>
          <a:p>
            <a:r>
              <a:t>uint256 public peopleCount = 0;</a:t>
            </a:r>
          </a:p>
          <a:p>
            <a:r>
              <a:t>mapping(uint =&gt; Person) public people;</a:t>
            </a:r>
          </a:p>
          <a:p>
            <a:r>
              <a:t>    </a:t>
            </a:r>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msg.sender==buyer &amp;&amp; msg.value==price. Source: https://docs.soliditylang.org/en/latest/ | https://web3py.readthedocs.io/en/stable/providers.html. Toolchain Solidity 0.8.30, OpenZeppelin 5.4.0, web3.py 8.0.0, Py-EVM 0.12.1b1; checked 13 September 2026.</a:t>
            </a:r>
          </a:p>
          <a:p/>
          <a:p>
            <a:r>
              <a:t>Original v17 slide 120 verbatim content:</a:t>
            </a:r>
          </a:p>
          <a:p>
            <a:r>
              <a:t>In Solidity there are special variables and functions which always exist globally and are mainly used to provide information about the blockchain. </a:t>
            </a:r>
          </a:p>
          <a:p>
            <a:r>
              <a:t>They can also be used to assist with error handling, employ mathematical and cryptographic functions, and present information about contract addresses and the contracts themselves. </a:t>
            </a:r>
          </a:p>
          <a:p>
            <a:r>
              <a:t>Common global variables are:</a:t>
            </a:r>
          </a:p>
          <a:p>
            <a:r>
              <a:t>msg</a:t>
            </a:r>
          </a:p>
          <a:p>
            <a:r>
              <a:t>gas</a:t>
            </a:r>
          </a:p>
          <a:p>
            <a:r>
              <a:t>tx</a:t>
            </a:r>
          </a:p>
          <a:p>
            <a:r>
              <a:t>block </a:t>
            </a:r>
          </a:p>
          <a:p>
            <a:r>
              <a:t>    </a:t>
            </a:r>
          </a:p>
          <a:p/>
          <a:p>
            <a:r>
              <a:t>Global Variables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emit Evidence(id,digest,block.timestamp). Source: https://docs.soliditylang.org/en/latest/ | https://web3py.readthedocs.io/en/stable/providers.html. Toolchain Solidity 0.8.30, OpenZeppelin 5.4.0, web3.py 8.0.0, Py-EVM 0.12.1b1; checked 13 September 2026.</a:t>
            </a:r>
          </a:p>
          <a:p/>
          <a:p>
            <a:r>
              <a:t>Original v17 slide 121 verbatim content:</a:t>
            </a:r>
          </a:p>
          <a:p>
            <a:r>
              <a:t>blockhash (uint blockNumber) returns (bytes32) - Hash of the given blocks.</a:t>
            </a:r>
          </a:p>
          <a:p>
            <a:r>
              <a:t>block.coinbase (address payable) = Current block miner's address.</a:t>
            </a:r>
          </a:p>
          <a:p>
            <a:r>
              <a:t>block.difficulty (uint) - current block difficulty.</a:t>
            </a:r>
          </a:p>
          <a:p>
            <a:r>
              <a:t>block.gaslimit (uint) - Current block gaslimit.</a:t>
            </a:r>
          </a:p>
          <a:p>
            <a:r>
              <a:t>block.number (uint) - Current block number.</a:t>
            </a:r>
          </a:p>
          <a:p>
            <a:r>
              <a:t>block.timestamp - Current block timestamp as seconds since unix epoch.</a:t>
            </a:r>
          </a:p>
          <a:p>
            <a:r>
              <a:t>gasleft() returns (uint256) - Remaining gas.</a:t>
            </a:r>
          </a:p>
          <a:p>
            <a:r>
              <a:t>msg.data (bytes calldata) - Complete calldata.</a:t>
            </a:r>
          </a:p>
          <a:p>
            <a:r>
              <a:t>msg.sender (address payable) - Sender of the message (current call).</a:t>
            </a:r>
          </a:p>
          <a:p>
            <a:r>
              <a:t>msg.sig (bytes4) - First four bytes of the calldata (i.e. function identifier)</a:t>
            </a:r>
          </a:p>
          <a:p>
            <a:r>
              <a:t>msg.value (uint) - Number of wei sent with the message.</a:t>
            </a:r>
          </a:p>
          <a:p>
            <a:r>
              <a:t>now (uint) - Current block timestamp (alias for block.timestamp).</a:t>
            </a:r>
          </a:p>
          <a:p>
            <a:r>
              <a:t>tx.gasprice (uint) - Gas price of the transaction.</a:t>
            </a:r>
          </a:p>
          <a:p>
            <a:r>
              <a:t>tx.origin (address payable) - Sender of the transaction (full call chain)</a:t>
            </a:r>
          </a:p>
          <a:p/>
          <a:p>
            <a:r>
              <a:t>Global Properties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function fund() external payable; require(msg.value==price). Source: https://docs.soliditylang.org/en/latest/ | https://web3py.readthedocs.io/en/stable/providers.html. Toolchain Solidity 0.8.30, OpenZeppelin 5.4.0, web3.py 8.0.0, Py-EVM 0.12.1b1; checked 13 September 2026.</a:t>
            </a:r>
          </a:p>
          <a:p/>
          <a:p>
            <a:r>
              <a:t>Original v17 slide 122 verbatim content:</a:t>
            </a:r>
          </a:p>
          <a:p>
            <a:r>
              <a:t>Global Variable and Payable Demo</a:t>
            </a:r>
          </a:p>
          <a:p>
            <a:r>
              <a:t>// SPDX-License-Identifier: MIT</a:t>
            </a:r>
          </a:p>
          <a:p>
            <a:r>
              <a:t>pragma solidity &gt;=0.6.6 &lt;0.9.0;</a:t>
            </a:r>
          </a:p>
          <a:p/>
          <a:p/>
          <a:p>
            <a:r>
              <a:t>contract FundMe {</a:t>
            </a:r>
          </a:p>
          <a:p>
            <a:r>
              <a:t>   </a:t>
            </a:r>
          </a:p>
          <a:p>
            <a:r>
              <a:t>    mapping(address =&gt; uint256) public addrToAmt;</a:t>
            </a:r>
          </a:p>
          <a:p>
            <a:r>
              <a:t>    </a:t>
            </a:r>
          </a:p>
          <a:p>
            <a:r>
              <a:t>    function fund() public payable {</a:t>
            </a:r>
          </a:p>
          <a:p>
            <a:r>
              <a:t>        addrToAmt[msg.sender] += msg.value;</a:t>
            </a:r>
          </a:p>
          <a:p>
            <a:r>
              <a:t>    }</a:t>
            </a:r>
          </a:p>
          <a:p/>
          <a:p>
            <a:r>
              <a:t>}</a:t>
            </a:r>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modifier onlyIssuer(){require(msg.sender==issuer);_;}. Source: https://docs.soliditylang.org/en/latest/ | https://web3py.readthedocs.io/en/stable/providers.html. Toolchain Solidity 0.8.30, OpenZeppelin 5.4.0, web3.py 8.0.0, Py-EVM 0.12.1b1; checked 13 September 2026.</a:t>
            </a:r>
          </a:p>
          <a:p/>
          <a:p>
            <a:r>
              <a:t>Original v17 slide 123 verbatim content:</a:t>
            </a:r>
          </a:p>
          <a:p>
            <a:r>
              <a:t>Function Modifier</a:t>
            </a:r>
          </a:p>
          <a:p>
            <a:r>
              <a:t>Function modifier is mainly used to check a condition (restriction) prior to executing the function.</a:t>
            </a:r>
          </a:p>
          <a:p>
            <a:r>
              <a:t>You can think of function modifier as an extension of a function.</a:t>
            </a:r>
          </a:p>
          <a:p>
            <a:r>
              <a:t>Modifier code will run first when assigned by a function.</a:t>
            </a:r>
          </a:p>
          <a:p>
            <a:r>
              <a:t>_; means to return the flow of execution to the original function code.</a:t>
            </a:r>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revoke(id) must enforce onlyIssuer or equivalent require. Source: https://docs.soliditylang.org/en/latest/ | https://web3py.readthedocs.io/en/stable/providers.html. Toolchain Solidity 0.8.30, OpenZeppelin 5.4.0, web3.py 8.0.0, Py-EVM 0.12.1b1; checked 13 September 2026.</a:t>
            </a:r>
          </a:p>
          <a:p/>
          <a:p>
            <a:r>
              <a:t>Original v17 slide 124 verbatim content:</a:t>
            </a:r>
          </a:p>
          <a:p>
            <a:r>
              <a:t>Function Modifier Demo</a:t>
            </a:r>
          </a:p>
          <a:p>
            <a:r>
              <a:t>// SPDX-License-Identifier: MIT</a:t>
            </a:r>
          </a:p>
          <a:p>
            <a:r>
              <a:t>pragma solidity &gt;=0.6.6 &lt;0.9.0;</a:t>
            </a:r>
          </a:p>
          <a:p/>
          <a:p>
            <a:r>
              <a:t>contract FundMe {</a:t>
            </a:r>
          </a:p>
          <a:p>
            <a:r>
              <a:t>    mapping(address =&gt; uint256) public addrToAmt;</a:t>
            </a:r>
          </a:p>
          <a:p>
            <a:r>
              <a:t>    address public owner;</a:t>
            </a:r>
          </a:p>
          <a:p>
            <a:r>
              <a:t>    constructor() {</a:t>
            </a:r>
          </a:p>
          <a:p>
            <a:r>
              <a:t>        owner = msg.sender;</a:t>
            </a:r>
          </a:p>
          <a:p>
            <a:r>
              <a:t>    }</a:t>
            </a:r>
          </a:p>
          <a:p>
            <a:r>
              <a:t>    modifier onlyOwner {</a:t>
            </a:r>
          </a:p>
          <a:p>
            <a:r>
              <a:t>        require(msg.sender == owner);</a:t>
            </a:r>
          </a:p>
          <a:p>
            <a:r>
              <a:t>        _;</a:t>
            </a:r>
          </a:p>
          <a:p>
            <a:r>
              <a:t>    }</a:t>
            </a:r>
          </a:p>
          <a:p>
            <a:r>
              <a:t>    function fund() public payable onlyOwner {</a:t>
            </a:r>
          </a:p>
          <a:p>
            <a:r>
              <a:t>        addrToAmt[msg.sender] += msg.value;</a:t>
            </a:r>
          </a:p>
          <a:p>
            <a:r>
              <a:t>    }</a:t>
            </a:r>
          </a:p>
          <a:p>
            <a:r>
              <a:t>}</a:t>
            </a:r>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issuer issue accepted; outsider issue rejected. Source: https://docs.soliditylang.org/en/latest/ | https://web3py.readthedocs.io/en/stable/providers.html. Toolchain Solidity 0.8.30, OpenZeppelin 5.4.0, web3.py 8.0.0, Py-EVM 0.12.1b1; checked 13 September 2026.</a:t>
            </a:r>
          </a:p>
          <a:p/>
          <a:p>
            <a:r>
              <a:t>Original v17 slide 125 verbatim content:</a:t>
            </a:r>
          </a:p>
          <a:p>
            <a:r>
              <a:t>Activity: Function Modifier</a:t>
            </a:r>
          </a:p>
          <a:p>
            <a:r>
              <a:t>Add a function modifier to the previous activity on mapping that only the owner can add person to the lis.</a:t>
            </a:r>
          </a:p>
          <a:p/>
          <a:p>
            <a:r>
              <a:t>Hint:</a:t>
            </a:r>
          </a:p>
          <a:p>
            <a:r>
              <a:t>    mapping(uint =&gt; Person) public people;</a:t>
            </a:r>
          </a:p>
          <a:p>
            <a:r>
              <a:t>    uint256 public peopleCount;</a:t>
            </a:r>
          </a:p>
          <a:p>
            <a:r>
              <a:t>    address owner;</a:t>
            </a:r>
          </a:p>
          <a:p>
            <a:r>
              <a:t>    </a:t>
            </a:r>
          </a:p>
          <a:p>
            <a:r>
              <a:t>    modifier onlyOwner {</a:t>
            </a:r>
          </a:p>
          <a:p>
            <a:r>
              <a:t>        require(msg.sender == owner);</a:t>
            </a:r>
          </a:p>
          <a:p>
            <a:r>
              <a:t>        _;</a:t>
            </a:r>
          </a:p>
          <a:p>
            <a:r>
              <a:t>    }</a:t>
            </a:r>
          </a:p>
          <a:p>
            <a:r>
              <a:t>    </a:t>
            </a:r>
          </a:p>
          <a:p>
            <a:r>
              <a:t>    constructor() {</a:t>
            </a:r>
          </a:p>
          <a:p>
            <a:r>
              <a:t>        owner = msg.sender;</a:t>
            </a:r>
          </a:p>
          <a:p>
            <a:r>
              <a:t>    }</a:t>
            </a:r>
          </a:p>
          <a:p>
            <a:r>
              <a:t>    </a:t>
            </a:r>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transfer(b,500*10**18); balanceOf(b)==500*10**18. Source: https://docs.soliditylang.org/en/latest/ | https://web3py.readthedocs.io/en/stable/providers.html. Toolchain Solidity 0.8.30, OpenZeppelin 5.4.0, web3.py 8.0.0, Py-EVM 0.12.1b1; checked 13 September 2026.</a:t>
            </a:r>
          </a:p>
          <a:p/>
          <a:p>
            <a:r>
              <a:t>Original v17 slide 126 verbatim content:</a:t>
            </a:r>
          </a:p>
          <a:p>
            <a:r>
              <a:t>The transfer() function of the ERC20 standard is used to transfer the tokens from the owner of the token to some other address. </a:t>
            </a:r>
          </a:p>
          <a:p>
            <a:r>
              <a:t>As per the standard, the transfer() function must emit the Transfer event on a successful transferal of tokens. </a:t>
            </a:r>
          </a:p>
          <a:p>
            <a:r>
              <a:t>The transaction should revert if msg.sender does not have enough tokens to spend.</a:t>
            </a:r>
          </a:p>
          <a:p>
            <a:r>
              <a:t> A transfer of a 0 (zero) must also be treated as a valid transfer, and must log the Transfer event. </a:t>
            </a:r>
          </a:p>
          <a:p>
            <a:r>
              <a:t>The address that's calling the function must have sufficient tokens to transfer to another address.</a:t>
            </a:r>
          </a:p>
          <a:p>
            <a:r>
              <a:t>Transfer Function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ETH:call{value:price}; token:transfer(to,amount). Source: https://docs.soliditylang.org/en/latest/ | https://web3py.readthedocs.io/en/stable/providers.html. Toolchain Solidity 0.8.30, OpenZeppelin 5.4.0, web3.py 8.0.0, Py-EVM 0.12.1b1; checked 13 September 2026.</a:t>
            </a:r>
          </a:p>
          <a:p/>
          <a:p>
            <a:r>
              <a:t>Original v17 slide 127 verbatim content:</a:t>
            </a:r>
          </a:p>
          <a:p>
            <a:r>
              <a:t>Transfer Function Demo</a:t>
            </a:r>
          </a:p>
          <a:p>
            <a:r>
              <a:t>// SPDX-License-Identifier: MIT</a:t>
            </a:r>
          </a:p>
          <a:p>
            <a:r>
              <a:t>pragma solidity &gt;=0.6.6 &lt;0.9.0;</a:t>
            </a:r>
          </a:p>
          <a:p/>
          <a:p>
            <a:r>
              <a:t>contract Token {</a:t>
            </a:r>
          </a:p>
          <a:p>
            <a:r>
              <a:t>    mapping(address =&gt; uint256) public balances;</a:t>
            </a:r>
          </a:p>
          <a:p>
            <a:r>
              <a:t>    address payable funder;</a:t>
            </a:r>
          </a:p>
          <a:p>
            <a:r>
              <a:t>    address owner;</a:t>
            </a:r>
          </a:p>
          <a:p>
            <a:r>
              <a:t>    </a:t>
            </a:r>
          </a:p>
          <a:p>
            <a:r>
              <a:t>    constructor(address payable _funder)  {</a:t>
            </a:r>
          </a:p>
          <a:p>
            <a:r>
              <a:t>       funder = _funder;</a:t>
            </a:r>
          </a:p>
          <a:p>
            <a:r>
              <a:t>       owner = msg.sender;</a:t>
            </a:r>
          </a:p>
          <a:p>
            <a:r>
              <a:t>    }</a:t>
            </a:r>
          </a:p>
          <a:p>
            <a:r>
              <a:t>    modifier onlyOwner {</a:t>
            </a:r>
          </a:p>
          <a:p>
            <a:r>
              <a:t>        require(msg.sender == owner);</a:t>
            </a:r>
          </a:p>
          <a:p>
            <a:r>
              <a:t>        _;</a:t>
            </a:r>
          </a:p>
          <a:p>
            <a:r>
              <a:t>    }  </a:t>
            </a:r>
          </a:p>
          <a:p>
            <a:r>
              <a:t>    function myToken() public payable onlyOwner {</a:t>
            </a:r>
          </a:p>
          <a:p>
            <a:r>
              <a:t>      balances[msg.sender] += 1;</a:t>
            </a:r>
          </a:p>
          <a:p>
            <a:r>
              <a:t>      funder.transfer(msg.value);</a:t>
            </a:r>
          </a:p>
          <a:p>
            <a:r>
              <a:t>    }</a:t>
            </a:r>
          </a:p>
          <a:p>
            <a:r>
              <a:t>}</a:t>
            </a:r>
          </a:p>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reject(transfer(a,501*10**18), learner). Source: https://docs.soliditylang.org/en/latest/ | https://web3py.readthedocs.io/en/stable/providers.html. Toolchain Solidity 0.8.30, OpenZeppelin 5.4.0, web3.py 8.0.0, Py-EVM 0.12.1b1; checked 13 September 2026.</a:t>
            </a:r>
          </a:p>
          <a:p/>
          <a:p>
            <a:r>
              <a:t>Original v17 slide 128 verbatim content:</a:t>
            </a:r>
          </a:p>
          <a:p>
            <a:r>
              <a:t>Activity: Transfer Function </a:t>
            </a:r>
          </a:p>
          <a:p>
            <a:r>
              <a:t>Add a SellToken function when owner sell the token</a:t>
            </a:r>
          </a:p>
          <a:p/>
          <a:p>
            <a:r>
              <a:t>Hint:</a:t>
            </a:r>
          </a:p>
          <a:p/>
          <a:p>
            <a:r>
              <a:t> function sellToken() public payable {</a:t>
            </a:r>
          </a:p>
          <a:p>
            <a:r>
              <a:t>      balances[msg.sender] -= 1;</a:t>
            </a:r>
          </a:p>
          <a:p>
            <a:r>
              <a:t>      payable(owner).transfer(msg.value);</a:t>
            </a:r>
          </a:p>
          <a:p>
            <a:r>
              <a:t>   }</a:t>
            </a:r>
          </a:p>
          <a:p/>
          <a:p>
            <a:r>
              <a:t>    </a:t>
            </a:r>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CertificateNFT is ERC721; _safeMint(learner,id). Source: https://docs.soliditylang.org/en/latest/ | https://web3py.readthedocs.io/en/stable/providers.html. Toolchain Solidity 0.8.30, OpenZeppelin 5.4.0, web3.py 8.0.0, Py-EVM 0.12.1b1; checked 13 September 2026.</a:t>
            </a:r>
          </a:p>
          <a:p/>
          <a:p>
            <a:r>
              <a:t>Original v17 slide 129 verbatim content:</a:t>
            </a:r>
          </a:p>
          <a:p>
            <a:r>
              <a:t>Inheritance is a way to extend functionality of a contract. Solidity supports both single as well as multiple inheritance. Following are the key highlights.</a:t>
            </a:r>
          </a:p>
          <a:p>
            <a:r>
              <a:t>A derived contract can access all non-private members including internal methods and state variables. But using this is not allowed.</a:t>
            </a:r>
          </a:p>
          <a:p>
            <a:r>
              <a:t>Inheritance Syntax:</a:t>
            </a:r>
          </a:p>
          <a:p/>
          <a:p>
            <a:r>
              <a:t>contract MyToken is ERC20Token</a:t>
            </a:r>
          </a:p>
          <a:p/>
          <a:p/>
          <a:p/>
          <a:p/>
          <a:p>
            <a:r>
              <a:t>    </a:t>
            </a:r>
          </a:p>
          <a:p/>
          <a:p/>
          <a:p>
            <a:r>
              <a:t>Inheritance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_mint(msg.sender,1000000*10**decimals()). Source: https://docs.soliditylang.org/en/latest/ | https://web3py.readthedocs.io/en/stable/providers.html. Toolchain Solidity 0.8.30, OpenZeppelin 5.4.0, web3.py 8.0.0, Py-EVM 0.12.1b1; checked 13 September 2026.</a:t>
            </a:r>
          </a:p>
          <a:p/>
          <a:p>
            <a:r>
              <a:t>Original v17 slide 130 verbatim content:</a:t>
            </a:r>
          </a:p>
          <a:p>
            <a:r>
              <a:t>The ERC-20 (Ethereum Request for Comments 20), proposed by Fabian Vogelsteller in November 2015, is a Token Standard that implements an API for tokens within Smart Contracts.</a:t>
            </a:r>
          </a:p>
          <a:p>
            <a:r>
              <a:t>ERC-20 introduces a standard for Fungible Tokens, in other words, they have a property that makes each Token be exactly the same (in type and value) of another Token. For example, an ERC-20 Token acts just like the ETH, meaning that 1 Token is and will always be equal to all the other Tokens.</a:t>
            </a:r>
          </a:p>
          <a:p>
            <a:r>
              <a:t>It provides functionalities like to transfer tokens from one account to another, to get the current token balance of an account and also the total supply of the token available on the network. Besides these it also has some other functionalities like to approve that an amount of token from an account can be spent by a third party account.</a:t>
            </a:r>
          </a:p>
          <a:p/>
          <a:p/>
          <a:p/>
          <a:p>
            <a:r>
              <a:t>    </a:t>
            </a:r>
          </a:p>
          <a:p/>
          <a:p/>
          <a:p>
            <a:r>
              <a:t>ERC20 Token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approve(c,20*unit) from b; transferFrom(b,c,20*unit) from c. Source: https://docs.soliditylang.org/en/latest/ | https://web3py.readthedocs.io/en/stable/providers.html. Toolchain Solidity 0.8.30, OpenZeppelin 5.4.0, web3.py 8.0.0, Py-EVM 0.12.1b1; checked 13 September 2026.</a:t>
            </a:r>
          </a:p>
          <a:p/>
          <a:p>
            <a:r>
              <a:t>Original v17 slide 131 verbatim content:</a:t>
            </a:r>
          </a:p>
          <a:p>
            <a:r>
              <a:t>How ERC20 Token Works</a:t>
            </a:r>
          </a:p>
          <a:p>
            <a:r>
              <a:t>‹#›</a:t>
            </a:r>
          </a:p>
          <a:p>
            <a:r>
              <a:t>This diagram illustrate the steps of how the process works.</a:t>
            </a:r>
          </a:p>
          <a:p>
            <a:r>
              <a:t>First an ERC20 token is published to the ethereum network</a:t>
            </a:r>
          </a:p>
          <a:p>
            <a:r>
              <a:t>The token is assigned a contract address and has an ABI</a:t>
            </a:r>
          </a:p>
          <a:p>
            <a:r>
              <a:t>An address that holds the token approves a contract to spend on its behalf</a:t>
            </a:r>
          </a:p>
          <a:p>
            <a:r>
              <a:t>The contract then sends the token to a receiving address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balanceOf(address); allowance(owner,spender); totalSupply(). Source: https://docs.soliditylang.org/en/latest/ | https://web3py.readthedocs.io/en/stable/providers.html. Toolchain Solidity 0.8.30, OpenZeppelin 5.4.0, web3.py 8.0.0, Py-EVM 0.12.1b1; checked 13 September 2026.</a:t>
            </a:r>
          </a:p>
          <a:p/>
          <a:p>
            <a:r>
              <a:t>Original v17 slide 132 verbatim content:</a:t>
            </a:r>
          </a:p>
          <a:p>
            <a:r>
              <a:t>https://eips.ethereum.org/EIPS/eip-20</a:t>
            </a:r>
          </a:p>
          <a:p/>
          <a:p/>
          <a:p/>
          <a:p/>
          <a:p/>
          <a:p>
            <a:r>
              <a:t>    </a:t>
            </a:r>
          </a:p>
          <a:p/>
          <a:p/>
          <a:p>
            <a:r>
              <a:t>ERC20 Token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totalSupply()==1000000*10**18. Source: https://docs.soliditylang.org/en/latest/ | https://web3py.readthedocs.io/en/stable/providers.html. Toolchain Solidity 0.8.30, OpenZeppelin 5.4.0, web3.py 8.0.0, Py-EVM 0.12.1b1; checked 13 September 2026.</a:t>
            </a:r>
          </a:p>
          <a:p/>
          <a:p>
            <a:r>
              <a:t>Original v17 slide 133 verbatim content:</a:t>
            </a:r>
          </a:p>
          <a:p>
            <a:r>
              <a:t>totalSupply() - Returns current total number of tokens</a:t>
            </a:r>
          </a:p>
          <a:p>
            <a:r>
              <a:t>balanceOf() - Returns current balance of specified account</a:t>
            </a:r>
          </a:p>
          <a:p>
            <a:r>
              <a:t>allowance() - Returns remaining number of tokens allowed to be transferred from one specific account to another specific account</a:t>
            </a:r>
          </a:p>
          <a:p>
            <a:r>
              <a:t>transfer() - Transfers tokens from the owner to specified target account</a:t>
            </a:r>
          </a:p>
          <a:p>
            <a:r>
              <a:t>transferFrom() - Transfers tokens from one specific account to another specific account</a:t>
            </a:r>
          </a:p>
          <a:p>
            <a:r>
              <a:t>approve() - Maximum allowed tokens that can be transferred from one specific account to another specific account</a:t>
            </a:r>
          </a:p>
          <a:p/>
          <a:p/>
          <a:p/>
          <a:p/>
          <a:p/>
          <a:p>
            <a:r>
              <a:t>Typical ERC20 Key Functions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allowance(b,c)==0; balanceOf(c)==20*10**18. Source: https://docs.soliditylang.org/en/latest/ | https://web3py.readthedocs.io/en/stable/providers.html. Toolchain Solidity 0.8.30, OpenZeppelin 5.4.0, web3.py 8.0.0, Py-EVM 0.12.1b1; checked 13 September 2026.</a:t>
            </a:r>
          </a:p>
          <a:p/>
          <a:p>
            <a:r>
              <a:t>Original v17 slide 134 verbatim content:</a:t>
            </a:r>
          </a:p>
          <a:p>
            <a:r>
              <a:t>totSupply - Total number of tokens in circulation</a:t>
            </a:r>
          </a:p>
          <a:p>
            <a:r>
              <a:t>name - Descriptive token name</a:t>
            </a:r>
          </a:p>
          <a:p>
            <a:r>
              <a:t>decimals - Number of decimals to use when displaying token amounts</a:t>
            </a:r>
          </a:p>
          <a:p>
            <a:r>
              <a:t>symbol - Short identifier</a:t>
            </a:r>
          </a:p>
          <a:p>
            <a:r>
              <a:t>balances - Current balance of each participating account, mapped to the account’s address</a:t>
            </a:r>
          </a:p>
          <a:p>
            <a:r>
              <a:t>allowed - Number of tokens authorized to transfer between accounts, mapped to sender’s address</a:t>
            </a:r>
          </a:p>
          <a:p/>
          <a:p/>
          <a:p/>
          <a:p/>
          <a:p/>
          <a:p/>
          <a:p/>
          <a:p/>
          <a:p>
            <a:r>
              <a:t>Typical ERC20 Data Items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package-lock resolves @openzeppelin/contracts5.4.0. Source: https://docs.soliditylang.org/en/latest/ | https://web3py.readthedocs.io/en/stable/providers.html. Toolchain Solidity 0.8.30, OpenZeppelin 5.4.0, web3.py 8.0.0, Py-EVM 0.12.1b1; checked 13 September 2026.</a:t>
            </a:r>
          </a:p>
          <a:p/>
          <a:p>
            <a:r>
              <a:t>Original v17 slide 135 verbatim content:</a:t>
            </a:r>
          </a:p>
          <a:p>
            <a:r>
              <a:t>OpenZeppelin Contracts (https://docs.openzeppelin.com/) helps you minimize risk by using battle-tested libraries of smart contracts for Ethereum and other blockchains. It includes the most used implementations of ERC standards.</a:t>
            </a:r>
          </a:p>
          <a:p/>
          <a:p/>
          <a:p/>
          <a:p/>
          <a:p/>
          <a:p>
            <a:r>
              <a:t>    </a:t>
            </a:r>
          </a:p>
          <a:p/>
          <a:p/>
          <a:p>
            <a:r>
              <a:t>OpenZeppelin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import ERC20; contract WorkshopToken is ERC20. Source: https://docs.soliditylang.org/en/latest/ | https://web3py.readthedocs.io/en/stable/providers.html. Toolchain Solidity 0.8.30, OpenZeppelin 5.4.0, web3.py 8.0.0, Py-EVM 0.12.1b1; checked 13 September 2026.</a:t>
            </a:r>
          </a:p>
          <a:p/>
          <a:p>
            <a:r>
              <a:t>Original v17 slide 136 verbatim content:</a:t>
            </a:r>
          </a:p>
          <a:p>
            <a:r>
              <a:t>https://github.com/OpenZeppelin/openzeppelin-contracts/tree/master/contracts/token </a:t>
            </a:r>
          </a:p>
          <a:p/>
          <a:p/>
          <a:p/>
          <a:p/>
          <a:p/>
          <a:p>
            <a:r>
              <a:t>    </a:t>
            </a:r>
          </a:p>
          <a:p/>
          <a:p/>
          <a:p>
            <a:r>
              <a:t>OpenZeppelin Token Codes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Requirement:one constructor mint; no public mint function. Source: https://docs.soliditylang.org/en/latest/ | https://web3py.readthedocs.io/en/stable/providers.html. Toolchain Solidity 0.8.30, OpenZeppelin 5.4.0, web3.py 8.0.0, Py-EVM 0.12.1b1; checked 13 September 2026.</a:t>
            </a:r>
          </a:p>
          <a:p/>
          <a:p>
            <a:r>
              <a:t>Original v17 slide 137 verbatim content:</a:t>
            </a:r>
          </a:p>
          <a:p>
            <a:r>
              <a:t>Goto OpenZeppelin Contract Wizard page</a:t>
            </a:r>
          </a:p>
          <a:p>
            <a:r>
              <a:t>https://docs.openzeppelin.com/contracts/4.x/wizard</a:t>
            </a:r>
          </a:p>
          <a:p>
            <a:r>
              <a:t>Enter your Token Setting</a:t>
            </a:r>
          </a:p>
          <a:p/>
          <a:p/>
          <a:p/>
          <a:p/>
          <a:p/>
          <a:p/>
          <a:p>
            <a:r>
              <a:t>    </a:t>
            </a:r>
          </a:p>
          <a:p/>
          <a:p/>
          <a:p>
            <a:r>
              <a:t>Create ERC20 Token Smart Contract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ABI function list contains transfer/approve; no unrestricted mint. Source: https://docs.soliditylang.org/en/latest/ | https://web3py.readthedocs.io/en/stable/providers.html. Toolchain Solidity 0.8.30, OpenZeppelin 5.4.0, web3.py 8.0.0, Py-EVM 0.12.1b1; checked 13 September 2026.</a:t>
            </a:r>
          </a:p>
          <a:p/>
          <a:p>
            <a:r>
              <a:t>Original v17 slide 138 verbatim content:</a:t>
            </a:r>
          </a:p>
          <a:p>
            <a:r>
              <a:t>Copy the generated smart contract to a new file in Remix</a:t>
            </a:r>
          </a:p>
          <a:p>
            <a:r>
              <a:t>Replace the import to </a:t>
            </a:r>
          </a:p>
          <a:p>
            <a:r>
              <a:t>https://github.com/OpenZeppelin/openzeppelin-contracts/blob/master/contracts/token/ERC20/ERC20.sol</a:t>
            </a:r>
          </a:p>
          <a:p>
            <a:r>
              <a:t>Compile the smart contract in Javascript</a:t>
            </a:r>
          </a:p>
          <a:p>
            <a:r>
              <a:t>Test the transfer of tokens from one account to another account</a:t>
            </a:r>
          </a:p>
          <a:p/>
          <a:p/>
          <a:p/>
          <a:p/>
          <a:p/>
          <a:p/>
          <a:p>
            <a:r>
              <a:t>    </a:t>
            </a:r>
          </a:p>
          <a:p/>
          <a:p/>
          <a:p>
            <a:r>
              <a:t>Compile and Test Your ERC20 Token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chainId11155111; constructor mint1e6 WSC; receipt.status1. Source: https://docs.soliditylang.org/en/latest/ | https://web3py.readthedocs.io/en/stable/providers.html. Toolchain Solidity 0.8.30, OpenZeppelin 5.4.0, web3.py 8.0.0, Py-EVM 0.12.1b1; checked 13 September 2026.</a:t>
            </a:r>
          </a:p>
          <a:p/>
          <a:p>
            <a:r>
              <a:t>Original v17 slide 139 verbatim content:</a:t>
            </a:r>
          </a:p>
          <a:p>
            <a:r>
              <a:t>Deploy the ERC20 token smart contract on testnet via the Metamask </a:t>
            </a:r>
          </a:p>
          <a:p/>
          <a:p/>
          <a:p/>
          <a:p/>
          <a:p/>
          <a:p/>
          <a:p>
            <a:r>
              <a:t>    </a:t>
            </a:r>
          </a:p>
          <a:p/>
          <a:p/>
          <a:p>
            <a:r>
              <a:t>Deploy ERC20 Token on Testnet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sepolia.etherscan.io/address/&lt;current_contractAddress&gt;. Source: https://docs.soliditylang.org/en/latest/ | https://web3py.readthedocs.io/en/stable/providers.html. Toolchain Solidity 0.8.30, OpenZeppelin 5.4.0, web3.py 8.0.0, Py-EVM 0.12.1b1; checked 13 September 2026.</a:t>
            </a:r>
          </a:p>
          <a:p/>
          <a:p>
            <a:r>
              <a:t>Original v17 slide 140 verbatim content:</a:t>
            </a:r>
          </a:p>
          <a:p>
            <a:r>
              <a:t>Check the contract deployment on testnet etherscan</a:t>
            </a:r>
          </a:p>
          <a:p>
            <a:r>
              <a:t>Copy the contract address</a:t>
            </a:r>
          </a:p>
          <a:p/>
          <a:p/>
          <a:p/>
          <a:p/>
          <a:p/>
          <a:p/>
          <a:p>
            <a:r>
              <a:t>    </a:t>
            </a:r>
          </a:p>
          <a:p/>
          <a:p/>
          <a:p>
            <a:r>
              <a:t>Review Token Contract on Etherscan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name=Workshop Credits; symbol=WSC; decimals=18. Source: https://docs.soliditylang.org/en/latest/ | https://web3py.readthedocs.io/en/stable/providers.html. Toolchain Solidity 0.8.30, OpenZeppelin 5.4.0, web3.py 8.0.0, Py-EVM 0.12.1b1; checked 13 September 2026.</a:t>
            </a:r>
          </a:p>
          <a:p/>
          <a:p>
            <a:r>
              <a:t>Original v17 slide 141 verbatim content:</a:t>
            </a:r>
          </a:p>
          <a:p>
            <a:r>
              <a:t>Import the tokens to the metamask by entering the contract address.   </a:t>
            </a:r>
          </a:p>
          <a:p>
            <a:r>
              <a:t>Import ERC20 Token to Metamask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balanceOf(recipient)_after - before ==500*10**18. Source: https://docs.soliditylang.org/en/latest/ | https://web3py.readthedocs.io/en/stable/providers.html. Toolchain Solidity 0.8.30, OpenZeppelin 5.4.0, web3.py 8.0.0, Py-EVM 0.12.1b1; checked 13 September 2026.</a:t>
            </a:r>
          </a:p>
          <a:p/>
          <a:p>
            <a:r>
              <a:t>Original v17 slide 142 verbatim content:</a:t>
            </a:r>
          </a:p>
          <a:p>
            <a:r>
              <a:t>Click on the tokens to send to other wallet address.</a:t>
            </a:r>
          </a:p>
          <a:p/>
          <a:p/>
          <a:p/>
          <a:p/>
          <a:p/>
          <a:p/>
          <a:p>
            <a:r>
              <a:t>    </a:t>
            </a:r>
          </a:p>
          <a:p/>
          <a:p/>
          <a:p>
            <a:r>
              <a:t>Send ERC20 Token to Others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Rinkeby/Ropsten retired; current exercise local or Sepolia. Source: https://docs.soliditylang.org/en/latest/ | https://web3py.readthedocs.io/en/stable/providers.html. Toolchain Solidity 0.8.30, OpenZeppelin 5.4.0, web3.py 8.0.0, Py-EVM 0.12.1b1; checked 13 September 2026.</a:t>
            </a:r>
          </a:p>
          <a:p/>
          <a:p>
            <a:r>
              <a:t>Original v17 slide 143 verbatim content:</a:t>
            </a:r>
          </a:p>
          <a:p>
            <a:r>
              <a:t>Create a ERC20 Token below</a:t>
            </a:r>
          </a:p>
          <a:p>
            <a:r>
              <a:t>https://vittominacori.github.io/erc20-generator/create-token/ </a:t>
            </a:r>
          </a:p>
          <a:p>
            <a:r>
              <a:t>Enter your own Token name, Token symbol</a:t>
            </a:r>
          </a:p>
          <a:p>
            <a:r>
              <a:t>Choose SimpleERC20 on Rinkeby /Ropsten testnet</a:t>
            </a:r>
          </a:p>
          <a:p/>
          <a:p/>
          <a:p/>
          <a:p/>
          <a:p/>
          <a:p/>
          <a:p/>
          <a:p/>
          <a:p/>
          <a:p/>
          <a:p/>
          <a:p/>
          <a:p/>
          <a:p>
            <a:r>
              <a:t>    </a:t>
            </a:r>
          </a:p>
          <a:p/>
          <a:p/>
          <a:p>
            <a:r>
              <a:t>Create ERC20 Token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walletChainId == manifest.chainId; current token address. Source: https://docs.soliditylang.org/en/latest/ | https://web3py.readthedocs.io/en/stable/providers.html. Toolchain Solidity 0.8.30, OpenZeppelin 5.4.0, web3.py 8.0.0, Py-EVM 0.12.1b1; checked 13 September 2026.</a:t>
            </a:r>
          </a:p>
          <a:p/>
          <a:p>
            <a:r>
              <a:t>Original v17 slide 144 verbatim content:</a:t>
            </a:r>
          </a:p>
          <a:p>
            <a:r>
              <a:t>Add the tokens to your Metamask</a:t>
            </a:r>
          </a:p>
          <a:p>
            <a:r>
              <a:t>View your token transaction on testnet etherscan</a:t>
            </a:r>
          </a:p>
          <a:p>
            <a:r>
              <a:t>Transfer some of you tokens to other</a:t>
            </a:r>
          </a:p>
          <a:p/>
          <a:p/>
          <a:p/>
          <a:p/>
          <a:p/>
          <a:p/>
          <a:p/>
          <a:p/>
          <a:p/>
          <a:p/>
          <a:p/>
          <a:p/>
          <a:p/>
          <a:p>
            <a:r>
              <a:t>    </a:t>
            </a:r>
          </a:p>
          <a:p/>
          <a:p/>
          <a:p>
            <a:r>
              <a:t>Transact ERC20 Token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1e6 supply;500 transfer;20 delegation;501 overdraft rejected. Source: https://docs.soliditylang.org/en/latest/ | https://web3py.readthedocs.io/en/stable/providers.html. Toolchain Solidity 0.8.30, OpenZeppelin 5.4.0, web3.py 8.0.0, Py-EVM 0.12.1b1; checked 13 September 2026.</a:t>
            </a:r>
          </a:p>
          <a:p/>
          <a:p>
            <a:r>
              <a:t>Original v17 slide 145 verbatim content:</a:t>
            </a:r>
          </a:p>
          <a:p>
            <a:r>
              <a:t>Activity: Create ERC20 Token</a:t>
            </a:r>
          </a:p>
          <a:p>
            <a:r>
              <a:t>Code a ERC-20 token smart contract on Remix</a:t>
            </a:r>
          </a:p>
          <a:p>
            <a:r>
              <a:t>Compile and deploy on Javascript VM</a:t>
            </a:r>
          </a:p>
          <a:p>
            <a:r>
              <a:t>Test out by transfer your own token from one account to another account</a:t>
            </a:r>
          </a:p>
          <a:p>
            <a:r>
              <a:t>Deploy the tokens on Ethereum testnet eg Rinkeby </a:t>
            </a:r>
          </a:p>
          <a:p>
            <a:r>
              <a:t>Check the token contract on Etherscan</a:t>
            </a:r>
          </a:p>
          <a:p>
            <a:r>
              <a:t>Import your tokens to your metamask wallet</a:t>
            </a:r>
          </a:p>
          <a:p>
            <a:r>
              <a:t>Transfer some of your tokens to others</a:t>
            </a:r>
          </a:p>
          <a:p/>
          <a:p>
            <a:r>
              <a:t>    </a:t>
            </a:r>
          </a:p>
          <a:p/>
          <a:p/>
          <a:p/>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enum state, immutable quantity and supplier-only transitions implement a business requirement trace..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enum state, immutable quantity and supplier-only transitions implement a business requirement trace..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ERC-20 balanceOf, transfer, approve and transferFrom preserve totalSupply with 18-decimal integer units..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ERC-20 balanceOf, transfer, approve and transferFrom preserve totalSupply with 18-decimal integer units..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ERC-721 ownerOf and documentHash prove holder and document binding; revocation remains an explicit status..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ERC-721 ownerOf and documentHash prove holder and document binding; revocation remains an explicit status..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Batch ID + evidence digest + custodian + stage create a custody state machine; unauthorized handover reverts..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Batch ID + evidence digest + custodian + stage create a custody state machine; unauthorized handover reverts..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ERC20 balance conservation after actual Activity04.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w3.is_connected(); w3.eth.chain_id. Source: https://docs.soliditylang.org/en/latest/ | https://web3py.readthedocs.io/en/stable/providers.html. Toolchain Solidity 0.8.30, OpenZeppelin 5.4.0, web3.py 8.0.0, Py-EVM 0.12.1b1; checked 13 September 2026.</a:t>
            </a:r>
          </a:p>
          <a:p/>
          <a:p>
            <a:r>
              <a:t>Original v17 slide 147 verbatim content:</a:t>
            </a:r>
          </a:p>
          <a:p>
            <a:r>
              <a:t>The Ethereum protocol defines a way for people to interact with smart contracts and each other over a network. </a:t>
            </a:r>
          </a:p>
          <a:p>
            <a:r>
              <a:t>In order to have up-to-date information about the status of contracts, balances, and new transactions, the protocol requires a connection to nodes on the network. These nodes are constantly sharing new data with each other. </a:t>
            </a:r>
          </a:p>
          <a:p>
            <a:r>
              <a:t>Web3 is a framework for connecting to these nodes. It does not run its own node internally.</a:t>
            </a:r>
          </a:p>
          <a:p/>
          <a:p/>
          <a:p/>
          <a:p>
            <a:r>
              <a:t>    </a:t>
            </a:r>
          </a:p>
          <a:p/>
          <a:p/>
          <a:p>
            <a:r>
              <a:t>Ethereum Node and Web3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Python:Web3(provider); browser:ethereum.request(...). Source: https://docs.soliditylang.org/en/latest/ | https://web3py.readthedocs.io/en/stable/providers.html. Toolchain Solidity 0.8.30, OpenZeppelin 5.4.0, web3.py 8.0.0, Py-EVM 0.12.1b1; checked 13 September 2026.</a:t>
            </a:r>
          </a:p>
          <a:p/>
          <a:p>
            <a:r>
              <a:t>Original v17 slide 148 verbatim content:</a:t>
            </a:r>
          </a:p>
          <a:p>
            <a:r>
              <a:t>Web3.js is a collection of libraries that allow you to interact with a local or remote ethereum node using HTTP, IPC or WebSocket.</a:t>
            </a:r>
          </a:p>
          <a:p/>
          <a:p/>
          <a:p/>
          <a:p>
            <a:r>
              <a:t>    </a:t>
            </a:r>
          </a:p>
          <a:p/>
          <a:p/>
          <a:p>
            <a:r>
              <a:t>Web3.js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w3.eth.get_balance(sender) &gt; estimated test fee. Source: https://docs.soliditylang.org/en/latest/ | https://web3py.readthedocs.io/en/stable/providers.html. Toolchain Solidity 0.8.30, OpenZeppelin 5.4.0, web3.py 8.0.0, Py-EVM 0.12.1b1; checked 13 September 2026.</a:t>
            </a:r>
          </a:p>
          <a:p/>
          <a:p>
            <a:r>
              <a:t>Original v17 slide 149 verbatim content:</a:t>
            </a:r>
          </a:p>
          <a:p>
            <a:r>
              <a:t>Test networks usually have something called a “faucet” to help get test ether to people who want to use it. The faucet simply sends you test ether when you visit a web page, or ping a chat bot, etc.</a:t>
            </a:r>
          </a:p>
          <a:p>
            <a:r>
              <a:t>Each test network has its own version of test ether, so each one must maintain its own faucet.. </a:t>
            </a:r>
          </a:p>
          <a:p>
            <a:r>
              <a:t>Here are some links to testnet ether instructions (in no particular order):</a:t>
            </a:r>
          </a:p>
          <a:p>
            <a:r>
              <a:t>Kovan</a:t>
            </a:r>
          </a:p>
          <a:p>
            <a:r>
              <a:t>Rinkeby</a:t>
            </a:r>
          </a:p>
          <a:p>
            <a:r>
              <a:t>Ropsten</a:t>
            </a:r>
          </a:p>
          <a:p/>
          <a:p/>
          <a:p/>
          <a:p/>
          <a:p/>
          <a:p/>
          <a:p>
            <a:r>
              <a:t>    </a:t>
            </a:r>
          </a:p>
          <a:p/>
          <a:p/>
          <a:p>
            <a:r>
              <a:t>Test Networks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Web3(Web3.HTTPProvider("http://127.0.0.1:8545")). Source: https://docs.soliditylang.org/en/latest/ | https://web3py.readthedocs.io/en/stable/providers.html. Toolchain Solidity 0.8.30, OpenZeppelin 5.4.0, web3.py 8.0.0, Py-EVM 0.12.1b1; checked 13 September 2026.</a:t>
            </a:r>
          </a:p>
          <a:p/>
          <a:p>
            <a:r>
              <a:t>Original v17 slide 150 verbatim content:</a:t>
            </a:r>
          </a:p>
          <a:p>
            <a:r>
              <a:t>The provider is how web3 talks to the blockchain. Providers take JSON-RPC requests and return the response. This is normally done by submitting the request to an HTTP or IPC socket based server.</a:t>
            </a:r>
          </a:p>
          <a:p>
            <a:r>
              <a:t>The most common ways to connect to your node are:</a:t>
            </a:r>
          </a:p>
          <a:p>
            <a:r>
              <a:t>IPC (uses local filesystem: fastest and most secure)</a:t>
            </a:r>
          </a:p>
          <a:p>
            <a:r>
              <a:t>Websockets (works remotely, faster than HTTP)</a:t>
            </a:r>
          </a:p>
          <a:p>
            <a:r>
              <a:t>HTTP (more nodes support it)</a:t>
            </a:r>
          </a:p>
          <a:p/>
          <a:p/>
          <a:p/>
          <a:p/>
          <a:p>
            <a:r>
              <a:t>    </a:t>
            </a:r>
          </a:p>
          <a:p/>
          <a:p/>
          <a:p>
            <a:r>
              <a:t>Providers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provider.chain_id == manifest["chainId"]. Source: https://docs.soliditylang.org/en/latest/ | https://web3py.readthedocs.io/en/stable/providers.html. Toolchain Solidity 0.8.30, OpenZeppelin 5.4.0, web3.py 8.0.0, Py-EVM 0.12.1b1; checked 13 September 2026.</a:t>
            </a:r>
          </a:p>
          <a:p/>
          <a:p>
            <a:r>
              <a:t>Original v17 slide 151 verbatim content:</a:t>
            </a:r>
          </a:p>
          <a:p>
            <a:r>
              <a:t>The Ethereum protocol defines a way for people to interact with smart contracts and each other over a network. In order to have up-to-date information about the status of contracts, balances, and new transactions, the protocol requires a connection to nodes on the network. These nodes are constantly sharing new data with each other.</a:t>
            </a:r>
          </a:p>
          <a:p>
            <a:r>
              <a:t>Web3.py is a python library for connecting to these nodes. It does not run its own node internally.</a:t>
            </a:r>
          </a:p>
          <a:p/>
          <a:p/>
          <a:p/>
          <a:p/>
          <a:p/>
          <a:p/>
          <a:p>
            <a:r>
              <a:t>    </a:t>
            </a:r>
          </a:p>
          <a:p/>
          <a:p/>
          <a:p>
            <a:r>
              <a:t>Web3.py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python -m pip show web3 eth-tester py-evm. Source: https://docs.soliditylang.org/en/latest/ | https://web3py.readthedocs.io/en/stable/providers.html. Toolchain Solidity 0.8.30, OpenZeppelin 5.4.0, web3.py 8.0.0, Py-EVM 0.12.1b1; checked 13 September 2026.</a:t>
            </a:r>
          </a:p>
          <a:p/>
          <a:p>
            <a:r>
              <a:t>Original v17 slide 152 verbatim content:</a:t>
            </a:r>
          </a:p>
          <a:p>
            <a:r>
              <a:t>Install Python from </a:t>
            </a:r>
          </a:p>
          <a:p>
            <a:r>
              <a:t>https://www.python.org/downloads/ </a:t>
            </a:r>
          </a:p>
          <a:p>
            <a:r>
              <a:t>Open the terminal and install Web3 Python package as follows:</a:t>
            </a:r>
          </a:p>
          <a:p>
            <a:r>
              <a:t>	pip install web3</a:t>
            </a:r>
          </a:p>
          <a:p/>
          <a:p/>
          <a:p>
            <a:r>
              <a:t>Mac </a:t>
            </a:r>
          </a:p>
          <a:p>
            <a:r>
              <a:t>pip3 install web3 </a:t>
            </a:r>
          </a:p>
          <a:p/>
          <a:p/>
          <a:p/>
          <a:p/>
          <a:p>
            <a:r>
              <a:t>    </a:t>
            </a:r>
          </a:p>
          <a:p/>
          <a:p/>
          <a:p>
            <a:r>
              <a:t>Install Web3 Python Package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EthereumTester(PyEVMBackend()) → EthereumTesterProvider. Source: https://docs.soliditylang.org/en/latest/ | https://web3py.readthedocs.io/en/stable/providers.html. Toolchain Solidity 0.8.30, OpenZeppelin 5.4.0, web3.py 8.0.0, Py-EVM 0.12.1b1; checked 13 September 2026.</a:t>
            </a:r>
          </a:p>
          <a:p/>
          <a:p>
            <a:r>
              <a:t>Original v17 slide 153 verbatim content:</a:t>
            </a:r>
          </a:p>
          <a:p>
            <a:r>
              <a:t>from web3 import Web3</a:t>
            </a:r>
          </a:p>
          <a:p>
            <a:r>
              <a:t>w3 = Web3(Web3.HTTPProvider('http://127.0.0.1:8545'))</a:t>
            </a:r>
          </a:p>
          <a:p/>
          <a:p/>
          <a:p>
            <a:r>
              <a:t>The quickest way to interact with the Ethereum blockchain is to use a remote node provider, like Infura. </a:t>
            </a:r>
          </a:p>
          <a:p>
            <a:r>
              <a:t>You can connect to a remote node by specifying the endpoint, just like the previous local node example:</a:t>
            </a:r>
          </a:p>
          <a:p/>
          <a:p>
            <a:r>
              <a:t>from web3 import Web3</a:t>
            </a:r>
          </a:p>
          <a:p>
            <a:r>
              <a:t>w3 = Web3(Web3.HTTPProvider('https://mainnet.infura.io/v3/&lt;infura-project-id&gt;'))</a:t>
            </a:r>
          </a:p>
          <a:p/>
          <a:p/>
          <a:p/>
          <a:p/>
          <a:p>
            <a:r>
              <a:t>    </a:t>
            </a:r>
          </a:p>
          <a:p/>
          <a:p/>
          <a:p>
            <a:r>
              <a:t>Using Web3.py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HTTPProvider endpoint != account signer. Source: https://docs.soliditylang.org/en/latest/ | https://web3py.readthedocs.io/en/stable/providers.html. Toolchain Solidity 0.8.30, OpenZeppelin 5.4.0, web3.py 8.0.0, Py-EVM 0.12.1b1; checked 13 September 2026.</a:t>
            </a:r>
          </a:p>
          <a:p/>
          <a:p>
            <a:r>
              <a:t>Original v17 slide 154 verbatim content:</a:t>
            </a:r>
          </a:p>
          <a:p>
            <a:r>
              <a:t>Infura allows you to assess the Ethereum blockchain.</a:t>
            </a:r>
          </a:p>
          <a:p>
            <a:r>
              <a:t>Sign up an account here https://infura.io/</a:t>
            </a:r>
          </a:p>
          <a:p>
            <a:r>
              <a:t>Sign Up Infura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Local baseline RPC URL; no hosted credential required. Source: https://docs.soliditylang.org/en/latest/ | https://web3py.readthedocs.io/en/stable/providers.html. Toolchain Solidity 0.8.30, OpenZeppelin 5.4.0, web3.py 8.0.0, Py-EVM 0.12.1b1; checked 13 September 2026.</a:t>
            </a:r>
          </a:p>
          <a:p/>
          <a:p>
            <a:r>
              <a:t>Original v17 slide 155 verbatim content:</a:t>
            </a:r>
          </a:p>
          <a:p>
            <a:r>
              <a:t>Create a Infura project</a:t>
            </a:r>
          </a:p>
          <a:p>
            <a:r>
              <a:t>Copy the endpoints key on mainnet</a:t>
            </a:r>
          </a:p>
          <a:p>
            <a:r>
              <a:t>Get Endpoint</a:t>
            </a:r>
          </a:p>
          <a:p/>
          <a:p>
            <a:r>
              <a:t>endpoint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assert w3.is_connected(); assert len(w3.eth.accounts)&gt;=3. Source: https://docs.soliditylang.org/en/latest/ | https://web3py.readthedocs.io/en/stable/providers.html. Toolchain Solidity 0.8.30, OpenZeppelin 5.4.0, web3.py 8.0.0, Py-EVM 0.12.1b1; checked 13 September 2026.</a:t>
            </a:r>
          </a:p>
          <a:p/>
          <a:p>
            <a:r>
              <a:t>Original v17 slide 156 verbatim content:</a:t>
            </a:r>
          </a:p>
          <a:p>
            <a:r>
              <a:t>from web3 import Web3</a:t>
            </a:r>
          </a:p>
          <a:p/>
          <a:p>
            <a:r>
              <a:t># Fill in your infura API key here</a:t>
            </a:r>
          </a:p>
          <a:p>
            <a:r>
              <a:t>infura_url = "https://mainnet.infura.io/v3/YOUR_INFURA_API_KEY_GOES_HERE"</a:t>
            </a:r>
          </a:p>
          <a:p/>
          <a:p>
            <a:r>
              <a:t>web3 = Web3(Web3.HTTPProvider(infura_url))</a:t>
            </a:r>
          </a:p>
          <a:p>
            <a:r>
              <a:t>print(web3.isConnected())</a:t>
            </a:r>
          </a:p>
          <a:p>
            <a:r>
              <a:t>print(web3.eth.blockNumber)</a:t>
            </a:r>
          </a:p>
          <a:p/>
          <a:p/>
          <a:p/>
          <a:p/>
          <a:p/>
          <a:p/>
          <a:p>
            <a:r>
              <a:t>    </a:t>
            </a:r>
          </a:p>
          <a:p/>
          <a:p/>
          <a:p>
            <a:r>
              <a:t>Test Infura EP with Web3 Python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head=w3.eth.block_number; w3.eth.get_block(head). Source: https://docs.soliditylang.org/en/latest/ | https://web3py.readthedocs.io/en/stable/providers.html. Toolchain Solidity 0.8.30, OpenZeppelin 5.4.0, web3.py 8.0.0, Py-EVM 0.12.1b1; checked 13 September 2026.</a:t>
            </a:r>
          </a:p>
          <a:p/>
          <a:p>
            <a:r>
              <a:t>Original v17 slide 157 verbatim content:</a:t>
            </a:r>
          </a:p>
          <a:p>
            <a:r>
              <a:t>web3.eth.blockNumber</a:t>
            </a:r>
          </a:p>
          <a:p>
            <a:r>
              <a:t>web3.eth.gasPrice</a:t>
            </a:r>
          </a:p>
          <a:p>
            <a:r>
              <a:t>web3.eth.default_account</a:t>
            </a:r>
          </a:p>
          <a:p>
            <a:r>
              <a:t>web3.eth.get_balance('&lt;address&gt;')</a:t>
            </a:r>
          </a:p>
          <a:p>
            <a:r>
              <a:t>web3.eth.get_transaction('&lt;address&gt;'')</a:t>
            </a:r>
          </a:p>
          <a:p/>
          <a:p/>
          <a:p/>
          <a:p/>
          <a:p>
            <a:r>
              <a:t>    </a:t>
            </a:r>
          </a:p>
          <a:p/>
          <a:p/>
          <a:p>
            <a:r>
              <a:t>Getting Blockchain Info</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receipt.transactionHash in get_block(n).transactions. Source: https://docs.soliditylang.org/en/latest/ | https://web3py.readthedocs.io/en/stable/providers.html. Toolchain Solidity 0.8.30, OpenZeppelin 5.4.0, web3.py 8.0.0, Py-EVM 0.12.1b1; checked 13 September 2026.</a:t>
            </a:r>
          </a:p>
          <a:p/>
          <a:p>
            <a:r>
              <a:t>Original v17 slide 158 verbatim content:</a:t>
            </a:r>
          </a:p>
          <a:p>
            <a:r>
              <a:t>Goto etherscan and get a block no</a:t>
            </a:r>
          </a:p>
          <a:p>
            <a:r>
              <a:t>Use Web3.py to request for the block info</a:t>
            </a:r>
          </a:p>
          <a:p/>
          <a:p/>
          <a:p/>
          <a:p/>
          <a:p/>
          <a:p/>
          <a:p/>
          <a:p/>
          <a:p>
            <a:r>
              <a:t>    </a:t>
            </a:r>
          </a:p>
          <a:p/>
          <a:p/>
          <a:p>
            <a:r>
              <a:t>Activity: Web3.py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w3.from_wei(w3.eth.get_balance(b),"ether"). Source: https://docs.soliditylang.org/en/latest/ | https://web3py.readthedocs.io/en/stable/providers.html. Toolchain Solidity 0.8.30, OpenZeppelin 5.4.0, web3.py 8.0.0, Py-EVM 0.12.1b1; checked 13 September 2026.</a:t>
            </a:r>
          </a:p>
          <a:p/>
          <a:p>
            <a:r>
              <a:t>Original v17 slide 159 verbatim content:</a:t>
            </a:r>
          </a:p>
          <a:p>
            <a:r>
              <a:t>You can use Web3 to check our Ethereum wallet balance as follows:</a:t>
            </a:r>
          </a:p>
          <a:p/>
          <a:p>
            <a:r>
              <a:t>balance = web3.eth.getBalance("YOUR_ACCOUNT_GOES_HERE")</a:t>
            </a:r>
          </a:p>
          <a:p>
            <a:r>
              <a:t>print(web3.fromWei(balance, "ether"))</a:t>
            </a:r>
          </a:p>
          <a:p/>
          <a:p/>
          <a:p/>
          <a:p/>
          <a:p/>
          <a:p/>
          <a:p/>
          <a:p/>
          <a:p/>
          <a:p/>
          <a:p>
            <a:r>
              <a:t>    </a:t>
            </a:r>
          </a:p>
          <a:p/>
          <a:p/>
          <a:p>
            <a:r>
              <a:t>Check Your Account Balance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contract(address=manifest.address,abi=manifest.contract). Source: https://docs.soliditylang.org/en/latest/ | https://web3py.readthedocs.io/en/stable/providers.html. Toolchain Solidity 0.8.30, OpenZeppelin 5.4.0, web3.py 8.0.0, Py-EVM 0.12.1b1; checked 13 September 2026.</a:t>
            </a:r>
          </a:p>
          <a:p/>
          <a:p>
            <a:r>
              <a:t>Original v17 slide 160 verbatim content:</a:t>
            </a:r>
          </a:p>
          <a:p>
            <a:r>
              <a:t>https://etherscan.io/token/0xd26114cd6EE289AccF82350c8d8487fedB8A0C07</a:t>
            </a:r>
          </a:p>
          <a:p/>
          <a:p/>
          <a:p/>
          <a:p/>
          <a:p/>
          <a:p/>
          <a:p/>
          <a:p/>
          <a:p>
            <a:r>
              <a:t>    </a:t>
            </a:r>
          </a:p>
          <a:p/>
          <a:p/>
          <a:p>
            <a:r>
              <a:t>OMG Token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art=json.load(...); w3.eth.contract(abi=art["abi"]). Source: https://docs.soliditylang.org/en/latest/ | https://web3py.readthedocs.io/en/stable/providers.html. Toolchain Solidity 0.8.30, OpenZeppelin 5.4.0, web3.py 8.0.0, Py-EVM 0.12.1b1; checked 13 September 2026.</a:t>
            </a:r>
          </a:p>
          <a:p/>
          <a:p>
            <a:r>
              <a:t>Original v17 slide 161 verbatim content:</a:t>
            </a:r>
          </a:p>
          <a:p>
            <a:r>
              <a:t>import json</a:t>
            </a:r>
          </a:p>
          <a:p>
            <a:r>
              <a:t>from web3 import Web3</a:t>
            </a:r>
          </a:p>
          <a:p/>
          <a:p>
            <a:r>
              <a:t># Fill in your infura API key here</a:t>
            </a:r>
          </a:p>
          <a:p>
            <a:r>
              <a:t>infura_url = "https://mainnet.infura.io/v3/95408920a948489c99c5bcb436235bd2"</a:t>
            </a:r>
          </a:p>
          <a:p>
            <a:r>
              <a:t>web3 = Web3(Web3.HTTPProvider(infura_url))</a:t>
            </a:r>
          </a:p>
          <a:p/>
          <a:p>
            <a:r>
              <a:t># OMG Address</a:t>
            </a:r>
          </a:p>
          <a:p>
            <a:r>
              <a:t>abi = json.loads('[{"...."}]')</a:t>
            </a:r>
          </a:p>
          <a:p>
            <a:r>
              <a:t># OMG ABI</a:t>
            </a:r>
          </a:p>
          <a:p>
            <a:r>
              <a:t>address = '0xd26114cd6EE289AccF82350c8d8487fedB8A0C07'</a:t>
            </a:r>
          </a:p>
          <a:p/>
          <a:p>
            <a:r>
              <a:t>contract = web3.eth.contract(address=address, abi=abi)</a:t>
            </a:r>
          </a:p>
          <a:p/>
          <a:p>
            <a:r>
              <a:t>totalSupply = contract.functions.totalSupply().call()</a:t>
            </a:r>
          </a:p>
          <a:p>
            <a:r>
              <a:t>print(web3.fromWei(totalSupply, 'ether'))</a:t>
            </a:r>
          </a:p>
          <a:p>
            <a:r>
              <a:t>print(contract.functions.name().call())</a:t>
            </a:r>
          </a:p>
          <a:p>
            <a:r>
              <a:t>print(contract.functions.symbol().call())</a:t>
            </a:r>
          </a:p>
          <a:p/>
          <a:p/>
          <a:p/>
          <a:p/>
          <a:p/>
          <a:p/>
          <a:p/>
          <a:p>
            <a:r>
              <a:t>    </a:t>
            </a:r>
          </a:p>
          <a:p/>
          <a:p/>
          <a:p>
            <a:r>
              <a:t>Get Info on OMG Token with Web3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name().call(); symbol().call(); decimals().call(). Source: https://docs.soliditylang.org/en/latest/ | https://web3py.readthedocs.io/en/stable/providers.html. Toolchain Solidity 0.8.30, OpenZeppelin 5.4.0, web3.py 8.0.0, Py-EVM 0.12.1b1; checked 13 September 2026.</a:t>
            </a:r>
          </a:p>
          <a:p/>
          <a:p>
            <a:r>
              <a:t>Original v17 slide 162 verbatim content:</a:t>
            </a:r>
          </a:p>
          <a:p>
            <a:r>
              <a:t>Use Web3.py to request the name and symbol of Bancor Token </a:t>
            </a:r>
          </a:p>
          <a:p>
            <a:r>
              <a:t>https://etherscan.io/address/0x1f573d6fb3f13d689ff844b4ce37794d79a7ff1c#code </a:t>
            </a:r>
          </a:p>
          <a:p/>
          <a:p/>
          <a:p/>
          <a:p/>
          <a:p/>
          <a:p/>
          <a:p/>
          <a:p/>
          <a:p>
            <a:r>
              <a:t>    </a:t>
            </a:r>
          </a:p>
          <a:p/>
          <a:p/>
          <a:p>
            <a:r>
              <a:t>Activity: Bancor Token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Py-EVM default; Anvil optional chain31337. Source: https://docs.soliditylang.org/en/latest/ | https://web3py.readthedocs.io/en/stable/providers.html. Toolchain Solidity 0.8.30, OpenZeppelin 5.4.0, web3.py 8.0.0, Py-EVM 0.12.1b1; checked 13 September 2026.</a:t>
            </a:r>
          </a:p>
          <a:p/>
          <a:p>
            <a:r>
              <a:t>Original v17 slide 163 verbatim content:</a:t>
            </a:r>
          </a:p>
          <a:p>
            <a:r>
              <a:t>Ganache is a personal Ethereum blockchain which you can use to run tests, execute commands, and inspect state while controlling how the chain operates.</a:t>
            </a:r>
          </a:p>
          <a:p>
            <a:r>
              <a:t>Download and install Ganache https://www.trufflesuite.com/ganache</a:t>
            </a:r>
          </a:p>
          <a:p/>
          <a:p/>
          <a:p/>
          <a:p/>
          <a:p/>
          <a:p>
            <a:r>
              <a:t>    </a:t>
            </a:r>
          </a:p>
          <a:p/>
          <a:p/>
          <a:p>
            <a:r>
              <a:t>Ganache - Personal Ethereum</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anvil --chain-id31337 --host127.0.0.1 --port8545. Source: https://docs.soliditylang.org/en/latest/ | https://web3py.readthedocs.io/en/stable/providers.html. Toolchain Solidity 0.8.30, OpenZeppelin 5.4.0, web3.py 8.0.0, Py-EVM 0.12.1b1; checked 13 September 2026.</a:t>
            </a:r>
          </a:p>
          <a:p/>
          <a:p>
            <a:r>
              <a:t>Original v17 slide 164 verbatim content:</a:t>
            </a:r>
          </a:p>
          <a:p>
            <a:r>
              <a:t>Setup Ganache</a:t>
            </a:r>
          </a:p>
          <a:p>
            <a:r>
              <a:t>account </a:t>
            </a:r>
          </a:p>
          <a:p>
            <a:r>
              <a:t>private key</a:t>
            </a:r>
          </a:p>
          <a:p>
            <a:r>
              <a:t>Ganache network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solc0.8.30 + optimizer200 + Cancun → contract.json. Source: https://docs.soliditylang.org/en/latest/ | https://web3py.readthedocs.io/en/stable/providers.html. Toolchain Solidity 0.8.30, OpenZeppelin 5.4.0, web3.py 8.0.0, Py-EVM 0.12.1b1; checked 13 September 2026.</a:t>
            </a:r>
          </a:p>
          <a:p/>
          <a:p>
            <a:r>
              <a:t>Original v17 slide 165 verbatim content:</a:t>
            </a:r>
          </a:p>
          <a:p>
            <a:r>
              <a:t>// SPDX-License-Identifier: GPL-3.0</a:t>
            </a:r>
          </a:p>
          <a:p>
            <a:r>
              <a:t>pragma solidity &gt;=0.7.0 &lt;0.9.0;</a:t>
            </a:r>
          </a:p>
          <a:p/>
          <a:p>
            <a:r>
              <a:t>contract Hello {</a:t>
            </a:r>
          </a:p>
          <a:p>
            <a:r>
              <a:t>    string public myString;</a:t>
            </a:r>
          </a:p>
          <a:p>
            <a:r>
              <a:t>    </a:t>
            </a:r>
          </a:p>
          <a:p>
            <a:r>
              <a:t>    function store(string memory _myString) public {</a:t>
            </a:r>
          </a:p>
          <a:p>
            <a:r>
              <a:t>         myString = _myString;</a:t>
            </a:r>
          </a:p>
          <a:p>
            <a:r>
              <a:t>    }</a:t>
            </a:r>
          </a:p>
          <a:p>
            <a:r>
              <a:t>    </a:t>
            </a:r>
          </a:p>
          <a:p>
            <a:r>
              <a:t>    function retrieve() public view returns(string memory) {</a:t>
            </a:r>
          </a:p>
          <a:p>
            <a:r>
              <a:t>        return myString;</a:t>
            </a:r>
          </a:p>
          <a:p>
            <a:r>
              <a:t>    }</a:t>
            </a:r>
          </a:p>
          <a:p>
            <a:r>
              <a:t>   </a:t>
            </a:r>
          </a:p>
          <a:p>
            <a:r>
              <a:t>}</a:t>
            </a:r>
          </a:p>
          <a:p/>
          <a:p/>
          <a:p/>
          <a:p/>
          <a:p/>
          <a:p/>
          <a:p/>
          <a:p/>
          <a:p/>
          <a:p/>
          <a:p/>
          <a:p/>
          <a:p>
            <a:r>
              <a:t>    </a:t>
            </a:r>
          </a:p>
          <a:p/>
          <a:p/>
          <a:p>
            <a:r>
              <a:t>Transact Contract on Ganache</a:t>
            </a:r>
          </a:p>
          <a:p>
            <a:r>
              <a:t>Choose Web3 Provider</a:t>
            </a:r>
          </a:p>
          <a:p>
            <a:r>
              <a:t>Set to Ganache network</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constructor.transact → receipt.contractAddress → getter. Source: https://docs.soliditylang.org/en/latest/ | https://web3py.readthedocs.io/en/stable/providers.html. Toolchain Solidity 0.8.30, OpenZeppelin 5.4.0, web3.py 8.0.0, Py-EVM 0.12.1b1; checked 13 September 2026.</a:t>
            </a:r>
          </a:p>
          <a:p/>
          <a:p>
            <a:r>
              <a:t>Original v17 slide 166 verbatim content:</a:t>
            </a:r>
          </a:p>
          <a:p>
            <a:r>
              <a:t>Test the following smart contract on Ganache</a:t>
            </a:r>
          </a:p>
          <a:p/>
          <a:p>
            <a:r>
              <a:t>// SPDX-License-Identifier: GPL-3.0</a:t>
            </a:r>
          </a:p>
          <a:p>
            <a:r>
              <a:t>pragma solidity &gt;=0.7.0 &lt;0.9.0;</a:t>
            </a:r>
          </a:p>
          <a:p/>
          <a:p>
            <a:r>
              <a:t>contract Storage {</a:t>
            </a:r>
          </a:p>
          <a:p>
            <a:r>
              <a:t>    uint256 myNum;</a:t>
            </a:r>
          </a:p>
          <a:p/>
          <a:p>
            <a:r>
              <a:t>    constructor() {</a:t>
            </a:r>
          </a:p>
          <a:p>
            <a:r>
              <a:t>         myNum = 5;</a:t>
            </a:r>
          </a:p>
          <a:p>
            <a:r>
              <a:t>    }</a:t>
            </a:r>
          </a:p>
          <a:p/>
          <a:p>
            <a:r>
              <a:t>    function store(uint256 num) public {</a:t>
            </a:r>
          </a:p>
          <a:p>
            <a:r>
              <a:t>        myNum = num;</a:t>
            </a:r>
          </a:p>
          <a:p>
            <a:r>
              <a:t>    }</a:t>
            </a:r>
          </a:p>
          <a:p/>
          <a:p>
            <a:r>
              <a:t>    function retrieve() public view returns (uint256){</a:t>
            </a:r>
          </a:p>
          <a:p>
            <a:r>
              <a:t>        return myNum;</a:t>
            </a:r>
          </a:p>
          <a:p>
            <a:r>
              <a:t>    }</a:t>
            </a:r>
          </a:p>
          <a:p>
            <a:r>
              <a:t>}</a:t>
            </a:r>
          </a:p>
          <a:p/>
          <a:p/>
          <a:p/>
          <a:p/>
          <a:p/>
          <a:p/>
          <a:p/>
          <a:p/>
          <a:p/>
          <a:p/>
          <a:p/>
          <a:p>
            <a:r>
              <a:t>    </a:t>
            </a:r>
          </a:p>
          <a:p/>
          <a:p/>
          <a:p>
            <a:r>
              <a:t>Activity: Transact on Ganache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results.json.receipts:[hash,gasUsed,block]. Source: https://docs.soliditylang.org/en/latest/ | https://web3py.readthedocs.io/en/stable/providers.html. Toolchain Solidity 0.8.30, OpenZeppelin 5.4.0, web3.py 8.0.0, Py-EVM 0.12.1b1; checked 13 September 2026.</a:t>
            </a:r>
          </a:p>
          <a:p/>
          <a:p>
            <a:r>
              <a:t>Original v17 slide 167 verbatim content:</a:t>
            </a:r>
          </a:p>
          <a:p>
            <a:r>
              <a:t>Ganache Blocks and Transactions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fn.transact({from:a,value:price,gas:3000000}). Source: https://docs.soliditylang.org/en/latest/ | https://web3py.readthedocs.io/en/stable/providers.html. Toolchain Solidity 0.8.30, OpenZeppelin 5.4.0, web3.py 8.0.0, Py-EVM 0.12.1b1; checked 13 September 2026.</a:t>
            </a:r>
          </a:p>
          <a:p/>
          <a:p>
            <a:r>
              <a:t>Original v17 slide 168 verbatim content:</a:t>
            </a:r>
          </a:p>
          <a:p>
            <a:r>
              <a:t># Step1: Create the transaction</a:t>
            </a:r>
          </a:p>
          <a:p>
            <a:r>
              <a:t>tx = {</a:t>
            </a:r>
          </a:p>
          <a:p>
            <a:r>
              <a:t>    'nonce': nonce,</a:t>
            </a:r>
          </a:p>
          <a:p>
            <a:r>
              <a:t>    'to': account_2,</a:t>
            </a:r>
          </a:p>
          <a:p>
            <a:r>
              <a:t>    'value': web3.toWei(5, 'ether'),</a:t>
            </a:r>
          </a:p>
          <a:p>
            <a:r>
              <a:t>    'gas': 2000000,</a:t>
            </a:r>
          </a:p>
          <a:p>
            <a:r>
              <a:t>    'gasPrice': web3.toWei('50', 'gwei'),</a:t>
            </a:r>
          </a:p>
          <a:p>
            <a:r>
              <a:t>}</a:t>
            </a:r>
          </a:p>
          <a:p/>
          <a:p>
            <a:r>
              <a:t># Step2: Sign the transaction</a:t>
            </a:r>
          </a:p>
          <a:p>
            <a:r>
              <a:t>signed_tx = web3.eth.account.signTransaction(tx, private_key)</a:t>
            </a:r>
          </a:p>
          <a:p/>
          <a:p>
            <a:r>
              <a:t># Step 3: Send the transaction</a:t>
            </a:r>
          </a:p>
          <a:p>
            <a:r>
              <a:t>tx_hash = web3.eth.sendRawTransaction(signed_tx.rawTransaction)</a:t>
            </a:r>
          </a:p>
          <a:p/>
          <a:p/>
          <a:p/>
          <a:p/>
          <a:p/>
          <a:p/>
          <a:p/>
          <a:p/>
          <a:p/>
          <a:p/>
          <a:p>
            <a:r>
              <a:t>    </a:t>
            </a:r>
          </a:p>
          <a:p/>
          <a:p/>
          <a:p>
            <a:r>
              <a:t>Blockchain Transaction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except(TransactionFailed,ContractLogicError): expected revert. Source: https://docs.soliditylang.org/en/latest/ | https://web3py.readthedocs.io/en/stable/providers.html. Toolchain Solidity 0.8.30, OpenZeppelin 5.4.0, web3.py 8.0.0, Py-EVM 0.12.1b1; checked 13 September 2026.</a:t>
            </a:r>
          </a:p>
          <a:p/>
          <a:p>
            <a:r>
              <a:t>Original v17 slide 169 verbatim content:</a:t>
            </a:r>
          </a:p>
          <a:p>
            <a:r>
              <a:t>from web3 import Web3</a:t>
            </a:r>
          </a:p>
          <a:p/>
          <a:p>
            <a:r>
              <a:t>ganache_url = "http://127.0.0.1:7545"</a:t>
            </a:r>
          </a:p>
          <a:p>
            <a:r>
              <a:t>web3 = Web3(Web3.HTTPProvider(ganache_url))</a:t>
            </a:r>
          </a:p>
          <a:p/>
          <a:p>
            <a:r>
              <a:t>account_1 = '' # Fill me in</a:t>
            </a:r>
          </a:p>
          <a:p>
            <a:r>
              <a:t>account_2 = '' # Fill me in</a:t>
            </a:r>
          </a:p>
          <a:p>
            <a:r>
              <a:t>private_key = '' # Fill me in</a:t>
            </a:r>
          </a:p>
          <a:p/>
          <a:p>
            <a:r>
              <a:t>nonce = web3.eth.getTransactionCount(account_1)</a:t>
            </a:r>
          </a:p>
          <a:p/>
          <a:p>
            <a:r>
              <a:t>tx = {</a:t>
            </a:r>
          </a:p>
          <a:p>
            <a:r>
              <a:t>    'nonce': nonce,</a:t>
            </a:r>
          </a:p>
          <a:p>
            <a:r>
              <a:t>    'to': account_2,</a:t>
            </a:r>
          </a:p>
          <a:p>
            <a:r>
              <a:t>    'value': web3.toWei(1, 'ether'),</a:t>
            </a:r>
          </a:p>
          <a:p>
            <a:r>
              <a:t>    'gas': 2000000,</a:t>
            </a:r>
          </a:p>
          <a:p>
            <a:r>
              <a:t>    'gasPrice': web3.toWei('50', 'gwei'),</a:t>
            </a:r>
          </a:p>
          <a:p>
            <a:r>
              <a:t>}</a:t>
            </a:r>
          </a:p>
          <a:p>
            <a:r>
              <a:t>signed_tx = web3.eth.account.signTransaction(tx, private_key)</a:t>
            </a:r>
          </a:p>
          <a:p>
            <a:r>
              <a:t>tx_hash = web3.eth.sendRawTransaction(signed_tx.rawTransaction)</a:t>
            </a:r>
          </a:p>
          <a:p>
            <a:r>
              <a:t>print(web3.toHex(tx_hash))</a:t>
            </a:r>
          </a:p>
          <a:p/>
          <a:p/>
          <a:p/>
          <a:p/>
          <a:p/>
          <a:p/>
          <a:p/>
          <a:p/>
          <a:p/>
          <a:p>
            <a:r>
              <a:t>    </a:t>
            </a:r>
          </a:p>
          <a:p/>
          <a:p/>
          <a:p>
            <a:r>
              <a:t>Transaction between 2 Accounts</a:t>
            </a:r>
          </a:p>
          <a:p>
            <a:r>
              <a:t>Get the account and private key from Ganache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fund receipt before release transaction. Source: https://docs.soliditylang.org/en/latest/ | https://web3py.readthedocs.io/en/stable/providers.html. Toolchain Solidity 0.8.30, OpenZeppelin 5.4.0, web3.py 8.0.0, Py-EVM 0.12.1b1; checked 13 September 2026.</a:t>
            </a:r>
          </a:p>
          <a:p/>
          <a:p>
            <a:r>
              <a:t>Original v17 slide 170 verbatim content:</a:t>
            </a:r>
          </a:p>
          <a:p>
            <a:r>
              <a:t>Transactions on Ganache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seller balance delta ==10**17wei; sender also pays gas. Source: https://docs.soliditylang.org/en/latest/ | https://web3py.readthedocs.io/en/stable/providers.html. Toolchain Solidity 0.8.30, OpenZeppelin 5.4.0, web3.py 8.0.0, Py-EVM 0.12.1b1; checked 13 September 2026.</a:t>
            </a:r>
          </a:p>
          <a:p/>
          <a:p>
            <a:r>
              <a:t>Original v17 slide 171 verbatim content:</a:t>
            </a:r>
          </a:p>
          <a:p>
            <a:r>
              <a:t>Transfer 5 ethers from account 2 to 3 in Ganache</a:t>
            </a:r>
          </a:p>
          <a:p/>
          <a:p/>
          <a:p/>
          <a:p/>
          <a:p/>
          <a:p/>
          <a:p>
            <a:r>
              <a:t>    </a:t>
            </a:r>
          </a:p>
          <a:p/>
          <a:p/>
          <a:p>
            <a:r>
              <a:t>Activity: Transactions on Ganache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runtime state → contract.functions getter. Source: https://docs.soliditylang.org/en/latest/ | https://web3py.readthedocs.io/en/stable/providers.html. Toolchain Solidity 0.8.30, OpenZeppelin 5.4.0, web3.py 8.0.0, Py-EVM 0.12.1b1; checked 13 September 2026.</a:t>
            </a:r>
          </a:p>
          <a:p/>
          <a:p>
            <a:r>
              <a:t>Original v17 slide 172 verbatim content:</a:t>
            </a:r>
          </a:p>
          <a:p>
            <a:r>
              <a:t>// SPDX-License-Identifier: GPL-3.0</a:t>
            </a:r>
          </a:p>
          <a:p>
            <a:r>
              <a:t>pragma solidity &gt;=0.7.0 &lt;0.9.0;</a:t>
            </a:r>
          </a:p>
          <a:p/>
          <a:p>
            <a:r>
              <a:t>contract Hello {</a:t>
            </a:r>
          </a:p>
          <a:p>
            <a:r>
              <a:t>    string public myString;</a:t>
            </a:r>
          </a:p>
          <a:p>
            <a:r>
              <a:t>    </a:t>
            </a:r>
          </a:p>
          <a:p>
            <a:r>
              <a:t>    function store(string memory _myString) public {</a:t>
            </a:r>
          </a:p>
          <a:p>
            <a:r>
              <a:t>         myString = _myString;</a:t>
            </a:r>
          </a:p>
          <a:p>
            <a:r>
              <a:t>    }</a:t>
            </a:r>
          </a:p>
          <a:p>
            <a:r>
              <a:t>    </a:t>
            </a:r>
          </a:p>
          <a:p>
            <a:r>
              <a:t>    function retrieve() public view returns(string memory) {</a:t>
            </a:r>
          </a:p>
          <a:p>
            <a:r>
              <a:t>        return myString;</a:t>
            </a:r>
          </a:p>
          <a:p>
            <a:r>
              <a:t>    }</a:t>
            </a:r>
          </a:p>
          <a:p>
            <a:r>
              <a:t>   </a:t>
            </a:r>
          </a:p>
          <a:p>
            <a:r>
              <a:t>}</a:t>
            </a:r>
          </a:p>
          <a:p/>
          <a:p/>
          <a:p/>
          <a:p/>
          <a:p/>
          <a:p/>
          <a:p/>
          <a:p/>
          <a:p/>
          <a:p>
            <a:r>
              <a:t>    </a:t>
            </a:r>
          </a:p>
          <a:p/>
          <a:p/>
          <a:p>
            <a:r>
              <a:t>Deploy Test Contract on Remix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w3.eth.contract(address=receipt.contractAddress,abi=art.abi). Source: https://docs.soliditylang.org/en/latest/ | https://web3py.readthedocs.io/en/stable/providers.html. Toolchain Solidity 0.8.30, OpenZeppelin 5.4.0, web3.py 8.0.0, Py-EVM 0.12.1b1; checked 13 September 2026.</a:t>
            </a:r>
          </a:p>
          <a:p/>
          <a:p>
            <a:r>
              <a:t>Original v17 slide 173 verbatim content:</a:t>
            </a:r>
          </a:p>
          <a:p>
            <a:r>
              <a:t>import json</a:t>
            </a:r>
          </a:p>
          <a:p>
            <a:r>
              <a:t>from web3 import Web3</a:t>
            </a:r>
          </a:p>
          <a:p/>
          <a:p>
            <a:r>
              <a:t># Set up web3 connection with Ganache</a:t>
            </a:r>
          </a:p>
          <a:p>
            <a:r>
              <a:t>ganache_url = "http://127.0.0.1:7545"</a:t>
            </a:r>
          </a:p>
          <a:p>
            <a:r>
              <a:t>web3 = Web3(Web3.HTTPProvider(ganache_url))</a:t>
            </a:r>
          </a:p>
          <a:p/>
          <a:p>
            <a:r>
              <a:t># Set a default account to sign transaction</a:t>
            </a:r>
          </a:p>
          <a:p>
            <a:r>
              <a:t>web3.eth.defaultAccount = web3.eth.accounts[0]</a:t>
            </a:r>
          </a:p>
          <a:p/>
          <a:p>
            <a:r>
              <a:t># Contract ABI</a:t>
            </a:r>
          </a:p>
          <a:p>
            <a:r>
              <a:t>abi = json.loads('XXXX')</a:t>
            </a:r>
          </a:p>
          <a:p/>
          <a:p>
            <a:r>
              <a:t># Contract address</a:t>
            </a:r>
          </a:p>
          <a:p>
            <a:r>
              <a:t>address = web3.toChecksumAddress('XXXX') </a:t>
            </a:r>
          </a:p>
          <a:p/>
          <a:p/>
          <a:p/>
          <a:p/>
          <a:p/>
          <a:p/>
          <a:p/>
          <a:p/>
          <a:p/>
          <a:p/>
          <a:p>
            <a:r>
              <a:t>    </a:t>
            </a:r>
          </a:p>
          <a:p/>
          <a:p/>
          <a:p>
            <a:r>
              <a:t>Test Contract with Web3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factory(ABI,bytecode) → deployed(ABI,address). Source: https://docs.soliditylang.org/en/latest/ | https://web3py.readthedocs.io/en/stable/providers.html. Toolchain Solidity 0.8.30, OpenZeppelin 5.4.0, web3.py 8.0.0, Py-EVM 0.12.1b1; checked 13 September 2026.</a:t>
            </a:r>
          </a:p>
          <a:p/>
          <a:p>
            <a:r>
              <a:t>Original v17 slide 174 verbatim content:</a:t>
            </a:r>
          </a:p>
          <a:p>
            <a:r>
              <a:t># Initialize contract</a:t>
            </a:r>
          </a:p>
          <a:p>
            <a:r>
              <a:t>contract = web3.eth.contract(address=address, abi=abi)</a:t>
            </a:r>
          </a:p>
          <a:p/>
          <a:p>
            <a:r>
              <a:t># Store value </a:t>
            </a:r>
          </a:p>
          <a:p>
            <a:r>
              <a:t>tx_hash = contract.functions.store('Good Day').transact()</a:t>
            </a:r>
          </a:p>
          <a:p/>
          <a:p>
            <a:r>
              <a:t># Wait for transaction to be mined</a:t>
            </a:r>
          </a:p>
          <a:p>
            <a:r>
              <a:t>web3.eth.waitForTransactionReceipt(tx_hash)</a:t>
            </a:r>
          </a:p>
          <a:p/>
          <a:p>
            <a:r>
              <a:t># Retrieve value</a:t>
            </a:r>
          </a:p>
          <a:p>
            <a:r>
              <a:t>print(f'Retrive the value: {contract.functions.retrieve().call()}')</a:t>
            </a:r>
          </a:p>
          <a:p/>
          <a:p/>
          <a:p/>
          <a:p/>
          <a:p/>
          <a:p/>
          <a:p/>
          <a:p/>
          <a:p/>
          <a:p/>
          <a:p/>
          <a:p>
            <a:r>
              <a:t>    </a:t>
            </a:r>
          </a:p>
          <a:p/>
          <a:p/>
          <a:p>
            <a:r>
              <a:t>Test Contract with Web3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contract.json:{abi,bytecode,compiler,evmVersion,optimizerRuns}. Source: https://docs.soliditylang.org/en/latest/ | https://web3py.readthedocs.io/en/stable/providers.html. Toolchain Solidity 0.8.30, OpenZeppelin 5.4.0, web3.py 8.0.0, Py-EVM 0.12.1b1; checked 13 September 2026.</a:t>
            </a:r>
          </a:p>
          <a:p/>
          <a:p>
            <a:r>
              <a:t>Original v17 slide 175 verbatim content:</a:t>
            </a:r>
          </a:p>
          <a:p>
            <a:r>
              <a:t>Where to Get ABI and ByteCode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address=receipt.contractAddress; get_code(address). Source: https://docs.soliditylang.org/en/latest/ | https://web3py.readthedocs.io/en/stable/providers.html. Toolchain Solidity 0.8.30, OpenZeppelin 5.4.0, web3.py 8.0.0, Py-EVM 0.12.1b1; checked 13 September 2026.</a:t>
            </a:r>
          </a:p>
          <a:p/>
          <a:p>
            <a:r>
              <a:t>Original v17 slide 176 verbatim content:</a:t>
            </a:r>
          </a:p>
          <a:p>
            <a:r>
              <a:t>Where to Get Contract Address</a:t>
            </a:r>
          </a:p>
          <a:p>
            <a:r>
              <a:t>Click on the icon here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results.hash → current get_transaction_receipt(hash). Source: https://docs.soliditylang.org/en/latest/ | https://web3py.readthedocs.io/en/stable/providers.html. Toolchain Solidity 0.8.30, OpenZeppelin 5.4.0, web3.py 8.0.0, Py-EVM 0.12.1b1; checked 13 September 2026.</a:t>
            </a:r>
          </a:p>
          <a:p/>
          <a:p>
            <a:r>
              <a:t>Original v17 slide 177 verbatim content:</a:t>
            </a:r>
          </a:p>
          <a:p>
            <a:r>
              <a:t>Check Blocks on Ganache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ABI+bytecode → EVM receipts → assertions → manifest. Source: https://docs.soliditylang.org/en/latest/ | https://web3py.readthedocs.io/en/stable/providers.html. Toolchain Solidity 0.8.30, OpenZeppelin 5.4.0, web3.py 8.0.0, Py-EVM 0.12.1b1; checked 13 September 2026.</a:t>
            </a:r>
          </a:p>
          <a:p/>
          <a:p>
            <a:r>
              <a:t>Original v17 slide 178 verbatim content:</a:t>
            </a:r>
          </a:p>
          <a:p>
            <a:r>
              <a:t>Deploy the following smart contract on Ganache and test with Web3</a:t>
            </a:r>
          </a:p>
          <a:p/>
          <a:p>
            <a:r>
              <a:t>// SPDX-License-Identifier: GPL-3.0</a:t>
            </a:r>
          </a:p>
          <a:p>
            <a:r>
              <a:t>pragma solidity &gt;=0.7.0 &lt;0.9.0;</a:t>
            </a:r>
          </a:p>
          <a:p/>
          <a:p>
            <a:r>
              <a:t>contract Storage {</a:t>
            </a:r>
          </a:p>
          <a:p>
            <a:r>
              <a:t>    uint256 myNum;</a:t>
            </a:r>
          </a:p>
          <a:p/>
          <a:p>
            <a:r>
              <a:t>    constructor() {</a:t>
            </a:r>
          </a:p>
          <a:p>
            <a:r>
              <a:t>         myNum = 5;</a:t>
            </a:r>
          </a:p>
          <a:p>
            <a:r>
              <a:t>    }</a:t>
            </a:r>
          </a:p>
          <a:p/>
          <a:p>
            <a:r>
              <a:t>    function store(uint256 num) public {</a:t>
            </a:r>
          </a:p>
          <a:p>
            <a:r>
              <a:t>        myNum = num;</a:t>
            </a:r>
          </a:p>
          <a:p>
            <a:r>
              <a:t>    }</a:t>
            </a:r>
          </a:p>
          <a:p/>
          <a:p>
            <a:r>
              <a:t>    function retrieve() public view returns (uint256){</a:t>
            </a:r>
          </a:p>
          <a:p>
            <a:r>
              <a:t>        return myNum;</a:t>
            </a:r>
          </a:p>
          <a:p>
            <a:r>
              <a:t>    }</a:t>
            </a:r>
          </a:p>
          <a:p>
            <a:r>
              <a:t>}</a:t>
            </a:r>
          </a:p>
          <a:p/>
          <a:p/>
          <a:p/>
          <a:p/>
          <a:p/>
          <a:p/>
          <a:p/>
          <a:p/>
          <a:p/>
          <a:p/>
          <a:p/>
          <a:p>
            <a:r>
              <a:t>    </a:t>
            </a:r>
          </a:p>
          <a:p/>
          <a:p/>
          <a:p>
            <a:r>
              <a:t>Activity: Test Transaction with Web3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enrol defines eligibility; vote bounds option and flips voted before incrementing count..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enrol defines eligibility; vote bounds option and flips voted before incrementing count..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Checks-effects-interactions plus entered guard prevent recursive withdrawal; an actual adversarial contract probes the boundary..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Checks-effects-interactions plus entered guard prevent recursive withdrawal; an actual adversarial contract probes the b.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Measure cold zero-to-nonzero versus nonzero-to-nonzero SSTORE through receipts; report measured gas, not an assumed universal price..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Measure cold zero-to-nonzero versus nonzero-to-nonzero SSTORE through receipts; report measured gas, not an assumed univ.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Event ID, digest and timestamp are decoded from actual EVM receipts and reconciled with the business evidence list..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Event ID, digest and timestamp are decoded from actual EVM receipts and reconciled with the business evidence list..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Measured receipt.gasUsed dataset.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index.html → deployment.json → eth_call CertificateNFT. Source: https://docs.soliditylang.org/en/latest/ | https://web3py.readthedocs.io/en/stable/providers.html. Toolchain Solidity 0.8.30, OpenZeppelin 5.4.0, web3.py 8.0.0, Py-EVM 0.12.1b1; checked 13 September 2026.</a:t>
            </a:r>
          </a:p>
          <a:p/>
          <a:p>
            <a:r>
              <a:t>Original v17 slide 180 verbatim content:</a:t>
            </a:r>
          </a:p>
          <a:p>
            <a:r>
              <a:t>Develop DApp </a:t>
            </a:r>
          </a:p>
          <a:p>
            <a:r>
              <a:t>‹#›</a:t>
            </a:r>
          </a:p>
          <a:p>
            <a:r>
              <a:t>To develop and deploy an DApp requires the following components:</a:t>
            </a:r>
          </a:p>
          <a:p>
            <a:r>
              <a:t>smart contract (solidity)</a:t>
            </a:r>
          </a:p>
          <a:p>
            <a:r>
              <a:t>deploy smart contract on Blockchain</a:t>
            </a:r>
          </a:p>
          <a:p>
            <a:r>
              <a:t>Web3 to interact with Blockchain</a:t>
            </a:r>
          </a:p>
          <a:p>
            <a:r>
              <a:t>Metamask to interface between Web3 and Browser</a:t>
            </a:r>
          </a:p>
          <a:p>
            <a:r>
              <a:t>Node.js or React to build the frontend and backend server.</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compile.cjs → contract.json → run_activity.py → results.json. Source: https://docs.soliditylang.org/en/latest/ | https://web3py.readthedocs.io/en/stable/providers.html. Toolchain Solidity 0.8.30, OpenZeppelin 5.4.0, web3.py 8.0.0, Py-EVM 0.12.1b1; checked 13 September 2026.</a:t>
            </a:r>
          </a:p>
          <a:p/>
          <a:p>
            <a:r>
              <a:t>Original v17 slide 181 verbatim content:</a:t>
            </a:r>
          </a:p>
          <a:p>
            <a:r>
              <a:t>DApp Development Frameworks</a:t>
            </a:r>
          </a:p>
          <a:p>
            <a:r>
              <a:t>‹#›</a:t>
            </a:r>
          </a:p>
          <a:p>
            <a:r>
              <a:t>Truffle (Javascript)</a:t>
            </a:r>
          </a:p>
          <a:p>
            <a:r>
              <a:t>Hardhat (Typescript)</a:t>
            </a:r>
          </a:p>
          <a:p>
            <a:r>
              <a:t>Brownies (Python)</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npm ci; node compile.cjs. Source: https://docs.soliditylang.org/en/latest/ | https://web3py.readthedocs.io/en/stable/providers.html. Toolchain Solidity 0.8.30, OpenZeppelin 5.4.0, web3.py 8.0.0, Py-EVM 0.12.1b1; checked 13 September 2026.</a:t>
            </a:r>
          </a:p>
          <a:p/>
          <a:p>
            <a:r>
              <a:t>Original v17 slide 182 verbatim content:</a:t>
            </a:r>
          </a:p>
          <a:p>
            <a:r>
              <a:t>Install Truffle</a:t>
            </a:r>
          </a:p>
          <a:p>
            <a:r>
              <a:t>‹#›</a:t>
            </a:r>
          </a:p>
          <a:p>
            <a:r>
              <a:t>Install node.js (https://nodejs.org/en/)</a:t>
            </a:r>
          </a:p>
          <a:p>
            <a:r>
              <a:t>Install Truffle by typing the following CML:</a:t>
            </a:r>
          </a:p>
          <a:p/>
          <a:p>
            <a:r>
              <a:t>npm install -g truffle</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run_activity.py + mocks + package lock. Source: https://docs.soliditylang.org/en/latest/ | https://web3py.readthedocs.io/en/stable/providers.html. Toolchain Solidity 0.8.30, OpenZeppelin 5.4.0, web3.py 8.0.0, Py-EVM 0.12.1b1; checked 13 September 2026.</a:t>
            </a:r>
          </a:p>
          <a:p/>
          <a:p>
            <a:r>
              <a:t>Original v17 slide 183 verbatim content:</a:t>
            </a:r>
          </a:p>
          <a:p>
            <a:r>
              <a:t>Start a Simple Truffle Project (Optional) </a:t>
            </a:r>
          </a:p>
          <a:p>
            <a:r>
              <a:t>‹#›</a:t>
            </a:r>
          </a:p>
          <a:p>
            <a:r>
              <a:t>Creating a project as follows in CML</a:t>
            </a:r>
          </a:p>
          <a:p>
            <a:r>
              <a:t>mkdir hello</a:t>
            </a:r>
          </a:p>
          <a:p>
            <a:r>
              <a:t>cd hello</a:t>
            </a:r>
          </a:p>
          <a:p>
            <a:r>
              <a:t>truffle init</a:t>
            </a:r>
          </a:p>
          <a:p>
            <a:r>
              <a:t>Open the project from VS Code</a:t>
            </a:r>
          </a:p>
          <a:p>
            <a:r>
              <a:t>Create a new file hello.sol under contract folder and insert your hello.sol script</a:t>
            </a:r>
          </a:p>
          <a:p>
            <a:r>
              <a:t>Change your compiler version at truffle-config.js</a:t>
            </a:r>
          </a:p>
          <a:p>
            <a:r>
              <a:t>Compile the smart contract as follows in CML:</a:t>
            </a:r>
          </a:p>
          <a:p>
            <a:r>
              <a:t>truffle compile</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deployment.json.chainId/address/sourceSha256/runtimeKeccak. Source: https://docs.soliditylang.org/en/latest/ | https://web3py.readthedocs.io/en/stable/providers.html. Toolchain Solidity 0.8.30, OpenZeppelin 5.4.0, web3.py 8.0.0, Py-EVM 0.12.1b1; checked 13 September 2026.</a:t>
            </a:r>
          </a:p>
          <a:p/>
          <a:p>
            <a:r>
              <a:t>Original v17 slide 184 verbatim content:</a:t>
            </a:r>
          </a:p>
          <a:p>
            <a:r>
              <a:t>Deploy a Simple Truffle Project</a:t>
            </a:r>
          </a:p>
          <a:p>
            <a:r>
              <a:t>‹#›</a:t>
            </a:r>
          </a:p>
          <a:p>
            <a:r>
              <a:t>Change the migration script to: </a:t>
            </a:r>
          </a:p>
          <a:p>
            <a:r>
              <a:t>const Hello= artifacts.require("hello");</a:t>
            </a:r>
          </a:p>
          <a:p>
            <a:r>
              <a:t>module.exports = function (deployer) {</a:t>
            </a:r>
          </a:p>
          <a:p>
            <a:r>
              <a:t>  deployer.deploy(Hello);</a:t>
            </a:r>
          </a:p>
          <a:p>
            <a:r>
              <a:t>};</a:t>
            </a:r>
          </a:p>
          <a:p/>
          <a:p>
            <a:r>
              <a:t>Change the network setting to Ganache:</a:t>
            </a:r>
          </a:p>
          <a:p>
            <a:r>
              <a:t> development: {</a:t>
            </a:r>
          </a:p>
          <a:p>
            <a:r>
              <a:t>      host: "127.0.0.1",     </a:t>
            </a:r>
          </a:p>
          <a:p>
            <a:r>
              <a:t>      port: 7545,                  </a:t>
            </a:r>
          </a:p>
          <a:p>
            <a:r>
              <a:t>      network_id: "*",      </a:t>
            </a:r>
          </a:p>
          <a:p>
            <a:r>
              <a:t>     },</a:t>
            </a:r>
          </a:p>
          <a:p/>
          <a:p>
            <a:r>
              <a:t>Deploy the smart contract as follows in CML:</a:t>
            </a:r>
          </a:p>
          <a:p>
            <a:r>
              <a:t>truffle deploy -reset</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assert receipt.status==1; assert expected state; reject invalid. Source: https://docs.soliditylang.org/en/latest/ | https://web3py.readthedocs.io/en/stable/providers.html. Toolchain Solidity 0.8.30, OpenZeppelin 5.4.0, web3.py 8.0.0, Py-EVM 0.12.1b1; checked 13 September 2026.</a:t>
            </a:r>
          </a:p>
          <a:p/>
          <a:p>
            <a:r>
              <a:t>Original v17 slide 185 verbatim content:</a:t>
            </a:r>
          </a:p>
          <a:p>
            <a:r>
              <a:t>Test a Simple Truffle Project</a:t>
            </a:r>
          </a:p>
          <a:p>
            <a:r>
              <a:t>‹#›</a:t>
            </a:r>
          </a:p>
          <a:p>
            <a:r>
              <a:t>Test a truffle project as follows in CML</a:t>
            </a:r>
          </a:p>
          <a:p>
            <a:r>
              <a:t>truffle console</a:t>
            </a:r>
          </a:p>
          <a:p>
            <a:r>
              <a:t>Type the following to the console environment:</a:t>
            </a:r>
          </a:p>
          <a:p/>
          <a:p>
            <a:r>
              <a:t>Hello.deployed().then(function(instance) {return instance.store(255) });</a:t>
            </a:r>
          </a:p>
          <a:p>
            <a:r>
              <a:t>Hello.deployed().then(function(instance) {return instance.retrieve() });</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mapping(bytes32=&gt;Batch); require(custodian==msg.sender). Source: https://docs.soliditylang.org/en/latest/ | https://web3py.readthedocs.io/en/stable/providers.html. Toolchain Solidity 0.8.30, OpenZeppelin 5.4.0, web3.py 8.0.0, Py-EVM 0.12.1b1; checked 13 September 2026.</a:t>
            </a:r>
          </a:p>
          <a:p/>
          <a:p>
            <a:r>
              <a:t>Original v17 slide 186 verbatim content:</a:t>
            </a:r>
          </a:p>
          <a:p>
            <a:r>
              <a:t>Activity: Pet Shop Tutorial (Optional)</a:t>
            </a:r>
          </a:p>
          <a:p>
            <a:r>
              <a:t>‹#›</a:t>
            </a:r>
          </a:p>
          <a:p>
            <a:r>
              <a:t>This tutorial (https://www.trufflesuite.com/tutorial) will take you through the process of building your first dapp---an adoption tracking system for a pet shop!</a:t>
            </a:r>
          </a:p>
          <a:p>
            <a:r>
              <a:t>This tutorial is meant for those with a basic knowledge of Ethereum and smart contracts, who have some knowledge of HTML and JavaScript,</a:t>
            </a:r>
          </a:p>
          <a:p>
            <a:r>
              <a:t>In this tutorial we will be covering:</a:t>
            </a:r>
          </a:p>
          <a:p>
            <a:r>
              <a:t>Setting up the development environment</a:t>
            </a:r>
          </a:p>
          <a:p>
            <a:r>
              <a:t>Creating a Truffle project using a Truffle Box</a:t>
            </a:r>
          </a:p>
          <a:p>
            <a:r>
              <a:t>Writing the smart contract</a:t>
            </a:r>
          </a:p>
          <a:p>
            <a:r>
              <a:t>Compiling and migrating the smart contract</a:t>
            </a:r>
          </a:p>
          <a:p>
            <a:r>
              <a:t>Testing the smart contract</a:t>
            </a:r>
          </a:p>
          <a:p>
            <a:r>
              <a:t>Creating a user interface to interact with the smart contract</a:t>
            </a:r>
          </a:p>
          <a:p>
            <a:r>
              <a:t>Interacting with the dapp in a browser</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require(existing custodian==0) before create. Source: https://docs.soliditylang.org/en/latest/ | https://web3py.readthedocs.io/en/stable/providers.html. Toolchain Solidity 0.8.30, OpenZeppelin 5.4.0, web3.py 8.0.0, Py-EVM 0.12.1b1; checked 13 September 2026.</a:t>
            </a:r>
          </a:p>
          <a:p/>
          <a:p>
            <a:r>
              <a:t>Original v17 slide 187 verbatim content:</a:t>
            </a:r>
          </a:p>
          <a:p>
            <a:r>
              <a:t>Get Started on  Pet Shop Tutorial </a:t>
            </a:r>
          </a:p>
          <a:p>
            <a:r>
              <a:t>‹#›</a:t>
            </a:r>
          </a:p>
          <a:p>
            <a:r>
              <a:t>Creating a project as follows in CML</a:t>
            </a:r>
          </a:p>
          <a:p>
            <a:r>
              <a:t>mkdir pet-shop</a:t>
            </a:r>
          </a:p>
          <a:p>
            <a:r>
              <a:t>cd pet-shop</a:t>
            </a:r>
          </a:p>
          <a:p>
            <a:r>
              <a:t>truffle unbox pet-shop</a:t>
            </a:r>
          </a:p>
          <a:p/>
          <a:p>
            <a:r>
              <a:t>Open the project from VS Code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Batch{address custodian;bytes32 digest;uint stage}. Source: https://docs.soliditylang.org/en/latest/ | https://web3py.readthedocs.io/en/stable/providers.html. Toolchain Solidity 0.8.30, OpenZeppelin 5.4.0, web3.py 8.0.0, Py-EVM 0.12.1b1; checked 13 September 2026.</a:t>
            </a:r>
          </a:p>
          <a:p/>
          <a:p>
            <a:r>
              <a:t>Original v17 slide 188 verbatim content:</a:t>
            </a:r>
          </a:p>
          <a:p>
            <a:r>
              <a:t>Adoption.sol</a:t>
            </a:r>
          </a:p>
          <a:p>
            <a:r>
              <a:t>‹#›</a:t>
            </a:r>
          </a:p>
          <a:p>
            <a:r>
              <a:t>Create a new file named Adoption.sol in the contracts/ directory and add the following content:</a:t>
            </a:r>
          </a:p>
          <a:p>
            <a:r>
              <a:t>pragma solidity ^0.5.0;</a:t>
            </a:r>
          </a:p>
          <a:p>
            <a:r>
              <a:t>contract Adoption {</a:t>
            </a:r>
          </a:p>
          <a:p>
            <a:r>
              <a:t>    address[16] public adopters;</a:t>
            </a:r>
          </a:p>
          <a:p>
            <a:r>
              <a:t>    // Adopting a pet</a:t>
            </a:r>
          </a:p>
          <a:p>
            <a:r>
              <a:t>    function adopt(uint petId) public returns (uint) {</a:t>
            </a:r>
          </a:p>
          <a:p>
            <a:r>
              <a:t>        require(petId &gt;= 0 &amp;&amp; petId &lt;= 15);</a:t>
            </a:r>
          </a:p>
          <a:p>
            <a:r>
              <a:t>        adopters[petId] = msg.sender;</a:t>
            </a:r>
          </a:p>
          <a:p>
            <a:r>
              <a:t>        return petId;</a:t>
            </a:r>
          </a:p>
          <a:p>
            <a:r>
              <a:t>        }</a:t>
            </a:r>
          </a:p>
          <a:p>
            <a:r>
              <a:t>    // Retrieving the adopters</a:t>
            </a:r>
          </a:p>
          <a:p>
            <a:r>
              <a:t>    function getAdopters() public view returns (address[16] memory) {</a:t>
            </a:r>
          </a:p>
          <a:p>
            <a:r>
              <a:t>        return adopters;</a:t>
            </a:r>
          </a:p>
          <a:p>
            <a:r>
              <a:t>        }</a:t>
            </a:r>
          </a:p>
          <a:p>
            <a:r>
              <a:t>   }</a:t>
            </a:r>
          </a:p>
          <a:p>
            <a:r>
              <a:t>Update the compiler version in truffle-config.js</a:t>
            </a:r>
          </a:p>
          <a:p>
            <a:r>
              <a:t>truffle compile</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fac.constructor(...).transact → wait_for_transaction_receipt. Source: https://docs.soliditylang.org/en/latest/ | https://web3py.readthedocs.io/en/stable/providers.html. Toolchain Solidity 0.8.30, OpenZeppelin 5.4.0, web3.py 8.0.0, Py-EVM 0.12.1b1; checked 13 September 2026.</a:t>
            </a:r>
          </a:p>
          <a:p/>
          <a:p>
            <a:r>
              <a:t>Original v17 slide 189 verbatim content:</a:t>
            </a:r>
          </a:p>
          <a:p>
            <a:r>
              <a:t>Migration Script</a:t>
            </a:r>
          </a:p>
          <a:p>
            <a:r>
              <a:t>‹#›</a:t>
            </a:r>
          </a:p>
          <a:p>
            <a:r>
              <a:t>Replace the migration script to:</a:t>
            </a:r>
          </a:p>
          <a:p/>
          <a:p>
            <a:r>
              <a:t>var Adoption = artifacts.require("Adoption");</a:t>
            </a:r>
          </a:p>
          <a:p/>
          <a:p>
            <a:r>
              <a:t>module.exports = function(deployer) {</a:t>
            </a:r>
          </a:p>
          <a:p>
            <a:r>
              <a:t>  deployer.deploy(Adoption);</a:t>
            </a:r>
          </a:p>
          <a:p>
            <a:r>
              <a:t>};</a:t>
            </a:r>
          </a:p>
          <a:p/>
          <a:p>
            <a:r>
              <a:t>Update the network info</a:t>
            </a:r>
          </a:p>
          <a:p>
            <a:r>
              <a:t>truffle deploy -reset</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manifest.rpc required; wallet chain must match. Source: https://docs.soliditylang.org/en/latest/ | https://web3py.readthedocs.io/en/stable/providers.html. Toolchain Solidity 0.8.30, OpenZeppelin 5.4.0, web3.py 8.0.0, Py-EVM 0.12.1b1; checked 13 September 2026.</a:t>
            </a:r>
          </a:p>
          <a:p/>
          <a:p>
            <a:r>
              <a:t>Original v17 slide 190 verbatim content:</a:t>
            </a:r>
          </a:p>
          <a:p>
            <a:r>
              <a:t>Creating a User Interface to Interact with</a:t>
            </a:r>
          </a:p>
          <a:p>
            <a:r>
              <a:t>the Smart Contract</a:t>
            </a:r>
          </a:p>
          <a:p>
            <a:r>
              <a:t>‹#›</a:t>
            </a:r>
          </a:p>
          <a:p>
            <a:r>
              <a:t>Now that we've created the smart contract, deployed it to our local test blockchain and confirmed we can interact with it via the console, it's time to create a UI so that Pete has something to use for his pet shop!</a:t>
            </a:r>
          </a:p>
          <a:p>
            <a:r>
              <a:t>Included with the pet-shop Truffle Box was code for the app's front-end. That code exists within the src/ directory.</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ethereum.request({method:"eth_requestAccounts"}). Source: https://docs.soliditylang.org/en/latest/ | https://web3py.readthedocs.io/en/stable/providers.html. Toolchain Solidity 0.8.30, OpenZeppelin 5.4.0, web3.py 8.0.0, Py-EVM 0.12.1b1; checked 13 September 2026.</a:t>
            </a:r>
          </a:p>
          <a:p/>
          <a:p>
            <a:r>
              <a:t>Original v17 slide 191 verbatim content:</a:t>
            </a:r>
          </a:p>
          <a:p>
            <a:r>
              <a:t>Instantiating Web3</a:t>
            </a:r>
          </a:p>
          <a:p>
            <a:r>
              <a:t>‹#›</a:t>
            </a:r>
          </a:p>
          <a:p>
            <a:r>
              <a:t>Open /src/js/app.js in a text editor.</a:t>
            </a:r>
          </a:p>
          <a:p>
            <a:r>
              <a:t>Remove the multi-line comment from within initWeb3 and replace it with the following:</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data=selector + tokenId.toString(16).padStart(64,"0"). Source: https://docs.soliditylang.org/en/latest/ | https://web3py.readthedocs.io/en/stable/providers.html. Toolchain Solidity 0.8.30, OpenZeppelin 5.4.0, web3.py 8.0.0, Py-EVM 0.12.1b1; checked 13 September 2026.</a:t>
            </a:r>
          </a:p>
          <a:p/>
          <a:p>
            <a:r>
              <a:t>Original v17 slide 192 verbatim content:</a:t>
            </a:r>
          </a:p>
          <a:p>
            <a:r>
              <a:t>Instantiating Web3</a:t>
            </a:r>
          </a:p>
          <a:p>
            <a:r>
              <a:t>‹#›</a:t>
            </a:r>
          </a:p>
          <a:p>
            <a:r>
              <a:t>Still in /src/js/app.js, remove the multi-line comment from within initContract and replace it with the following:</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ownerOf(id) ∧ documentHash match ∧ !revoked(id). Source: https://docs.soliditylang.org/en/latest/ | https://web3py.readthedocs.io/en/stable/providers.html. Toolchain Solidity 0.8.30, OpenZeppelin 5.4.0, web3.py 8.0.0, Py-EVM 0.12.1b1; checked 13 September 2026.</a:t>
            </a:r>
          </a:p>
          <a:p/>
          <a:p>
            <a:r>
              <a:t>Original v17 slide 193 verbatim content:</a:t>
            </a:r>
          </a:p>
          <a:p>
            <a:r>
              <a:t>Instantiating Web3</a:t>
            </a:r>
          </a:p>
          <a:p>
            <a:r>
              <a:t>‹#›</a:t>
            </a:r>
          </a:p>
          <a:p>
            <a:r>
              <a:t>Still in /src/js/app.js, remove the multi-line comment from markAdopted and replace it with the following:</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catch(e){out.textContent="Read failed: "+e.message}. Source: https://docs.soliditylang.org/en/latest/ | https://web3py.readthedocs.io/en/stable/providers.html. Toolchain Solidity 0.8.30, OpenZeppelin 5.4.0, web3.py 8.0.0, Py-EVM 0.12.1b1; checked 13 September 2026.</a:t>
            </a:r>
          </a:p>
          <a:p/>
          <a:p>
            <a:r>
              <a:t>Original v17 slide 194 verbatim content:</a:t>
            </a:r>
          </a:p>
          <a:p>
            <a:r>
              <a:t>Instantiating Web3</a:t>
            </a:r>
          </a:p>
          <a:p>
            <a:r>
              <a:t>‹#›</a:t>
            </a:r>
          </a:p>
          <a:p>
            <a:r>
              <a:t>Still in /src/js/app.js, remove the multi-line comment from handleAdopt and replace it with the following:</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RPC:http://127.0.0.1:8545; chainId31337. Source: https://docs.soliditylang.org/en/latest/ | https://web3py.readthedocs.io/en/stable/providers.html. Toolchain Solidity 0.8.30, OpenZeppelin 5.4.0, web3.py 8.0.0, Py-EVM 0.12.1b1; checked 13 September 2026.</a:t>
            </a:r>
          </a:p>
          <a:p/>
          <a:p>
            <a:r>
              <a:t>Original v17 slide 195 verbatim content:</a:t>
            </a:r>
          </a:p>
          <a:p>
            <a:r>
              <a:t>Create New Network in Metamask</a:t>
            </a:r>
          </a:p>
          <a:p>
            <a:r>
              <a:t>‹#›</a:t>
            </a:r>
          </a:p>
          <a:p>
            <a:r>
              <a:t>In the box titled "New Network" enter http://127.0.0.1:7545, in the box titled "Chain ID" enter 1337 (Default Chain ID for Ganache) and click Save</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Wallet signer local test-only; no private key in source. Source: https://docs.soliditylang.org/en/latest/ | https://web3py.readthedocs.io/en/stable/providers.html. Toolchain Solidity 0.8.30, OpenZeppelin 5.4.0, web3.py 8.0.0, Py-EVM 0.12.1b1; checked 13 September 2026.</a:t>
            </a:r>
          </a:p>
          <a:p/>
          <a:p>
            <a:r>
              <a:t>Original v17 slide 196 verbatim content:</a:t>
            </a:r>
          </a:p>
          <a:p>
            <a:r>
              <a:t>Import Account from Ganache</a:t>
            </a:r>
          </a:p>
          <a:p>
            <a:r>
              <a:t>‹#›</a:t>
            </a:r>
          </a:p>
          <a:p>
            <a:r>
              <a:t>Click the top-right X to close out of Settings and return to the Accounts page.</a:t>
            </a:r>
          </a:p>
          <a:p>
            <a:r>
              <a:t>Import Account and enter your private key from Ganache</a:t>
            </a:r>
          </a:p>
          <a:p>
            <a:r>
              <a:t>Each account created by Ganache is given 100 ether. You'll notice it's slightly less on the first account because some gas was used when the contract itself was deployed and when the tests were run.</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python -m http.server8000 → localhost:8000/index.html. Source: https://docs.soliditylang.org/en/latest/ | https://web3py.readthedocs.io/en/stable/providers.html. Toolchain Solidity 0.8.30, OpenZeppelin 5.4.0, web3.py 8.0.0, Py-EVM 0.12.1b1; checked 13 September 2026.</a:t>
            </a:r>
          </a:p>
          <a:p/>
          <a:p>
            <a:r>
              <a:t>Original v17 slide 197 verbatim content:</a:t>
            </a:r>
          </a:p>
          <a:p>
            <a:r>
              <a:t>Run the DApp</a:t>
            </a:r>
          </a:p>
          <a:p>
            <a:r>
              <a:t>‹#›</a:t>
            </a:r>
          </a:p>
          <a:p>
            <a:r>
              <a:t>Enter the following command in CML</a:t>
            </a:r>
          </a:p>
          <a:p>
            <a:r>
              <a:t>npm run dev</a:t>
            </a:r>
          </a:p>
          <a:p>
            <a:r>
              <a:t>A MetaMask pop-up should appear requesting your approval to allow Pete's Pet Shop to connect to your MetaMask wallet. Without explicit approval, you will be unable to interact with the dapp. Click Connect.</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owner/hash/revoked readback + chain mismatch blocked. Source: https://docs.soliditylang.org/en/latest/ | https://web3py.readthedocs.io/en/stable/providers.html. Toolchain Solidity 0.8.30, OpenZeppelin 5.4.0, web3.py 8.0.0, Py-EVM 0.12.1b1; checked 13 September 2026.</a:t>
            </a:r>
          </a:p>
          <a:p/>
          <a:p>
            <a:r>
              <a:t>Original v17 slide 198 verbatim content:</a:t>
            </a:r>
          </a:p>
          <a:p>
            <a:r>
              <a:t>Test the DApp</a:t>
            </a:r>
          </a:p>
          <a:p>
            <a:r>
              <a:t>‹#›</a:t>
            </a:r>
          </a:p>
          <a:p>
            <a:r>
              <a:t>To use the dapp, click the Adopt button on the pet of your choice.</a:t>
            </a:r>
          </a:p>
          <a:p>
            <a:r>
              <a:t>You'll be automatically prompted to approve the transaction by MetaMask. Click Submit to approve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ERC20 transfer500WSC; supply conserved. Source: https://docs.soliditylang.org/en/latest/ | https://web3py.readthedocs.io/en/stable/providers.html. Toolchain Solidity 0.8.30, OpenZeppelin 5.4.0, web3.py 8.0.0, Py-EVM 0.12.1b1; checked 13 September 2026.</a:t>
            </a:r>
          </a:p>
          <a:p/>
          <a:p>
            <a:r>
              <a:t>Original v17 slide 199 verbatim content:</a:t>
            </a:r>
          </a:p>
          <a:p>
            <a:r>
              <a:t>Test out Metacoin on Truffle as follows</a:t>
            </a:r>
          </a:p>
          <a:p/>
          <a:p>
            <a:r>
              <a:t>mkdir MetaCoin</a:t>
            </a:r>
          </a:p>
          <a:p>
            <a:r>
              <a:t>cd MetaCoin</a:t>
            </a:r>
          </a:p>
          <a:p>
            <a:r>
              <a:t>truffle unbox metacoin</a:t>
            </a:r>
          </a:p>
          <a:p>
            <a:r>
              <a:t>truffle compile</a:t>
            </a:r>
          </a:p>
          <a:p>
            <a:r>
              <a:t>Open truffle-config.js in a text editor. Replace the content with the following:</a:t>
            </a:r>
          </a:p>
          <a:p/>
          <a:p>
            <a:r>
              <a:t>module.exports = {</a:t>
            </a:r>
          </a:p>
          <a:p>
            <a:r>
              <a:t>  networks: {</a:t>
            </a:r>
          </a:p>
          <a:p>
            <a:r>
              <a:t>    development: {</a:t>
            </a:r>
          </a:p>
          <a:p>
            <a:r>
              <a:t>      host: "127.0.0.1",</a:t>
            </a:r>
          </a:p>
          <a:p>
            <a:r>
              <a:t>      port: 7545,</a:t>
            </a:r>
          </a:p>
          <a:p>
            <a:r>
              <a:t>      network_id: "*"</a:t>
            </a:r>
          </a:p>
          <a:p>
            <a:r>
              <a:t>    }</a:t>
            </a:r>
          </a:p>
          <a:p>
            <a:r>
              <a:t>  }</a:t>
            </a:r>
          </a:p>
          <a:p>
            <a:r>
              <a:t>};</a:t>
            </a:r>
          </a:p>
          <a:p/>
          <a:p/>
          <a:p/>
          <a:p/>
          <a:p/>
          <a:p/>
          <a:p/>
          <a:p/>
          <a:p/>
          <a:p/>
          <a:p/>
          <a:p/>
          <a:p>
            <a:r>
              <a:t>    </a:t>
            </a:r>
          </a:p>
          <a:p/>
          <a:p/>
          <a:p>
            <a:r>
              <a:t>Activity: MetaCoin on Truffle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approve20 → spender transferFrom20 → allowance0. Source: https://docs.soliditylang.org/en/latest/ | https://web3py.readthedocs.io/en/stable/providers.html. Toolchain Solidity 0.8.30, OpenZeppelin 5.4.0, web3.py 8.0.0, Py-EVM 0.12.1b1; checked 13 September 2026.</a:t>
            </a:r>
          </a:p>
          <a:p/>
          <a:p>
            <a:r>
              <a:t>Original v17 slide 200 verbatim content:</a:t>
            </a:r>
          </a:p>
          <a:p>
            <a:r>
              <a:t>On the terminal, migrate the contract to the blockchain created by Ganache:</a:t>
            </a:r>
          </a:p>
          <a:p>
            <a:r>
              <a:t>truffle migrate</a:t>
            </a:r>
          </a:p>
          <a:p>
            <a:r>
              <a:t>To interact with the contract, you can use the Truffle console. </a:t>
            </a:r>
          </a:p>
          <a:p>
            <a:r>
              <a:t>truffle console</a:t>
            </a:r>
          </a:p>
          <a:p>
            <a:r>
              <a:t>Begin by establishing both the deployed MetaCoin contract instance and the accounts created by either Truffle's built-in blockchain or Ganache:</a:t>
            </a:r>
          </a:p>
          <a:p>
            <a:r>
              <a:t>let instance = await MetaCoin.deployed()</a:t>
            </a:r>
          </a:p>
          <a:p>
            <a:r>
              <a:t>let accounts = await web3.eth.getAccounts()</a:t>
            </a:r>
          </a:p>
          <a:p>
            <a:r>
              <a:t>Check the metacoin balance of the account that deployed the contract:</a:t>
            </a:r>
          </a:p>
          <a:p>
            <a:r>
              <a:t>let balance = await instance.getBalance(accounts[0])</a:t>
            </a:r>
          </a:p>
          <a:p>
            <a:r>
              <a:t>balance.toNumber()</a:t>
            </a:r>
          </a:p>
          <a:p>
            <a:r>
              <a:t>See how much ether that balance is worth (and note that the contract defines a metacoin to be worth 2 ether): </a:t>
            </a:r>
          </a:p>
          <a:p>
            <a:r>
              <a:t>let ether = await instance.getBalanceInEth(accounts[0])</a:t>
            </a:r>
          </a:p>
          <a:p>
            <a:r>
              <a:t>ether.toNumber()</a:t>
            </a:r>
          </a:p>
          <a:p>
            <a:r>
              <a:t>Transfer some metacoin from one account to another:</a:t>
            </a:r>
          </a:p>
          <a:p>
            <a:r>
              <a:t>instance.sendCoin(accounts[1], 500)</a:t>
            </a:r>
          </a:p>
          <a:p/>
          <a:p>
            <a:r>
              <a:t>Activity: MetaCoin on Truffle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999500+480+20 ==1000000WSC. Source: https://docs.soliditylang.org/en/latest/ | https://web3py.readthedocs.io/en/stable/providers.html. Toolchain Solidity 0.8.30, OpenZeppelin 5.4.0, web3.py 8.0.0, Py-EVM 0.12.1b1; checked 13 September 2026.</a:t>
            </a:r>
          </a:p>
          <a:p/>
          <a:p>
            <a:r>
              <a:t>Original v17 slide 201 verbatim content:</a:t>
            </a:r>
          </a:p>
          <a:p>
            <a:r>
              <a:t>Check the balance of the account that received the metacoin:</a:t>
            </a:r>
          </a:p>
          <a:p>
            <a:r>
              <a:t>let received = await instance.getBalance(accounts[1])</a:t>
            </a:r>
          </a:p>
          <a:p>
            <a:r>
              <a:t>received.toNumber()</a:t>
            </a:r>
          </a:p>
          <a:p>
            <a:r>
              <a:t>Check the balance of the account that sent the metacoin:</a:t>
            </a:r>
          </a:p>
          <a:p>
            <a:r>
              <a:t>let newBalance = await instance.getBalance(accounts[0])</a:t>
            </a:r>
          </a:p>
          <a:p>
            <a:r>
              <a:t>newBalance.toNumber()</a:t>
            </a:r>
          </a:p>
          <a:p/>
          <a:p/>
          <a:p/>
          <a:p/>
          <a:p/>
          <a:p/>
          <a:p/>
          <a:p/>
          <a:p/>
          <a:p/>
          <a:p/>
          <a:p/>
          <a:p/>
          <a:p>
            <a:r>
              <a:t>    </a:t>
            </a:r>
          </a:p>
          <a:p/>
          <a:p/>
          <a:p>
            <a:r>
              <a:t>Activity: MetaCoin on Truffle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 ID, address, ABI, bytecode hash and compiler lock uniquely describe a test deployment..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 ID, address, ABI, bytecode hash and compiler lock uniquely describe a test deployment..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EIP-1193 provider checks chain ID then eth_call ownerOf/documentHash; explicit local-RPC deployment provides manifest..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Contract.sol → ABI / bytecode → EVM → receipt.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Generate actual Solidity EVM tests; never mock contract state..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EIP-1193 provider checks chain ID then eth_call ownerOf/documentHash; explicit local-RPC deployment provides manifest..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ChainID provider/deployment manifest verification.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Batch digest/custodian/Handover evidence versus physical truth.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Requirement-to-evidence matrix.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Develop Blockchain and Web3 App with Vibe Coding TGS-2021009338. Technical anchor: . Source: https://docs.soliditylang.org/en/latest/ | https://web3py.readthedocs.io/en/stable/providers.html. Toolchain Solidity 0.8.30, OpenZeppelin 5.4.0, web3.py 8.0.0, Py-EVM 0.12.1b1; checked 13 September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8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rtiary-infotech-logo.png"/>
          <p:cNvPicPr>
            <a:picLocks noChangeAspect="1"/>
          </p:cNvPicPr>
          <p:nvPr/>
        </p:nvPicPr>
        <p:blipFill>
          <a:blip r:embed="rId2"/>
          <a:stretch>
            <a:fillRect/>
          </a:stretch>
        </p:blipFill>
        <p:spPr>
          <a:xfrm>
            <a:off x="640080" y="502920"/>
            <a:ext cx="914400" cy="914400"/>
          </a:xfrm>
          <a:prstGeom prst="rect">
            <a:avLst/>
          </a:prstGeom>
        </p:spPr>
      </p:pic>
      <p:pic>
        <p:nvPicPr>
          <p:cNvPr id="4" name="Picture 3" descr="web3-workplace-hero-v18.png"/>
          <p:cNvPicPr>
            <a:picLocks noChangeAspect="1"/>
          </p:cNvPicPr>
          <p:nvPr/>
        </p:nvPicPr>
        <p:blipFill>
          <a:blip r:embed="rId3"/>
          <a:stretch>
            <a:fillRect/>
          </a:stretch>
        </p:blipFill>
        <p:spPr>
          <a:xfrm>
            <a:off x="7223760" y="1371600"/>
            <a:ext cx="4480560" cy="4480560"/>
          </a:xfrm>
          <a:prstGeom prst="rect">
            <a:avLst/>
          </a:prstGeom>
        </p:spPr>
      </p:pic>
      <p:sp>
        <p:nvSpPr>
          <p:cNvPr id="5" name="TextBox 4"/>
          <p:cNvSpPr txBox="1"/>
          <p:nvPr/>
        </p:nvSpPr>
        <p:spPr>
          <a:xfrm>
            <a:off x="640080" y="1828800"/>
            <a:ext cx="6400800" cy="2011680"/>
          </a:xfrm>
          <a:prstGeom prst="rect">
            <a:avLst/>
          </a:prstGeom>
          <a:noFill/>
        </p:spPr>
        <p:txBody>
          <a:bodyPr wrap="square" anchor="t">
            <a:spAutoFit/>
          </a:bodyPr>
          <a:lstStyle/>
          <a:p>
            <a:pPr algn="l">
              <a:spcAft>
                <a:spcPts val="400"/>
              </a:spcAft>
            </a:pPr>
            <a:r>
              <a:rPr sz="3400" b="1">
                <a:solidFill>
                  <a:srgbClr val="161B26"/>
                </a:solidFill>
                <a:latin typeface="Arial"/>
              </a:rPr>
              <a:t>Develop Blockchain and Web3 App with Vibe Coding</a:t>
            </a:r>
          </a:p>
        </p:txBody>
      </p:sp>
      <p:sp>
        <p:nvSpPr>
          <p:cNvPr id="6" name="TextBox 5"/>
          <p:cNvSpPr txBox="1"/>
          <p:nvPr/>
        </p:nvSpPr>
        <p:spPr>
          <a:xfrm>
            <a:off x="640080" y="4069080"/>
            <a:ext cx="6492240" cy="1737360"/>
          </a:xfrm>
          <a:prstGeom prst="rect">
            <a:avLst/>
          </a:prstGeom>
          <a:noFill/>
        </p:spPr>
        <p:txBody>
          <a:bodyPr wrap="square" anchor="t">
            <a:spAutoFit/>
          </a:bodyPr>
          <a:lstStyle/>
          <a:p>
            <a:pPr algn="l">
              <a:spcAft>
                <a:spcPts val="400"/>
              </a:spcAft>
            </a:pPr>
            <a:r>
              <a:rPr sz="1800" b="1">
                <a:solidFill>
                  <a:srgbClr val="1F6FEB"/>
                </a:solidFill>
                <a:latin typeface="Arial"/>
              </a:rPr>
              <a:t>WSQ | TGS-2021009338</a:t>
            </a:r>
          </a:p>
          <a:p>
            <a:pPr algn="l">
              <a:spcAft>
                <a:spcPts val="400"/>
              </a:spcAft>
            </a:pPr>
            <a:r>
              <a:rPr sz="1700" b="0">
                <a:solidFill>
                  <a:srgbClr val="10B981"/>
                </a:solidFill>
                <a:latin typeface="Arial"/>
              </a:rPr>
              <a:t>Solidity • Python Web3 • test-chain evidence</a:t>
            </a:r>
          </a:p>
          <a:p>
            <a:pPr algn="l">
              <a:spcAft>
                <a:spcPts val="400"/>
              </a:spcAft>
            </a:pPr>
            <a:r>
              <a:rPr sz="1300" b="0">
                <a:solidFill>
                  <a:srgbClr val="5B6372"/>
                </a:solidFill>
                <a:latin typeface="Arial"/>
              </a:rPr>
              <a:t>Tertiary Infotech Academy Pte Ltd | UEN 201200696W</a:t>
            </a:r>
          </a:p>
          <a:p>
            <a:pPr algn="l">
              <a:spcAft>
                <a:spcPts val="400"/>
              </a:spcAft>
            </a:pPr>
            <a:r>
              <a:rPr sz="1300" b="0">
                <a:solidFill>
                  <a:srgbClr val="5B6372"/>
                </a:solidFill>
                <a:latin typeface="Arial"/>
              </a:rPr>
              <a:t>Version v18.1 | 13 September 2026</a:t>
            </a:r>
          </a:p>
        </p:txBody>
      </p:sp>
      <p:sp>
        <p:nvSpPr>
          <p:cNvPr id="7" name="TextBox 6"/>
          <p:cNvSpPr txBox="1"/>
          <p:nvPr/>
        </p:nvSpPr>
        <p:spPr>
          <a:xfrm>
            <a:off x="10881360" y="6446520"/>
            <a:ext cx="640080" cy="228600"/>
          </a:xfrm>
          <a:prstGeom prst="rect">
            <a:avLst/>
          </a:prstGeom>
          <a:noFill/>
        </p:spPr>
        <p:txBody>
          <a:bodyPr wrap="square" anchor="t">
            <a:spAutoFit/>
          </a:bodyPr>
          <a:lstStyle/>
          <a:p>
            <a:pPr algn="l">
              <a:spcAft>
                <a:spcPts val="400"/>
              </a:spcAft>
            </a:pPr>
            <a:r>
              <a:rPr sz="900" b="0">
                <a:solidFill>
                  <a:srgbClr val="5B6372"/>
                </a:solidFill>
                <a:latin typeface="Arial"/>
              </a:rPr>
              <a:t>1</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MANDATORY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and TRAQOM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AM / PM attendance</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SSG trainer QR</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SSG trainer QR</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LMS course page</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ATTENDANCE EVIDENCE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Trainer supplies current QR. Record each required session; complete TRAQOM at course close.</a:t>
            </a:r>
          </a:p>
        </p:txBody>
      </p:sp>
      <p:sp>
        <p:nvSpPr>
          <p:cNvPr id="55" name="TextBox 54"/>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56" name="TextBox 55"/>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57" name="TextBox 56"/>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TEMPLATE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TR</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Trainer name</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3" name="Rectangle 12"/>
          <p:cNvSpPr/>
          <p:nvPr/>
        </p:nvSpPr>
        <p:spPr>
          <a:xfrm>
            <a:off x="4480560" y="178308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1310640"/>
          </a:xfrm>
          <a:prstGeom prst="rect">
            <a:avLst/>
          </a:prstGeom>
          <a:noFill/>
        </p:spPr>
        <p:txBody>
          <a:bodyPr wrap="square" anchor="ctr">
            <a:spAutoFit/>
          </a:bodyPr>
          <a:lstStyle/>
          <a:p>
            <a:pPr algn="l">
              <a:spcAft>
                <a:spcPts val="300"/>
              </a:spcAft>
            </a:pPr>
            <a:r>
              <a:rPr sz="1100" b="1">
                <a:solidFill>
                  <a:srgbClr val="1F6FEB"/>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327660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327660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3276600"/>
            <a:ext cx="6400800" cy="1310640"/>
          </a:xfrm>
          <a:prstGeom prst="rect">
            <a:avLst/>
          </a:prstGeom>
          <a:noFill/>
        </p:spPr>
        <p:txBody>
          <a:bodyPr wrap="square" anchor="ctr">
            <a:spAutoFit/>
          </a:bodyPr>
          <a:lstStyle/>
          <a:p>
            <a:pPr algn="l">
              <a:spcAft>
                <a:spcPts val="300"/>
              </a:spcAft>
            </a:pPr>
            <a:r>
              <a:rPr sz="1100" b="1">
                <a:solidFill>
                  <a:srgbClr val="10B981"/>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477012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770120"/>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770120"/>
            <a:ext cx="6400800" cy="1310640"/>
          </a:xfrm>
          <a:prstGeom prst="rect">
            <a:avLst/>
          </a:prstGeom>
          <a:noFill/>
        </p:spPr>
        <p:txBody>
          <a:bodyPr wrap="square" anchor="ctr">
            <a:spAutoFit/>
          </a:bodyPr>
          <a:lstStyle/>
          <a:p>
            <a:pPr algn="l">
              <a:spcAft>
                <a:spcPts val="300"/>
              </a:spcAft>
            </a:pPr>
            <a:r>
              <a:rPr sz="1100" b="1">
                <a:solidFill>
                  <a:srgbClr val="7C3AED"/>
                </a:solidFill>
                <a:latin typeface="Arial"/>
              </a:rPr>
              <a:t>CONTACT AND SUPPORT</a:t>
            </a:r>
          </a:p>
          <a:p>
            <a:pPr algn="l">
              <a:spcAft>
                <a:spcPts val="300"/>
              </a:spcAft>
            </a:pPr>
            <a:r>
              <a:rPr sz="1300" b="0">
                <a:solidFill>
                  <a:srgbClr val="E2E8F0"/>
                </a:solidFill>
                <a:latin typeface="Arial"/>
              </a:rPr>
              <a:t>____________________________________________</a:t>
            </a:r>
          </a:p>
        </p:txBody>
      </p:sp>
      <p:sp>
        <p:nvSpPr>
          <p:cNvPr id="22" name="TextBox 2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3" name="TextBox 2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4" name="TextBox 2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NAMED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a:t>
            </a:r>
          </a:p>
        </p:txBody>
      </p:sp>
      <p:sp>
        <p:nvSpPr>
          <p:cNvPr id="13" name="Rectangle 12"/>
          <p:cNvSpPr/>
          <p:nvPr/>
        </p:nvSpPr>
        <p:spPr>
          <a:xfrm>
            <a:off x="4480560" y="178308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1310640"/>
          </a:xfrm>
          <a:prstGeom prst="rect">
            <a:avLst/>
          </a:prstGeom>
          <a:noFill/>
        </p:spPr>
        <p:txBody>
          <a:bodyPr wrap="square" anchor="ctr">
            <a:spAutoFit/>
          </a:bodyPr>
          <a:lstStyle/>
          <a:p>
            <a:pPr algn="l">
              <a:spcAft>
                <a:spcPts val="300"/>
              </a:spcAft>
            </a:pPr>
            <a:r>
              <a:rPr sz="1100" b="1">
                <a:solidFill>
                  <a:srgbClr val="1F6FEB"/>
                </a:solidFill>
                <a:latin typeface="Arial"/>
              </a:rPr>
              <a:t>QUALIFICATIONS</a:t>
            </a:r>
          </a:p>
          <a:p>
            <a:pPr algn="l">
              <a:spcAft>
                <a:spcPts val="300"/>
              </a:spcAft>
            </a:pPr>
            <a:r>
              <a:rPr sz="1400" b="0">
                <a:solidFill>
                  <a:srgbClr val="161B26"/>
                </a:solidFill>
                <a:latin typeface="Arial"/>
              </a:rPr>
              <a:t>PhD • ACTA • DACE</a:t>
            </a:r>
          </a:p>
        </p:txBody>
      </p:sp>
      <p:sp>
        <p:nvSpPr>
          <p:cNvPr id="16" name="Rectangle 15"/>
          <p:cNvSpPr/>
          <p:nvPr/>
        </p:nvSpPr>
        <p:spPr>
          <a:xfrm>
            <a:off x="4480560" y="327660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327660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3276600"/>
            <a:ext cx="6400800" cy="1310640"/>
          </a:xfrm>
          <a:prstGeom prst="rect">
            <a:avLst/>
          </a:prstGeom>
          <a:noFill/>
        </p:spPr>
        <p:txBody>
          <a:bodyPr wrap="square" anchor="ctr">
            <a:spAutoFit/>
          </a:bodyPr>
          <a:lstStyle/>
          <a:p>
            <a:pPr algn="l">
              <a:spcAft>
                <a:spcPts val="300"/>
              </a:spcAft>
            </a:pPr>
            <a:r>
              <a:rPr sz="1100" b="1">
                <a:solidFill>
                  <a:srgbClr val="10B981"/>
                </a:solidFill>
                <a:latin typeface="Arial"/>
              </a:rPr>
              <a:t>TEACHING FOCUS</a:t>
            </a:r>
          </a:p>
          <a:p>
            <a:pPr algn="l">
              <a:spcAft>
                <a:spcPts val="300"/>
              </a:spcAft>
            </a:pPr>
            <a:r>
              <a:rPr sz="1400" b="0">
                <a:solidFill>
                  <a:srgbClr val="161B26"/>
                </a:solidFill>
                <a:latin typeface="Arial"/>
              </a:rPr>
              <a:t>Blockchain, coding and applied AI</a:t>
            </a:r>
          </a:p>
        </p:txBody>
      </p:sp>
      <p:sp>
        <p:nvSpPr>
          <p:cNvPr id="19" name="Rectangle 18"/>
          <p:cNvSpPr/>
          <p:nvPr/>
        </p:nvSpPr>
        <p:spPr>
          <a:xfrm>
            <a:off x="4480560" y="4770120"/>
            <a:ext cx="6949440"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770120"/>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770120"/>
            <a:ext cx="6400800" cy="1310640"/>
          </a:xfrm>
          <a:prstGeom prst="rect">
            <a:avLst/>
          </a:prstGeom>
          <a:noFill/>
        </p:spPr>
        <p:txBody>
          <a:bodyPr wrap="square" anchor="ctr">
            <a:spAutoFit/>
          </a:bodyPr>
          <a:lstStyle/>
          <a:p>
            <a:pPr algn="l">
              <a:spcAft>
                <a:spcPts val="300"/>
              </a:spcAft>
            </a:pPr>
            <a:r>
              <a:rPr sz="1100" b="1">
                <a:solidFill>
                  <a:srgbClr val="7C3AED"/>
                </a:solidFill>
                <a:latin typeface="Arial"/>
              </a:rPr>
              <a:t>LEARNER SUPPORT</a:t>
            </a:r>
          </a:p>
          <a:p>
            <a:pPr algn="l">
              <a:spcAft>
                <a:spcPts val="300"/>
              </a:spcAft>
            </a:pPr>
            <a:r>
              <a:rPr sz="1400" b="0">
                <a:solidFill>
                  <a:srgbClr val="161B26"/>
                </a:solidFill>
                <a:latin typeface="Arial"/>
              </a:rPr>
              <a:t>enquiry@tertiaryinfotech.com | +65 6100 0613</a:t>
            </a:r>
          </a:p>
        </p:txBody>
      </p:sp>
      <p:sp>
        <p:nvSpPr>
          <p:cNvPr id="22" name="TextBox 2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3" name="TextBox 2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4" name="TextBox 2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CLASS BRIEFING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introductions and 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Learner context</a:t>
            </a:r>
          </a:p>
          <a:p>
            <a:pPr algn="l">
              <a:spcAft>
                <a:spcPts val="300"/>
              </a:spcAft>
            </a:pPr>
            <a:r>
              <a:rPr sz="1300" b="0">
                <a:solidFill>
                  <a:srgbClr val="5B6372"/>
                </a:solidFill>
                <a:latin typeface="Arial"/>
              </a:rPr>
              <a:t>Share one coding experience and one smart-contract requirement.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Participation</a:t>
            </a:r>
          </a:p>
          <a:p>
            <a:pPr algn="l">
              <a:spcAft>
                <a:spcPts val="300"/>
              </a:spcAft>
            </a:pPr>
            <a:r>
              <a:rPr sz="1300" b="0">
                <a:solidFill>
                  <a:srgbClr val="5B6372"/>
                </a:solidFill>
                <a:latin typeface="Arial"/>
              </a:rPr>
              <a:t>Ask questions, review peer code, respect differing solutions.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Be punctual; minimum 75% attendance requirement from original materials.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evidence</a:t>
            </a:r>
          </a:p>
          <a:p>
            <a:pPr algn="l">
              <a:spcAft>
                <a:spcPts val="300"/>
              </a:spcAft>
            </a:pPr>
            <a:r>
              <a:rPr sz="1300" b="0">
                <a:solidFill>
                  <a:srgbClr val="5B6372"/>
                </a:solidFill>
                <a:latin typeface="Arial"/>
              </a:rPr>
              <a:t>Use synthetic records and isolated test-chain accounts.</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Two-day learning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Day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Instructional focus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Evidence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8 hours training: Topics 1–2</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Requirements, escrow, Solidity, ERC tokens and custody</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5.5 hours training: Topics 3–4 + 2.5 assessment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Tests, receipts, gas, indexing and documented deployment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Assessment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150 assessment minutes: WA 60 / PP 90</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Original approved instruments retained</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Programme 16 hours: 13.5 training + 2.5 assessment. Approved assessment plan totals 2.5 hours; authenticated LMS agrees13.5 training plus2.5 assessment hours.</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a:t>
            </a:r>
          </a:p>
          <a:p>
            <a:pPr algn="l">
              <a:spcAft>
                <a:spcPts val="300"/>
              </a:spcAft>
            </a:pPr>
            <a:r>
              <a:rPr sz="1300" b="0">
                <a:solidFill>
                  <a:srgbClr val="5B6372"/>
                </a:solidFill>
                <a:latin typeface="Arial"/>
              </a:rPr>
              <a:t>Analyze business requirements for Blockchain, Cryptocurrency, Smart Contract and Token Economics.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a:t>
            </a:r>
          </a:p>
          <a:p>
            <a:pPr algn="l">
              <a:spcAft>
                <a:spcPts val="300"/>
              </a:spcAft>
            </a:pPr>
            <a:r>
              <a:rPr sz="1300" b="0">
                <a:solidFill>
                  <a:srgbClr val="5B6372"/>
                </a:solidFill>
                <a:latin typeface="Arial"/>
              </a:rPr>
              <a:t>Code smart contract for Ethereum blockchain using Solidity programming.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a:t>
            </a:r>
          </a:p>
          <a:p>
            <a:pPr algn="l">
              <a:spcAft>
                <a:spcPts val="300"/>
              </a:spcAft>
            </a:pPr>
            <a:r>
              <a:rPr sz="1300" b="0">
                <a:solidFill>
                  <a:srgbClr val="5B6372"/>
                </a:solidFill>
                <a:latin typeface="Arial"/>
              </a:rPr>
              <a:t>Test smart contract and monitor its outputs.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a:t>
            </a:r>
          </a:p>
          <a:p>
            <a:pPr algn="l">
              <a:spcAft>
                <a:spcPts val="300"/>
              </a:spcAft>
            </a:pPr>
            <a:r>
              <a:rPr sz="1300" b="0">
                <a:solidFill>
                  <a:srgbClr val="5B6372"/>
                </a:solidFill>
                <a:latin typeface="Arial"/>
              </a:rPr>
              <a:t>Deploy smart contract and ensure coding documentation is accurate.</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PROGRAMMING AND CODING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FSE-DIT-4018-1.1 requirement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Topic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Abilities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Knowledge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 Blockchain, Cryptocurrency, Smart Contract and Token Economics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A1</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K1</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 Ethereum Blockchain and Solidity Programming</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A2, A3</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K3</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3 Smart Contract Testing</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A4, A5</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K4</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4 Smart Contract Deployment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A6, A7</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K5</a:t>
            </a:r>
          </a:p>
        </p:txBody>
      </p:sp>
      <p:sp>
        <p:nvSpPr>
          <p:cNvPr id="37" name="TextBox 3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8" name="TextBox 3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9" name="TextBox 3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Abilities A1 to A7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A1</a:t>
            </a:r>
          </a:p>
          <a:p>
            <a:pPr algn="l">
              <a:spcAft>
                <a:spcPts val="300"/>
              </a:spcAft>
            </a:pPr>
            <a:r>
              <a:rPr sz="1300" b="0">
                <a:solidFill>
                  <a:srgbClr val="5B6372"/>
                </a:solidFill>
                <a:latin typeface="Arial"/>
              </a:rPr>
              <a:t>Gather and interpret requirements through business use cases.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A2 / A3</a:t>
            </a:r>
          </a:p>
          <a:p>
            <a:pPr algn="l">
              <a:spcAft>
                <a:spcPts val="300"/>
              </a:spcAft>
            </a:pPr>
            <a:r>
              <a:rPr sz="1300" b="0">
                <a:solidFill>
                  <a:srgbClr val="5B6372"/>
                </a:solidFill>
                <a:latin typeface="Arial"/>
              </a:rPr>
              <a:t>Propose coding best practices; detect and communicate code errors.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A4 / A5</a:t>
            </a:r>
          </a:p>
          <a:p>
            <a:pPr algn="l">
              <a:spcAft>
                <a:spcPts val="300"/>
              </a:spcAft>
            </a:pPr>
            <a:r>
              <a:rPr sz="1300" b="0">
                <a:solidFill>
                  <a:srgbClr val="5B6372"/>
                </a:solidFill>
                <a:latin typeface="Arial"/>
              </a:rPr>
              <a:t>Test code, identify improvements; manage coding and monitor outputs.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A6 / A7</a:t>
            </a:r>
          </a:p>
          <a:p>
            <a:pPr algn="l">
              <a:spcAft>
                <a:spcPts val="300"/>
              </a:spcAft>
            </a:pPr>
            <a:r>
              <a:rPr sz="1300" b="0">
                <a:solidFill>
                  <a:srgbClr val="5B6372"/>
                </a:solidFill>
                <a:latin typeface="Arial"/>
              </a:rPr>
              <a:t>Group outputs systematically; ensure accurate complete documentation.</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Knowledge K1 to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K1 / K2</a:t>
            </a:r>
          </a:p>
          <a:p>
            <a:pPr algn="l">
              <a:spcAft>
                <a:spcPts val="300"/>
              </a:spcAft>
            </a:pPr>
            <a:r>
              <a:rPr sz="1300" b="0">
                <a:solidFill>
                  <a:srgbClr val="5B6372"/>
                </a:solidFill>
                <a:latin typeface="Arial"/>
              </a:rPr>
              <a:t>Requirement mapping and organisational goals.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K3</a:t>
            </a:r>
          </a:p>
          <a:p>
            <a:pPr algn="l">
              <a:spcAft>
                <a:spcPts val="300"/>
              </a:spcAft>
            </a:pPr>
            <a:r>
              <a:rPr sz="1300" b="0">
                <a:solidFill>
                  <a:srgbClr val="5B6372"/>
                </a:solidFill>
                <a:latin typeface="Arial"/>
              </a:rPr>
              <a:t>Code and code-database organisation methodologies.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K4</a:t>
            </a:r>
          </a:p>
          <a:p>
            <a:pPr algn="l">
              <a:spcAft>
                <a:spcPts val="300"/>
              </a:spcAft>
            </a:pPr>
            <a:r>
              <a:rPr sz="1300" b="0">
                <a:solidFill>
                  <a:srgbClr val="5B6372"/>
                </a:solidFill>
                <a:latin typeface="Arial"/>
              </a:rPr>
              <a:t>Information gathering and questioning techniques.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K5</a:t>
            </a:r>
          </a:p>
          <a:p>
            <a:pPr algn="l">
              <a:spcAft>
                <a:spcPts val="300"/>
              </a:spcAft>
            </a:pPr>
            <a:r>
              <a:rPr sz="1300" b="0">
                <a:solidFill>
                  <a:srgbClr val="5B6372"/>
                </a:solidFill>
                <a:latin typeface="Arial"/>
              </a:rPr>
              <a:t>Programming/coding developments assessed through verified toolchain decisions.</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LEARNER MATERIAL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LMS course page</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lms-tms.tertiaryinfotech.c…</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Courseware links</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Slides • LG • Activities</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Save verified package</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Current version v18.1</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DOWNLOAD EVIDENCE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current course page and its courseware/resource links. Detailed download guidance belongs in the Learner Guide.</a:t>
            </a:r>
          </a:p>
        </p:txBody>
      </p:sp>
      <p:sp>
        <p:nvSpPr>
          <p:cNvPr id="55" name="TextBox 54"/>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56" name="TextBox 55"/>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57" name="TextBox 56"/>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a:t>
            </a:r>
          </a:p>
        </p:txBody>
      </p:sp>
      <p:pic>
        <p:nvPicPr>
          <p:cNvPr id="58" name="Picture 57" descr="lms-download.png"/>
          <p:cNvPicPr>
            <a:picLocks noChangeAspect="1"/>
          </p:cNvPicPr>
          <p:nvPr/>
        </p:nvPicPr>
        <p:blipFill>
          <a:blip r:embed="rId3"/>
          <a:stretch>
            <a:fillRect/>
          </a:stretch>
        </p:blipFill>
        <p:spPr>
          <a:xfrm>
            <a:off x="777240" y="1783080"/>
            <a:ext cx="10634472" cy="434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briefing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WA</a:t>
            </a:r>
          </a:p>
          <a:p>
            <a:pPr algn="l">
              <a:spcAft>
                <a:spcPts val="300"/>
              </a:spcAft>
            </a:pPr>
            <a:r>
              <a:rPr sz="1300" b="0">
                <a:solidFill>
                  <a:srgbClr val="5B6372"/>
                </a:solidFill>
                <a:latin typeface="Arial"/>
              </a:rPr>
              <a:t>5 short-answer questions | 60 minutes | K1–K5</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PP</a:t>
            </a:r>
          </a:p>
          <a:p>
            <a:pPr algn="l">
              <a:spcAft>
                <a:spcPts val="300"/>
              </a:spcAft>
            </a:pPr>
            <a:r>
              <a:rPr sz="1300" b="0">
                <a:solidFill>
                  <a:srgbClr val="5B6372"/>
                </a:solidFill>
                <a:latin typeface="Arial"/>
              </a:rPr>
              <a:t>4 practical tasks | 90 minutes | A1–A7</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Slides, LG and assessor-approved materials only.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conduct</a:t>
            </a:r>
          </a:p>
          <a:p>
            <a:pPr algn="l">
              <a:spcAft>
                <a:spcPts val="300"/>
              </a:spcAft>
            </a:pPr>
            <a:r>
              <a:rPr sz="1300" b="0">
                <a:solidFill>
                  <a:srgbClr val="5B6372"/>
                </a:solidFill>
                <a:latin typeface="Arial"/>
              </a:rPr>
              <a:t>Individual work; no discussion, recording or phones. Assessor explains appeal and sign-off.</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Blockchain, Cryptocurrency, Smart Contract and Token Economics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A1, K1, K2</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0" name="TextBox 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1" name="TextBox 1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Header links and a registered evidence digest • 18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WHAT IS BLOCKCHAIN?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Blockchain is set of distributed data structure blocks, that is not editable or removable after published, linked by cryptographic validation in peer-to-peer network. It is based on cryptographic ledgers which are treated in a decentralised and distributed manner. It is are maintained and verified by  the…
Technical reading: A block header commits parentHash; a contract registry separately binds an evidence digest. These are different hash boundaries.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parentHash ← previous block hash; register(bytes32 digest)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parentHash ← previous block hash; register(bytes32 digest)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block header commits parentHash; a contract registry separately binds an evidence digest. These are different hash boundaries.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18-05.png"/>
          <p:cNvPicPr>
            <a:picLocks noChangeAspect="1"/>
          </p:cNvPicPr>
          <p:nvPr/>
        </p:nvPicPr>
        <p:blipFill>
          <a:blip r:embed="rId2"/>
          <a:stretch>
            <a:fillRect/>
          </a:stretch>
        </p:blipFill>
        <p:spPr>
          <a:xfrm>
            <a:off x="1005840" y="3009629"/>
            <a:ext cx="5029200" cy="207318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replicas versus authenticated writes • 19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Replication improves independent verification but does not remove application roles. Our registry uses issuer-only writes even on a permissionless execution chain.
Acceptance: registered[digest] reads public state; register requires issuer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registered[digest] reads public state; register requires issuer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registered[digest] reads public state; register requires issuer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Replication improves independent verification but does not remove application roles. Our registry uses issuer-only writes even on a permissionless execution cha</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Unauthorized database or contract writes • 20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RISKS AND CHALLENGES OF TRADITIONAL MODEL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Single point of failure - all data is stored in a few centralized databases which are prompt to cyber hacking. Fraud and security breaches - database administrators have full control over delegating access and granting various permissions to other users. With sufficient permissions, any one can freely…
Technical reading: A leaked admin credential and an unguarded contract function create different write paths. Verify protected transitions with an outsider account.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reject(register(forgedDigest), outsider)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reject(register(forgedDigest), outsider)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leaked admin credential and an unguarded contract function create different write paths. Verify protected transitions with an outsider account.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Escrow trust and off-chain delivery • 21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TRUST IS IMPORTANT IN TRADITIONAL MODEL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When you use traditional methods of payment, you need to trust in a third party to set your transaction (e.g. Visa, Mastercard, PayPal, banks, kickstarter, Lazada, Shoppe etc...) What if the Trust is broken one day?
Technical reading: Buyer authorization replaces payment-intermediary execution in this escrow. Off-chain delivery remains a disputed input; a release policy must name who accepts it.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buyer = msg.sender; seller = constructor argument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buyer = msg.sender; seller = constructor argument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Buyer authorization replaces payment-intermediary execution in this escrow. Off-chain delivery remains a disputed input; a release policy must name who accepts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1-02.png"/>
          <p:cNvPicPr>
            <a:picLocks noChangeAspect="1"/>
          </p:cNvPicPr>
          <p:nvPr/>
        </p:nvPicPr>
        <p:blipFill>
          <a:blip r:embed="rId2"/>
          <a:stretch>
            <a:fillRect/>
          </a:stretch>
        </p:blipFill>
        <p:spPr>
          <a:xfrm>
            <a:off x="1456690" y="2560320"/>
            <a:ext cx="4127499"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Historical Bitcoin versus current Ethereum execution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HISTORY OF BLOCKCHAIN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Blockchain started its journey back in 1991. 2009 - Satoshi Nakamoto introduce the first generation of blockchain - Bitcoin blockchain In 2013, a 19 years old Vitalik Buterin introduce the second generation of blockchain - Ethereum blockchain for smart contracts Since then, many blockchains have been created
Technical reading: Original history is retained as dated context. Bitcoin validates PoW block headers; Ethereum mainnet uses PoS while our local chain tests EVM contract semantics.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Bitcoin: SHA256d header target; Ethereum: PoS validators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SHA256d header target; Ethereum: PoS validators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history is retained as dated context. Bitcoin validates PoW block headers; Ethereum mainnet uses PoS while our local chain tests EVM contract semantics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2-05.png"/>
          <p:cNvPicPr>
            <a:picLocks noChangeAspect="1"/>
          </p:cNvPicPr>
          <p:nvPr/>
        </p:nvPicPr>
        <p:blipFill>
          <a:blip r:embed="rId2"/>
          <a:stretch>
            <a:fillRect/>
          </a:stretch>
        </p:blipFill>
        <p:spPr>
          <a:xfrm>
            <a:off x="1005840" y="2900326"/>
            <a:ext cx="5029200" cy="2291787"/>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 comparison with execution boundaries •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POPULAR BLOCKCHAIN PROJECTS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and Many More!
Technical reading: Compare Bitcoin, Ethereum and a local EVM by contract execution, chain identity and consensus. A compatible address alone does not establish the network.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Bitcoin: no Solidity EVM; Ethereum: EVM; Py-EVM: local execution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no Solidity EVM; Ethereum: EVM; Py-EVM: local execution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Compare Bitcoin, Ethereum and a local EVM by contract execution, chain identity and consensus. A compatible address alone does not establish the network.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3-09.png"/>
          <p:cNvPicPr>
            <a:picLocks noChangeAspect="1"/>
          </p:cNvPicPr>
          <p:nvPr/>
        </p:nvPicPr>
        <p:blipFill>
          <a:blip r:embed="rId2"/>
          <a:stretch>
            <a:fillRect/>
          </a:stretch>
        </p:blipFill>
        <p:spPr>
          <a:xfrm>
            <a:off x="1005840" y="2811779"/>
            <a:ext cx="2468880" cy="2468880"/>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23-14.png"/>
          <p:cNvPicPr>
            <a:picLocks noChangeAspect="1"/>
          </p:cNvPicPr>
          <p:nvPr/>
        </p:nvPicPr>
        <p:blipFill>
          <a:blip r:embed="rId3"/>
          <a:stretch>
            <a:fillRect/>
          </a:stretch>
        </p:blipFill>
        <p:spPr>
          <a:xfrm>
            <a:off x="3611880" y="2811779"/>
            <a:ext cx="2468880" cy="246888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23</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Web1 page versus wallet-backed state query • 24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static page can host a Web3 client. In Activity12 the page performs wallet chain checking and an eth_call against the manifest address.
Acceptance: static HTML → EIP-1193 wallet → eth_call → contract state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static HTML → EIP-1193 wallet → eth_call →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static HTML → EIP-1193 wallet → eth_call → contract state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static page can host a Web3 client. In Activity12 the page performs wallet chain checking and an eth_call against the manifest address.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dApp provider and network precondition • 25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THE EMERGENCE OF WEB3</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Emergence of Web3
Technical reading: A wallet-backed page is not valid until provider chain ID matches the current deployment. Reject mismatches before requesting contract readback.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BigInt(walletChainId) === BigInt(manifest.chainId)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BigInt(walletChainId) === BigInt(manifest.chainId)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wallet-backed page is not valid until provider chain ID matches the current deployment. Reject mismatches before requesting contract readback.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5-04.png"/>
          <p:cNvPicPr>
            <a:picLocks noChangeAspect="1"/>
          </p:cNvPicPr>
          <p:nvPr/>
        </p:nvPicPr>
        <p:blipFill>
          <a:blip r:embed="rId2"/>
          <a:stretch>
            <a:fillRect/>
          </a:stretch>
        </p:blipFill>
        <p:spPr>
          <a:xfrm>
            <a:off x="2034540" y="2560320"/>
            <a:ext cx="2971800"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Chain currency versus contract token units • 26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BLOCKCHAINS, CRYPTO AND TOKENS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Ethereum PoW Polygon PoS Bitcoin PoW Blockchains Protocol Ether LINK USTD WBTC OMG SAND MANA MATIC Blockchain Technology Blockchains Crypto and Tokens Solana PoH SOL ERC-20, ERC-721, ERC-1155
Current exercise: ETH is the Ethereum native currency used for gas; ERC20 credits are contract balances. A transfer of credits does not send native ETH.</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msg.value (wei) differs from balanceOf(holder) (token units)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msg.value (wei) differs from balanceOf(holder) (token units)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 is the Ethereum native currency used for gas; ERC20 credits are contract balances. A transfer of credits does not send native ETH.</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Native transfer versus ERC20 transfer • 27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CRYPTOCURRENCIES VS. TOKENS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It’s important not to confuse the terms “cryptocurrencies” and “tokens,” as there are fundamental differences that distinguish them. The biggest differentiation between the two is that cryptocurrencies have their own blockchains, whereas crypto tokens are built on an existing blockchain.
Technical reading: An ETH transaction uses value in wei. An ERC20 transfer encodes recipient and amount into calldata and can set transaction value to0.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 tx.value; ERC20: transfer(to, amount) calldata</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 tx.value; ERC20: transfer(to, amount) calldata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ETH transaction uses value in wei. An ERC20 transfer encodes recipient and amount into calldata and can set transaction value to0.</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7-05.png"/>
          <p:cNvPicPr>
            <a:picLocks noChangeAspect="1"/>
          </p:cNvPicPr>
          <p:nvPr/>
        </p:nvPicPr>
        <p:blipFill>
          <a:blip r:embed="rId2"/>
          <a:stretch>
            <a:fillRect/>
          </a:stretch>
        </p:blipFill>
        <p:spPr>
          <a:xfrm>
            <a:off x="1005840" y="2631757"/>
            <a:ext cx="5029200" cy="282892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interface and balance conservation • 28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TOKEN STANDARDS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There are several widely used token standards for creating crypto tokens, the majority of which have been built on top of Ethereum.  Two most popular Ethereum tokens are: Fungible tokens - ERC 20 standards. Non-Fungible tokens - ERC 721 standards.
Technical reading: The standard interface defines transfer, allowance and balance methods. The issuer, learner and spender balances must sum to totalSupply.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balanceOf(a)+balanceOf(b)+balanceOf(c) == totalSupply()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balanceOf(a)+balanceOf(b)+balanceOf(c) == totalSupply()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standard interface defines transfer, allowance and balance methods. The issuer, learner and spender balances must sum to totalSupply.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28-03.png"/>
          <p:cNvPicPr>
            <a:picLocks noChangeAspect="1"/>
          </p:cNvPicPr>
          <p:nvPr/>
        </p:nvPicPr>
        <p:blipFill>
          <a:blip r:embed="rId2"/>
          <a:stretch>
            <a:fillRect/>
          </a:stretch>
        </p:blipFill>
        <p:spPr>
          <a:xfrm>
            <a:off x="1005840" y="2830830"/>
            <a:ext cx="5029200" cy="243078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28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ERC721 ownership and receiver interface • 29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TOKEN STANDARDS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Token Standards
Technical reading: A unique token ID has an owner. safeTransferFrom also checks contract receiver compatibility; document validity requires separate issuer/digest/revocation controls.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supportsInterface(0x80ac58cd); ownerOf(tokenId)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supportsInterface(0x80ac58cd); ownerOf(tokenId)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unique token ID has an owner. safeTransferFrom also checks contract receiver compatibility; document validity requires separate issuer/digest/revocation contr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Bitcoin PoW scope and Solidity portability • 30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BITCOIN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Bitcoin (https://bitcoin.org/en/) was the first cryptocurrency created using Blockchain Technology and many people have perception that Bitcoin is Blockchain
Technical reading: Bitcoin source examples explain hash-linked PoW records. Solidity contracts run in an EVM environment; do not deploy our ABI to a Bitcoin address.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Bitcoin hash target is not Ethereum EVM contract execution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hash target is not Ethereum EVM contract execution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source examples explain hash-linked PoW records. Solidity contracts run in an EVM environment; do not deploy our ABI to a Bitcoin address.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0-03.png"/>
          <p:cNvPicPr>
            <a:picLocks noChangeAspect="1"/>
          </p:cNvPicPr>
          <p:nvPr/>
        </p:nvPicPr>
        <p:blipFill>
          <a:blip r:embed="rId2"/>
          <a:stretch>
            <a:fillRect/>
          </a:stretch>
        </p:blipFill>
        <p:spPr>
          <a:xfrm>
            <a:off x="1005840" y="2586297"/>
            <a:ext cx="5029200" cy="291984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30</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Wallet address and signing authority • 31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wallet address identifies a signer or recipient, not their legal identity. Distinguish provider accounts from on-chain role checks.
Acceptance: eth_accounts → address; require(msg.sender == issuer)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eth_accounts → address; require(msg.sender == issuer)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eth_accounts → address; require(msg.sender == issuer)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wallet address identifies a signer or recipient, not their legal identity. Distinguish provider accounts from on-chain role checks.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 block origin and ancestry verification • 32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THE BIRTH OF BLOCKCHAIN IN BITCOIN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In October 2008, Satoshi published the original whitepaper, describing his blueprint for a “A Peer-to-Peer Electronic Cash System.” In January 2009 he released version 0.1 of the source code and launched the cryptocurrency by mining the genesis block. Nakamoto was the first to solve the double-spending…
Technical reading: Historical Bitcoin context is scoped to header validation. Our linked-block exercise checks each parent digest without claiming distributed consensus.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hash(block_i.parent) == hash(block_(i-1))</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hash(block_i.parent) == hash(block_(i-1))</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Historical Bitcoin context is scoped to header validation. Our linked-block exercise checks each parent digest without claiming distributed consensus.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2-03.png"/>
          <p:cNvPicPr>
            <a:picLocks noChangeAspect="1"/>
          </p:cNvPicPr>
          <p:nvPr/>
        </p:nvPicPr>
        <p:blipFill>
          <a:blip r:embed="rId2"/>
          <a:stretch>
            <a:fillRect/>
          </a:stretch>
        </p:blipFill>
        <p:spPr>
          <a:xfrm>
            <a:off x="2425879" y="2560320"/>
            <a:ext cx="2189120"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Identity claims versus cryptographic evidence •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WHO IS SATOSHI NAKAMOTO?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name Satoshi Nakamoto is an alias used by the person or entity who created Bitcoin to hide their true identity. The founder of Bitcoin continued to work on the software project for about another year and a half before disengaging from active development.
Technical reading: A named inventor is historical context, not an application security assumption. Verify exact digest, holder and issuer rather than relying on a claimed identity.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certificate validity = issuer policy ∧ digest match ∧ !revoked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certificate validity = issuer policy ∧ digest match ∧ !revoked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named inventor is historical context, not an application security assumption. Verify exact digest, holder and issuer rather than relying on a claimed identity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3-04.png"/>
          <p:cNvPicPr>
            <a:picLocks noChangeAspect="1"/>
          </p:cNvPicPr>
          <p:nvPr/>
        </p:nvPicPr>
        <p:blipFill>
          <a:blip r:embed="rId2"/>
          <a:stretch>
            <a:fillRect/>
          </a:stretch>
        </p:blipFill>
        <p:spPr>
          <a:xfrm>
            <a:off x="1143000" y="2560320"/>
            <a:ext cx="4754880"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33</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Block fields and transaction inclusion • 34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WHAT IS A BLOCK?</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 block can be thought of like a link or node in a chain. It consists of at least 3 main components Data Hash Hash of previous block The data contains all of the records of the transactions Eg Buyer, seller, and the amount.
Technical reading: Read a block by number and identify hash, parentHash and transaction hashes. A block hash is not an application document digest.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w3.eth.get_block(receipt.blockNumber)["parentHash"]</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w3.eth.get_block(receipt.blockNumber)["parentHash"]</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Read a block by number and identify hash, parentHash and transaction hashes. A block hash is not an application document digest.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4-05.png"/>
          <p:cNvPicPr>
            <a:picLocks noChangeAspect="1"/>
          </p:cNvPicPr>
          <p:nvPr/>
        </p:nvPicPr>
        <p:blipFill>
          <a:blip r:embed="rId2"/>
          <a:stretch>
            <a:fillRect/>
          </a:stretch>
        </p:blipFill>
        <p:spPr>
          <a:xfrm>
            <a:off x="1005840" y="3279268"/>
            <a:ext cx="2468880" cy="1533903"/>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34-04.png"/>
          <p:cNvPicPr>
            <a:picLocks noChangeAspect="1"/>
          </p:cNvPicPr>
          <p:nvPr/>
        </p:nvPicPr>
        <p:blipFill>
          <a:blip r:embed="rId3"/>
          <a:stretch>
            <a:fillRect/>
          </a:stretch>
        </p:blipFill>
        <p:spPr>
          <a:xfrm>
            <a:off x="3611880" y="3425986"/>
            <a:ext cx="2468880" cy="1240467"/>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34</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Canonical evidence SHA256 • 35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Different JSON key orders must canonicalize to the same bytes. Our client sorts keys and removes extra separators before SHA256.
Acceptance: sha256(json.dumps(mock,sort_keys=True,separators=(",",":")).encode())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sha256(json.dumps(mock,sort_keys=True,separators=(",",":")).encode())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sha256(json.dumps(mock,sort_keys=True,separators=(",",":")).encode())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Different JSON key orders must canonicalize to the same bytes. Our client sorts keys and removes extra separators before SHA256.</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Hash output width and changed input • 36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HASH FUNCTION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 hash function is any function that can be used to map data of arbitrary size onto data of a fixed size
Technical reading: SHA256 returns32 bytes. One changed synthetic record changes the digest; equal outputs are evidence of byte consistency, not physical authenticity.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len(digest) == 32; digest_old != digest_changed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len(digest) == 32; digest_old != digest_changed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SHA256 returns32 bytes. One changed synthetic record changes the digest; equal outputs are evidence of byte consistency, not physical authenticity.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6-03.png"/>
          <p:cNvPicPr>
            <a:picLocks noChangeAspect="1"/>
          </p:cNvPicPr>
          <p:nvPr/>
        </p:nvPicPr>
        <p:blipFill>
          <a:blip r:embed="rId2"/>
          <a:stretch>
            <a:fillRect/>
          </a:stretch>
        </p:blipFill>
        <p:spPr>
          <a:xfrm>
            <a:off x="1324528" y="2560320"/>
            <a:ext cx="4391822"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SHA256 bytes versus hex encoding • 37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SHA-256 HASHING  FUNCTION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SHA (Secure Hash Algorithm) is the one used in bitcoin and most blockchains. SHA-256 algorithm generates an almost-unique, fixed size 256-bit (32-byte) hash. This makes it suitable for password validation, challenge hash authentication, anti-tamper, digital signatures. File SHA 256 Hash value
Technical reading: A32-byte digest becomes64 hexadecimal characters. Solidity bytes32 accepts the bytes, not an unpadded human phrase.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digest.hex():64 chars; bytes32 digest:32 bytes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digest.hex():64 chars; bytes32 digest:32 bytes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A32-byte digest becomes64 hexadecimal characters. Solidity bytes32 accepts the bytes, not an unpadded human phrase.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7-03.png"/>
          <p:cNvPicPr>
            <a:picLocks noChangeAspect="1"/>
          </p:cNvPicPr>
          <p:nvPr/>
        </p:nvPicPr>
        <p:blipFill>
          <a:blip r:embed="rId2"/>
          <a:stretch>
            <a:fillRect/>
          </a:stretch>
        </p:blipFill>
        <p:spPr>
          <a:xfrm>
            <a:off x="1005840" y="3292593"/>
            <a:ext cx="5029200" cy="1507252"/>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Hash-generator evidence cross-check • 38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Use the supplied hash-generator example as an independent digest tool. Match the exact input bytes and hash algorithm; do not compare canonical JSON to formatted JSON bytes.
Acceptance: SHA256(canonical_bytes) == independently computed SHA256</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SHA256(canonical_bytes) == independently computed SHA256</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SHA256(canonical_bytes) == independently computed SHA256</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Use the supplied hash-generator example as an independent digest tool. Match the exact input bytes and hash algorithm; do not compare canonical JSON to formatte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Tamper detection across block links • 39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LINKING THE BLOCKS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To link up the blocks, each block will store the hash of the previous block.
Technical reading: Change an earlier block payload and recompute its digest. The next stored parent digest becomes inconsistent; recomputation alone does not authorize history rewrite.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recomputed_previous_hash != next_block.parent_hash</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recomputed_previous_hash != next_block.parent_hash</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Change an earlier block payload and recompute its digest. The next stored parent digest becomes inconsistent; recomputation alone does not authorize history rew</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39-05.png"/>
          <p:cNvPicPr>
            <a:picLocks noChangeAspect="1"/>
          </p:cNvPicPr>
          <p:nvPr/>
        </p:nvPicPr>
        <p:blipFill>
          <a:blip r:embed="rId2"/>
          <a:stretch>
            <a:fillRect/>
          </a:stretch>
        </p:blipFill>
        <p:spPr>
          <a:xfrm>
            <a:off x="1005840" y="2782034"/>
            <a:ext cx="5029200" cy="252837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39</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Linked-block acceptance invariant • 40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Verify every block except the first references the previous digest. The demo models linkage, while actual EVM state changes are tested separately.
Acceptance: for i&gt;0: blocks[i].parent == hash(blocks[i-1])</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for i&gt;0: blocks[i].parent == hash(blocks[i-1])</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for i&gt;0: blocks[i].parent == hash(blocks[i-1])</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Verify every block except the first references the previous digest. The demo models linkage, while actual EVM state changes are tested separately.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 mining scoped to Bitcoin header models • 41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MINING</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To further mitigate any data tampering by hackers, blockchain requires validation of a new block in order to add the block to a blockchain, This is known as Proof of Work (PoW) In Bitcoin, it takes about 10 mins for each PoW.
Technical reading: Mining searches a nonce satisfying a target condition. It is a historical Bitcoin mechanism and is not Ethereum mainnet consensus after the Merge.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int(SHA256d(header),16) &lt; target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int(SHA256d(header),16) &lt; target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Mining searches a nonce satisfying a target condition. It is a historical Bitcoin mechanism and is not Ethereum mainnet consensus after the Merge.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41-05.png"/>
          <p:cNvPicPr>
            <a:picLocks noChangeAspect="1"/>
          </p:cNvPicPr>
          <p:nvPr/>
        </p:nvPicPr>
        <p:blipFill>
          <a:blip r:embed="rId2"/>
          <a:stretch>
            <a:fillRect/>
          </a:stretch>
        </p:blipFill>
        <p:spPr>
          <a:xfrm>
            <a:off x="1005840" y="2745273"/>
            <a:ext cx="5029200" cy="2601892"/>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41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Toy-chain model versus real EVM state • 42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toy blockchain content is retained as a linkage model. Local Solidity activity execution deploys actual bytecode; neither proves public-chain finality.
Acceptance: Toy model: linked bytes; Py-EVM: receipts + storage assertions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Toy model: linked bytes; Py-EVM: receipts + storage assertions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Toy model: linked bytes; Py-EVM: receipts + storage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toy blockchain content is retained as a linkage model. Local Solidity activity execution deploys actual bytecode; neither proves public-chain finality.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Consensus selection versus contract authorization • 43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CONSENSUS MECHANISM</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Public blockchains that operate as decentralized, self-regulating systems work on a global scale without any single authority. They involve contributions from hundreds of thousands of participants who work on verification and authentication of transactions occurring on the blockchain, and on the block…
Technical reading: Consensus chooses canonical blocks; contract authorization decides permitted state transitions. Valid inclusion does not imply a function is safe or a physical claim true.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block accepted ≠ caller authorized ≠ evidence authentic</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block accepted ≠ caller authorized ≠ evidence authentic</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Consensus chooses canonical blocks; contract authorization decides permitted state transitions. Valid inclusion does not imply a function is safe or a physical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 and PoS distinct acceptance mechanisms • 44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CONSENSUS MECHANISMS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Consensus Mechanisms
Technical reading: Bitcoin PoW measures header hash against target. Ethereum PoS relies on staked validators and protocol attestations. Py-EVM exercises neither distributed consensus path.</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Bitcoin: hash&lt;target; Ethereum: validators; local: execution only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hash&lt;target; Ethereum: validators; local: execution only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Bitcoin PoW measures header hash against target. Ethereum PoS relies on staked validators and protocol attestations. Py-EVM exercises neither distributed consen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Nonce search and target probability • 45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PROOF OF WORK (POW)</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Blockchains use Proof-of-Work, or PoW,  consensus algorithms to elect a leader who will decide the contents of the next block. This algorithm is used to confirm transactions and produce new blocks to the chain.
Technical reading: For a toy target requiring4 leading hex zeros, each trial has probability1/16^4. Expected trials65536 is a model, not a live difficulty claim.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P(success)=16^-4; E[trials]=65536</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P(success)=16^-4; E[trials]=65536</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For a toy target requiring4 leading hex zeros, each trial has probability1/16^4. Expected trials65536 is a model, not a live difficulty claim.</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45-03.png"/>
          <p:cNvPicPr>
            <a:picLocks noChangeAspect="1"/>
          </p:cNvPicPr>
          <p:nvPr/>
        </p:nvPicPr>
        <p:blipFill>
          <a:blip r:embed="rId2"/>
          <a:stretch>
            <a:fillRect/>
          </a:stretch>
        </p:blipFill>
        <p:spPr>
          <a:xfrm>
            <a:off x="1143000" y="2560320"/>
            <a:ext cx="4754880"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45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 role and local-test limitation • 46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PROOF OF STAKE (POS)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With proof-of-stake (POS), cryptocurrency owners validate block transactions based on the number of coins a validator stakes. Proof-of-stake reduces the amount of computational work needed to verify blocks and transactions Validators are then selected randomly to "mine," or validate the block. This system…
Technical reading: Ethereum mainnet uses proof of stake. Contract unit tests cannot prove validator liveness, slashing or finality, which require separate protocol evidence.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receipt.status validates execution; public finality is separate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receipt.status validates execution; public finality is separate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 mainnet uses proof of stake. Contract unit tests cannot prove validator liveness, slashing or finality, which require separate protocol evidence.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46-02.png"/>
          <p:cNvPicPr>
            <a:picLocks noChangeAspect="1"/>
          </p:cNvPicPr>
          <p:nvPr/>
        </p:nvPicPr>
        <p:blipFill>
          <a:blip r:embed="rId2"/>
          <a:stretch>
            <a:fillRect/>
          </a:stretch>
        </p:blipFill>
        <p:spPr>
          <a:xfrm>
            <a:off x="1005840" y="2564588"/>
            <a:ext cx="5029200" cy="2963263"/>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46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Target difficulty as a numeric threshold • 47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NONCE AND DIFFICULTY LEVEL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 nonce is an abbreviation for "number only used once," which, in the context of cryptocurrency mining, is a number added to a hashed—or encrypted—block in a blockchain that, when rehashed, meets the difficulty level restrictions. The nonce is the number that blockchain miners are solving for. When the…
Technical reading: Lower target implies fewer acceptable hashes and higher expected work. Increment nonce while keeping the modeled header fields fixed.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hash_int &lt; target; lower target → lower success probability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hash_int &lt; target; lower target → lower success probability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Lower target implies fewer acceptable hashes and higher expected work. Increment nonce while keeping the modeled header fields fixed.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47-03.png"/>
          <p:cNvPicPr>
            <a:picLocks noChangeAspect="1"/>
          </p:cNvPicPr>
          <p:nvPr/>
        </p:nvPicPr>
        <p:blipFill>
          <a:blip r:embed="rId2"/>
          <a:stretch>
            <a:fillRect/>
          </a:stretch>
        </p:blipFill>
        <p:spPr>
          <a:xfrm>
            <a:off x="1005840" y="3591758"/>
            <a:ext cx="5029200" cy="908923"/>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47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Deterministic nonce acceptance evidence • 48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toy nonce activity records nonce and resulting hash so another learner can independently verify the same target comparison. It is not an Ethereum mining task.
Acceptance: verify(header,nonce,target): computed_hash_int &lt; target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verify(header,nonce,target): computed_hash_int &lt; target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verify(header,nonce,target): computed_hash_int &lt; target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toy nonce activity records nonce and resulting hash so another learner can independently verify the same target comparison. It is not an Ethereum mining task.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Peer replication versus provider endpoint • 49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PEER TO PEER DISTRIBUTED NETWORK</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PoW is carried out on a Peer to Peer (P2P) distributed network. Whenever there is a new block, it will be send to every peer in the blockchain. The miners will validate the block via PoW. Once validated, the block will be added to the blockchain. The winning miner will be rewarded with bitcoins. In…
Technical reading: A blockchain peer and a JSONRPC provider serve different roles. Our Python client reads one provider; it does not start an Ethereum consensus peer.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client → HTTPProvider → RPC node; node ↔ peers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client → HTTPProvider → RPC node; node ↔ peers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blockchain peer and a JSONRPC provider serve different roles. Our Python client reads one provider; it does not start an Ethereum consensus peer.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49-03.png"/>
          <p:cNvPicPr>
            <a:picLocks noChangeAspect="1"/>
          </p:cNvPicPr>
          <p:nvPr/>
        </p:nvPicPr>
        <p:blipFill>
          <a:blip r:embed="rId2"/>
          <a:stretch>
            <a:fillRect/>
          </a:stretch>
        </p:blipFill>
        <p:spPr>
          <a:xfrm>
            <a:off x="1005840" y="3551359"/>
            <a:ext cx="2468880" cy="989721"/>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49-04.png"/>
          <p:cNvPicPr>
            <a:picLocks noChangeAspect="1"/>
          </p:cNvPicPr>
          <p:nvPr/>
        </p:nvPicPr>
        <p:blipFill>
          <a:blip r:embed="rId3"/>
          <a:stretch>
            <a:fillRect/>
          </a:stretch>
        </p:blipFill>
        <p:spPr>
          <a:xfrm>
            <a:off x="3611880" y="3508563"/>
            <a:ext cx="2468880" cy="1075312"/>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49</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Independent node-read reconciliation • 50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Compare chain ID and block hash before comparing state between two endpoints. A difference can indicate different networks or chain heads.
Acceptance: chainId_A == chainId_B; blockHash_A(n) == blockHash_B(n)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chainId_A == chainId_B; blockHash_A(n) == blockHash_B(n)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chainId_A == chainId_B; blockHash_A(n) == blockHash_B(n)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Compare chain ID and block hash before comparing state between two endpoints. A difference can indicate different networks or chain heads.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Committed history and mutable contract state • 51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IMMUTABLE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One of the attributes that the blockchain is often associated with is its immutability. If the data of a block is tampered, the hash will change, this will cause a mismatch in the hash. So a hacker would need to change the hashes for all the subsequent blocks to avoid being detected! This make the data…
Technical reading: Chain history can be append-only while smart-contract storage changes through authorized transactions. The current value is not the complete change history.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state getter = current value; event logs = historical transitions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state getter = current value; event logs = historical transitions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Chain history can be append-only while smart-contract storage changes through authorized transactions. The current value is not the complete change history.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1-03.png"/>
          <p:cNvPicPr>
            <a:picLocks noChangeAspect="1"/>
          </p:cNvPicPr>
          <p:nvPr/>
        </p:nvPicPr>
        <p:blipFill>
          <a:blip r:embed="rId2"/>
          <a:stretch>
            <a:fillRect/>
          </a:stretch>
        </p:blipFill>
        <p:spPr>
          <a:xfrm>
            <a:off x="1005840" y="2858083"/>
            <a:ext cx="5029200" cy="2376272"/>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Immutable deployment role versus mutable records • 52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immutable issuer remains fixed after construction. Registered records still change false→true under permitted transitions; language immutability is not all-state immutability.
Acceptance: issuer fixed; registered[digest]:false → true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issuer fixed; registered[digest]:false → true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issuer fixed; registered[digest]:false → true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immutable issuer remains fixed after construction. Registered records still change false→true under permitted transitions; language immutability is not all-stat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Industry evidence boundary for medicine custody • 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IMPACT OF BLOCKCHAIN ON INDUSTRY</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applications of blockchain technology are far beyond virtual currency and the financial industry.  This technology have disrupt  many sectors such as below:
Technical reading: A batch custody contract binds document bytes and permitted handovers. Physical inspection, sensor calibration and identity controls are distinct required evidence.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Batch{id,custodian,digest,stage} + authorized Handover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Batch{id,custodian,digest,stage} + authorized Handover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batch custody contract binds document bytes and permitted handovers. Physical inspection, sensor calibration and identity controls are distinct required evide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3-05.png"/>
          <p:cNvPicPr>
            <a:picLocks noChangeAspect="1"/>
          </p:cNvPicPr>
          <p:nvPr/>
        </p:nvPicPr>
        <p:blipFill>
          <a:blip r:embed="rId2"/>
          <a:stretch>
            <a:fillRect/>
          </a:stretch>
        </p:blipFill>
        <p:spPr>
          <a:xfrm>
            <a:off x="1005840" y="3115777"/>
            <a:ext cx="5029200" cy="1860884"/>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53</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Application choice from actor and evidence schema • 54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BLOCKCHAIN APPLICATIONS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Blockchain Applications
Technical reading: Select certificate or supply custody based on actor, record identifier and allowed transitions. Avoid storing personal records when a hash and reference suffice.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Certificate:{id,holder,digest,revoked}; Batch:{id,custodian,stage}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Certificate:{id,holder,digest,revoked}; Batch:{id,custodian,stage}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Select certificate or supply custody based on actor, record identifier and allowed transitions. Avoid storing personal records when a hash and reference suffice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4-04.png"/>
          <p:cNvPicPr>
            <a:picLocks noChangeAspect="1"/>
          </p:cNvPicPr>
          <p:nvPr/>
        </p:nvPicPr>
        <p:blipFill>
          <a:blip r:embed="rId2"/>
          <a:stretch>
            <a:fillRect/>
          </a:stretch>
        </p:blipFill>
        <p:spPr>
          <a:xfrm>
            <a:off x="1005840" y="3300613"/>
            <a:ext cx="2468880" cy="1491213"/>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54-06.png"/>
          <p:cNvPicPr>
            <a:picLocks noChangeAspect="1"/>
          </p:cNvPicPr>
          <p:nvPr/>
        </p:nvPicPr>
        <p:blipFill>
          <a:blip r:embed="rId3"/>
          <a:stretch>
            <a:fillRect/>
          </a:stretch>
        </p:blipFill>
        <p:spPr>
          <a:xfrm>
            <a:off x="3611880" y="2811779"/>
            <a:ext cx="2468880" cy="246888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54</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Escrow value conservation and release risk • 55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DEFI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Decentralized finance (DeFi) is an emerging financial technology based on secure distributed ledgers similar to those used by cryptocurrencies. The system removes the control banks and institutions have on money, financial products, and financial services.
Technical reading: The financial contract conserves0.1ETH from funding to release. It does not guarantee delivery or repay a lender; requirements must specify the settlement assumption.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contract_balance_before_release == 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contract_balance_before_release == 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financial contract conserves0.1ETH from funding to release. It does not guarantee delivery or repay a lender; requirements must specify the settlement assum</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5-05.png"/>
          <p:cNvPicPr>
            <a:picLocks noChangeAspect="1"/>
          </p:cNvPicPr>
          <p:nvPr/>
        </p:nvPicPr>
        <p:blipFill>
          <a:blip r:embed="rId2"/>
          <a:stretch>
            <a:fillRect/>
          </a:stretch>
        </p:blipFill>
        <p:spPr>
          <a:xfrm>
            <a:off x="1043940" y="2560320"/>
            <a:ext cx="4952999" cy="297179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Financial model assumptions instead of market-size claims • 56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DEFI MARKET SIZE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https://www.defipulse.com/
Technical reading: Original market-size figures are dated and not current forecasts. Analyze the actual escrow with value, authorization and gas cost under named assumptions.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0.1 ETH principal; fee = gasUsed × effectiveGasPrice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0.1 ETH principal; fee = gasUsed × effectiveGasPrice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market-size figures are dated and not current forecasts. Analyze the actual escrow with value, authorization and gas cost under named assumptions.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6-03.png"/>
          <p:cNvPicPr>
            <a:picLocks noChangeAspect="1"/>
          </p:cNvPicPr>
          <p:nvPr/>
        </p:nvPicPr>
        <p:blipFill>
          <a:blip r:embed="rId2"/>
          <a:stretch>
            <a:fillRect/>
          </a:stretch>
        </p:blipFill>
        <p:spPr>
          <a:xfrm>
            <a:off x="1005840" y="2566682"/>
            <a:ext cx="5029200" cy="295907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Collateral arithmetic and oracle trust • 57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DEFI LOAN AND LENDING PLATFORMS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https://loanscan.io/
Technical reading: A worked collateral rule uses explicit numbers and an oracle boundary. At collateral200 and loan100, ratio200%; a price drop to120 gives120% and may breach150% threshold.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collateral_ratio = collateral_value/debt; require(ratio&gt;=1.5)</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collateral_ratio = collateral_value/debt; require(ratio&gt;=1.5)</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worked collateral rule uses explicit numbers and an oracle boundary. At collateral200 and loan100, ratio200%; a price drop to120 gives120% and may breach150%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7-03.png"/>
          <p:cNvPicPr>
            <a:picLocks noChangeAspect="1"/>
          </p:cNvPicPr>
          <p:nvPr/>
        </p:nvPicPr>
        <p:blipFill>
          <a:blip r:embed="rId2"/>
          <a:stretch>
            <a:fillRect/>
          </a:stretch>
        </p:blipFill>
        <p:spPr>
          <a:xfrm>
            <a:off x="1005840" y="2629301"/>
            <a:ext cx="5029200" cy="2833836"/>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Token-set accounting and smallest units • 58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TOKENSETS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https://www.tokensets.com/
Technical reading: A token basket requires explicit balance and supply reconciliation. Our workshop credit transfer demonstrates conservation, not a tradeable investment return.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sum(holder balances) == totalSupply in smallest units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sum(holder balances) == totalSupply in smallest units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token basket requires explicit balance and supply reconciliation. Our workshop credit transfer demonstrates conservation, not a tradeable investment return.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8-03.png"/>
          <p:cNvPicPr>
            <a:picLocks noChangeAspect="1"/>
          </p:cNvPicPr>
          <p:nvPr/>
        </p:nvPicPr>
        <p:blipFill>
          <a:blip r:embed="rId2"/>
          <a:stretch>
            <a:fillRect/>
          </a:stretch>
        </p:blipFill>
        <p:spPr>
          <a:xfrm>
            <a:off x="1005840" y="2769274"/>
            <a:ext cx="5029200" cy="255389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Stable-value promise versus reserve evidence • 59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WHAT IS TERRA STABLECOINS?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What is Terra Stablecoins?
Technical reading: A token name does not guarantee redemption or price stability. A smart-contract test can check mint limits and balances, but off-chain reserves need external evidence.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on-chain totalSupply is not proof of off-chain reserve value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on-chain totalSupply is not proof of off-chain reserve value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token name does not guarantee redemption or price stability. A smart-contract test can check mint limits and balances, but off-chain reserves need external ev</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59-01.jpg"/>
          <p:cNvPicPr>
            <a:picLocks noChangeAspect="1"/>
          </p:cNvPicPr>
          <p:nvPr/>
        </p:nvPicPr>
        <p:blipFill>
          <a:blip r:embed="rId2"/>
          <a:stretch>
            <a:fillRect/>
          </a:stretch>
        </p:blipFill>
        <p:spPr>
          <a:xfrm>
            <a:off x="1539240" y="2560320"/>
            <a:ext cx="3962399" cy="297179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59</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DeFi implementation change-control record • 60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THE FUTURE OF DEFI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Decentralized Finance has already seen phenomenal growth over the last few years. However, there are over 1.7 billion unbanked people in the World excluded from the traditional financial system who could benefit from DeFi. Imagine if you are living in a developing country with high inflation. DeFi gives…
Technical reading: Treat original future statements as dated context. Compare a pinned compiler/dependency and tested invariant against a proposed change before release.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source hash + dependency lock + invariant test + receipt evidence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source hash + dependency lock + invariant test + receipt evidence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Treat original future statements as dated context. Compare a pinned compiler/dependency and tested invariant against a proposed change before release.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External-call risk and reentrancy verification • 61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PROBLEMS WITH DEFI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It’s hard for the average person to access DeFi and that's due to friction between the crypto and traditional finance ecosystem. . Another major issue facing DeFi are smart contract bugs. These could result in DeFi users losing access to a significant amount of funds and it’s even more worrying seeing…
Technical reading: A recursive callback probes whether withdrawal pays twice. The vault zeros balance before calling and guards entry; an actual adversarial probe must report blocked.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effects before interaction; ReenterProbe.blocked()==true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effects before interaction; ReenterProbe.blocked()==true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recursive callback probes whether withdrawal pays twice. The vault zeros balance before calling and guards entry; an actual adversarial probe must report bloc</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Exchange custody versus self-controlled signing • 62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CRYPTO EXCHANGES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https://coinmarketcap.com/rankings/exchanges/
Technical reading: A hosted exchange balance is a service ledger; a test-wallet balance is queried from the selected chain. Do not treat an exchange account as a contract signer.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w3.eth.get_balance(test_address) reads selected chain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w3.eth.get_balance(test_address) reads selected chain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hosted exchange balance is a service ledger; a test-wallet balance is queried from the selected chain. Do not treat an exchange account as a contract signer.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2-03.png"/>
          <p:cNvPicPr>
            <a:picLocks noChangeAspect="1"/>
          </p:cNvPicPr>
          <p:nvPr/>
        </p:nvPicPr>
        <p:blipFill>
          <a:blip r:embed="rId2"/>
          <a:stretch>
            <a:fillRect/>
          </a:stretch>
        </p:blipFill>
        <p:spPr>
          <a:xfrm>
            <a:off x="1005840" y="2653858"/>
            <a:ext cx="5029200" cy="2784723"/>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Hosted exchange API is outside test execution • 63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BINANCE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https://www.binance.com
Technical reading: Original Binance context is historical application material. The course does not require exchange API keys; test accounts are disposable local-chain addresses.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No exchange API credentials; local test accounts only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No exchange API credentials; local test accounts only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Binance context is historical application material. The course does not require exchange API keys; test accounts are disposable local-chain addresses.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3-03.png"/>
          <p:cNvPicPr>
            <a:picLocks noChangeAspect="1"/>
          </p:cNvPicPr>
          <p:nvPr/>
        </p:nvPicPr>
        <p:blipFill>
          <a:blip r:embed="rId2"/>
          <a:stretch>
            <a:fillRect/>
          </a:stretch>
        </p:blipFill>
        <p:spPr>
          <a:xfrm>
            <a:off x="1005840" y="2958360"/>
            <a:ext cx="5029200" cy="2175718"/>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63</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Custodial service transfer versus chain receipt • 64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COINBASE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https://www.coinbase.com/
Technical reading: A platform credit or pending withdrawal is not a chain transaction receipt. Verify actual selected-chain hash, status, block and recipient balance.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receipt.status==1 ∧ recipient balance delta correct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receipt.status==1 ∧ recipient balance delta correct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platform credit or pending withdrawal is not a chain transaction receipt. Verify actual selected-chain hash, status, block and recipient balance.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4-03.png"/>
          <p:cNvPicPr>
            <a:picLocks noChangeAspect="1"/>
          </p:cNvPicPr>
          <p:nvPr/>
        </p:nvPicPr>
        <p:blipFill>
          <a:blip r:embed="rId2"/>
          <a:stretch>
            <a:fillRect/>
          </a:stretch>
        </p:blipFill>
        <p:spPr>
          <a:xfrm>
            <a:off x="1005840" y="2613340"/>
            <a:ext cx="5029200" cy="286575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64</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Custody risk and application authorization • 65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GEMINI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https://www.gemini.com/share/gyx5ekvtx
Technical reading: A service account and contract issuer are different trust boundaries. Protect a certificate issuer role and reject outsider issuance regardless of service branding.</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reject(issue(outsider,id,digest), outsider)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reject(issue(outsider,id,digest), outsider)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service account and contract issuer are different trust boundaries. Protect a certificate issuer role and reject outsider issuance regardless of service brand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5-03.png"/>
          <p:cNvPicPr>
            <a:picLocks noChangeAspect="1"/>
          </p:cNvPicPr>
          <p:nvPr/>
        </p:nvPicPr>
        <p:blipFill>
          <a:blip r:embed="rId2"/>
          <a:stretch>
            <a:fillRect/>
          </a:stretch>
        </p:blipFill>
        <p:spPr>
          <a:xfrm>
            <a:off x="1005840" y="2780325"/>
            <a:ext cx="5029200" cy="253178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analysis with named failure control • 66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SOURCE VISUAL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Technical reading: Original incident images are historical evidence. Translate the failure into a concrete role/control question rather than a general security warning.</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Which caller may change custody? Which assertion rejects it?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Which caller may change custody? Which assertion rejects it?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incident images are historical evidence. Translate the failure into a concrete role/control question rather than a general security warning.</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6-01.jpg"/>
          <p:cNvPicPr>
            <a:picLocks noChangeAspect="1"/>
          </p:cNvPicPr>
          <p:nvPr/>
        </p:nvPicPr>
        <p:blipFill>
          <a:blip r:embed="rId2"/>
          <a:stretch>
            <a:fillRect/>
          </a:stretch>
        </p:blipFill>
        <p:spPr>
          <a:xfrm>
            <a:off x="2386064" y="2560320"/>
            <a:ext cx="2268750"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Historical exchange incident and credential boundary • 67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SOURCE: HTTPS://WWW.CHANNELNEWSASIA.COM/BUSINESS/SINGAP</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source: https://www.channelnewsasia.com/business/singapore-based-cryptocurrency-exchange-cryptocom-hacked-more-400-users-affected-2450671
Technical reading: The cited original incident remains a historical source. Our activities use no production credentials and test contract authorization with disposable accounts.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outsider handover attempt must revert without state change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outsider handover attempt must revert without state change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cited original incident remains a historical source. Our activities use no production credentials and test contract authorization with disposable accounts.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7-02.png"/>
          <p:cNvPicPr>
            <a:picLocks noChangeAspect="1"/>
          </p:cNvPicPr>
          <p:nvPr/>
        </p:nvPicPr>
        <p:blipFill>
          <a:blip r:embed="rId2"/>
          <a:stretch>
            <a:fillRect/>
          </a:stretch>
        </p:blipFill>
        <p:spPr>
          <a:xfrm>
            <a:off x="1005840" y="3296996"/>
            <a:ext cx="2468880" cy="1498446"/>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67-03.png"/>
          <p:cNvPicPr>
            <a:picLocks noChangeAspect="1"/>
          </p:cNvPicPr>
          <p:nvPr/>
        </p:nvPicPr>
        <p:blipFill>
          <a:blip r:embed="rId3"/>
          <a:stretch>
            <a:fillRect/>
          </a:stretch>
        </p:blipFill>
        <p:spPr>
          <a:xfrm>
            <a:off x="3611880" y="3012255"/>
            <a:ext cx="2468880" cy="206793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67</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Historical breach and withdrawal invariant • 68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SOURCE:" HTTPS://WWW.COINDESK.COM/MARKETS/2019/03/26/SI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source:" https://www.coindesk.com/markets/2019/03/26/singapore-based-crypto-exchange-dragonex-has-been-hacked/
Technical reading: The original DragonEx incident context is dated. The local vault test proves a specific recursive-call control, not broad immunity to exchange or key theft.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vault total balance stays1 ETH during0.1 ETH reentrant probe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vault total balance stays1 ETH during0.1 ETH reentrant probe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DragonEx incident context is dated. The local vault test proves a specific recursive-call control, not broad immunity to exchange or key theft.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68-02.png"/>
          <p:cNvPicPr>
            <a:picLocks noChangeAspect="1"/>
          </p:cNvPicPr>
          <p:nvPr/>
        </p:nvPicPr>
        <p:blipFill>
          <a:blip r:embed="rId2"/>
          <a:stretch>
            <a:fillRect/>
          </a:stretch>
        </p:blipFill>
        <p:spPr>
          <a:xfrm>
            <a:off x="1005840" y="2729984"/>
            <a:ext cx="5029200" cy="263247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68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Hash and anchor certificate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 K1, K2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register(digest) commits a SHA-256 evidence digest; issuer authorization and duplicate rejection define acceptance.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HashRegistry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HashRegistry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register(digest) commits a SHA-256 evidence digest; issuer authorization and duplicate rejection define acceptance.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01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HASH AND ANCHOR CERTIFICATE EVIDENCE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hash and anchor certificate evidence for an isolated test chain. Use Solidity 0.8.30 and web3.py 8.0.0 with EthereumTesterProvider backed by Py-EVM; also allow --rpc for an isolated unlocked local JSON-RPC test chain. Requirements: register(digest) commits a SHA-256 evidence digest; issuer authorization and duplicate rejection define acceptance. Read mock-data.json, derive a canonical SHA-256 digest where required, compile using pinned solc-js 0.8.30, deploy actual 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01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HASH AND ANCHOR CERTIFICATE EVIDENCE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168165 | tx c1d11e5b2a90052668…
Block 2 | gasUsed 45759 | tx 2b8baeccf18fe95d34…</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register(digest) commits a SHA-256 evidence digest; issuer authorization and duplicate rejection define acceptance.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buyer requirements to Ether escrow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 K1, K2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Created → funded → released; exactly 0.1 ETH is paid once and only the buyer authorizes release.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Escrow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Escrow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Created → funded → released; exactly 0.1 ETH is paid once and only the buyer authorizes release.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02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MAP BUYER REQUIREMENTS TO ETHER ESCROW</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map buyer requirements to ether escrow for an isolated test chain. Use Solidity 0.8.30 and web3.py 8.0.0 with EthereumTesterProvider backed by Py-EVM; also allow --rpc for an isolated unlocked local JSON-RPC test chain. Requirements: Created → funded → released; exactly 0.1 ETH is paid once and only the buyer authorizes release. Read mock-data.json, derive a canonical SHA-256 digest where required, compile using pinned solc-js 0.8.30, deploy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02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MAP BUYER REQUIREMENTS TO ETHER ESCROW</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actual 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277476 | tx 398e2614094364fed7…
Block 2 | gasUsed 43545 | tx 66652ebbbbff2da878…
Block 3 | gasUsed 36018 | tx 9120946f48867afdeb…</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Created → funded → released; exactly 0.1 ETH is paid once and only the buyer authorizes release.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EDITABLE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Escrow conserved Ether — worked state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Illustrative 0.1 ETH requirement. Fund and release state are asserted by Activity 02; balances exclude sender gas.</a:t>
            </a:r>
          </a:p>
        </p:txBody>
      </p:sp>
      <p:sp>
        <p:nvSpPr>
          <p:cNvPr id="12" name="TextBox 1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3" name="TextBox 1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4" name="TextBox 1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Ethereum Blockchain and Solidity Programming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A2, A3, K3</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0" name="TextBox 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1" name="TextBox 1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Ethereum account state and EVM execution • 70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Each deployment creates runtime code at an address. Read code, storage getters and receipt status from the same chain.
Acceptance: len(w3.eth.get_code(address)) &gt; 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len(w3.eth.get_code(address)) &gt; 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len(w3.eth.get_code(address)) &gt; 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Each deployment creates runtime code at an address. Read code, storage getters and receipt status from the same chain.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Ethereum protocol change versus compiler lock • 71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HISTORY OF ETHEREUM</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Ethereum was proposed in late 2013 by Vitalik Buterin Development was funded by an online crowdsale that took place between July and August 2014. Ethereum went live on 30 July 2015
Technical reading: Ethereum mainnet PoS is separate from the pinned Cancun target used in this exercise. Record protocol and toolchain assumptions rather than reuse dated network labels.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solc0.8.30 + evmVersion=cancun + chainId manifest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solc0.8.30 + evmVersion=cancun + chainId manifest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 mainnet PoS is separate from the pinned Cancun target used in this exercise. Record protocol and toolchain assumptions rather than reuse dated network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1-05.png"/>
          <p:cNvPicPr>
            <a:picLocks noChangeAspect="1"/>
          </p:cNvPicPr>
          <p:nvPr/>
        </p:nvPicPr>
        <p:blipFill>
          <a:blip r:embed="rId2"/>
          <a:stretch>
            <a:fillRect/>
          </a:stretch>
        </p:blipFill>
        <p:spPr>
          <a:xfrm>
            <a:off x="1005840" y="2631757"/>
            <a:ext cx="5029200" cy="282892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Transaction to opcode execution and state commit • 72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client encodes calldata, provider submits it and the EVM executes contract code. Wait for receipt and assert storage change.
Acceptance: calldata → EVM → receipt.status1 → getter assertion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calldata → EVM → receipt.status1 → getter assertion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calldata → EVM → receipt.status1 → getter assertion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client encodes calldata, provider submits it and the EVM executes contract code. Wait for receipt and assert storage change.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Smart contract precondition and transition • 73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SMART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Smart Contracts are sets of Business Rules in the system. All smart contracts are verified and signed by participants. When certain conditions are met, auto execute it with together the transaction Ethereum is the first blockchain platform that implement smart contracts in Dapp
Technical reading: An executable requirement names sender, value and state before modifying storage. A generic payable function without checks does not implement escrow policy.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require(msg.sender==buyer &amp;&amp; !funded,"buyer/state")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require(msg.sender==buyer &amp;&amp; !funded,"buyer/state")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executable requirement names sender, value and state before modifying storage. A generic payable function without checks does not implement escrow policy.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3-03.png"/>
          <p:cNvPicPr>
            <a:picLocks noChangeAspect="1"/>
          </p:cNvPicPr>
          <p:nvPr/>
        </p:nvPicPr>
        <p:blipFill>
          <a:blip r:embed="rId2"/>
          <a:stretch>
            <a:fillRect/>
          </a:stretch>
        </p:blipFill>
        <p:spPr>
          <a:xfrm>
            <a:off x="1005840" y="3351801"/>
            <a:ext cx="2468880" cy="1388836"/>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73-04.png"/>
          <p:cNvPicPr>
            <a:picLocks noChangeAspect="1"/>
          </p:cNvPicPr>
          <p:nvPr/>
        </p:nvPicPr>
        <p:blipFill>
          <a:blip r:embed="rId3"/>
          <a:stretch>
            <a:fillRect/>
          </a:stretch>
        </p:blipFill>
        <p:spPr>
          <a:xfrm>
            <a:off x="3611880" y="3354933"/>
            <a:ext cx="2468880" cy="1382572"/>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73</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Escrow state tuple defines accepted calls • 74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OVERVIEW OF SMART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Overview of Smart Contract
Technical reading: The state tuple buyer/seller/price/funded/released constrains which calls are valid. Inspect all fields when diagnosing a revert.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fund:(buyer,price,!funded); release:(buyer,funded,!released)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fund:(buyer,price,!funded); release:(buyer,funded,!released)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state tuple buyer/seller/price/funded/released constrains which calls are valid. Inspect all fields when diagnosing a revert.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4-00.jpg"/>
          <p:cNvPicPr>
            <a:picLocks noChangeAspect="1"/>
          </p:cNvPicPr>
          <p:nvPr/>
        </p:nvPicPr>
        <p:blipFill>
          <a:blip r:embed="rId2"/>
          <a:stretch>
            <a:fillRect/>
          </a:stretch>
        </p:blipFill>
        <p:spPr>
          <a:xfrm>
            <a:off x="1539240" y="2560320"/>
            <a:ext cx="3962399" cy="297179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74</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dApp frontend backend and evidence connection • 75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 DAPP HAS ITS BACKEND CODE RUNNING ON A DECENTRALIZED </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You can explore the DApps created on Ethereum here https://www.stateofthedapps.com/ What is a DApp
Technical reading: The static client reads an address/ABI manifest, checks wallet chain and performs eth_call. Provider availability and chain identity are named runtime controls.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index.html → deployment.json → wallet → CertificateNFT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index.html → deployment.json → wallet → CertificateNFT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static client reads an address/ABI manifest, checks wallet chain and performs eth_call. Provider availability and chain identity are named runtime controls.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5-03.png"/>
          <p:cNvPicPr>
            <a:picLocks noChangeAspect="1"/>
          </p:cNvPicPr>
          <p:nvPr/>
        </p:nvPicPr>
        <p:blipFill>
          <a:blip r:embed="rId2"/>
          <a:stretch>
            <a:fillRect/>
          </a:stretch>
        </p:blipFill>
        <p:spPr>
          <a:xfrm>
            <a:off x="1005840" y="2904336"/>
            <a:ext cx="5029200" cy="2283767"/>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Ether and wei integer conversion • 76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ETHER (ETH) UNIT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Ether can be broken down to smaller units:
Technical reading: Use Decimal-compatible string values with to_wei. A0.1ETH escrow requires100000000000000000wei; floats are excluded from token accounting.</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w3.to_wei("0.1","ether") == 10**17</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w3.to_wei("0.1","ether") == 10**17</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Use Decimal-compatible string values with to_wei. A0.1ETH escrow requires100000000000000000wei; floats are excluded from token accounting.</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6-03.png"/>
          <p:cNvPicPr>
            <a:picLocks noChangeAspect="1"/>
          </p:cNvPicPr>
          <p:nvPr/>
        </p:nvPicPr>
        <p:blipFill>
          <a:blip r:embed="rId2"/>
          <a:stretch>
            <a:fillRect/>
          </a:stretch>
        </p:blipFill>
        <p:spPr>
          <a:xfrm>
            <a:off x="1005840" y="2924069"/>
            <a:ext cx="5029200" cy="22443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Price assumption and fee calculation boundary • 77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ETHER PRICE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https://finance.yahoo.com/chart/ETH-USD
Technical reading: Original Ether market prices are dated. This course uses a fixed synthetic0.1ETH requirement and measured gas; no current market-price assertion is made.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fee_wei = receipt.gasUsed × receipt.effectiveGasPrice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fee_wei = receipt.gasUsed × receipt.effectiveGasPrice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Ether market prices are dated. This course uses a fixed synthetic0.1ETH requirement and measured gas; no current market-price assertion is made.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7-02.png"/>
          <p:cNvPicPr>
            <a:picLocks noChangeAspect="1"/>
          </p:cNvPicPr>
          <p:nvPr/>
        </p:nvPicPr>
        <p:blipFill>
          <a:blip r:embed="rId2"/>
          <a:stretch>
            <a:fillRect/>
          </a:stretch>
        </p:blipFill>
        <p:spPr>
          <a:xfrm>
            <a:off x="1005840" y="2749629"/>
            <a:ext cx="5029200" cy="259318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Explorer creation transaction and current code • 78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ETHERSCAN IS WEBSITE THAT MONITORS ALL THE ETHEREUM TRA</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https://etherscan.io/ Etherscan
Technical reading: An explorer page must match both selected network and deployed address. A creation receipt and nonempty runtime code establish deployment evidence.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chainId + contractAddress + receipt.status + get_code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chainId + contractAddress + receipt.status + get_code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explorer page must match both selected network and deployed address. A creation receipt and nonempty runtime code establish deployment evidence.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78-03.png"/>
          <p:cNvPicPr>
            <a:picLocks noChangeAspect="1"/>
          </p:cNvPicPr>
          <p:nvPr/>
        </p:nvPicPr>
        <p:blipFill>
          <a:blip r:embed="rId2"/>
          <a:stretch>
            <a:fillRect/>
          </a:stretch>
        </p:blipFill>
        <p:spPr>
          <a:xfrm>
            <a:off x="1222008" y="2560320"/>
            <a:ext cx="4596862"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78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Explorer record cross-check with provider • 79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Reconcile hash and block from explorer to provider readback. Public deployment uses Sepolia explorer; local receipts are not available on public Etherscan.
Acceptance: w3.eth.get_transaction_receipt(hash)["blockNumber"]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w3.eth.get_transaction_receipt(hash)["blockNumber"]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w3.eth.get_transaction_receipt(hash)["blockNumber"]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Reconcile hash and block from explorer to provider readback. Public deployment uses Sepolia explorer; local receipts are not available on public Etherscan.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Wallet signer versus current holder • 80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CRYPTO WALLET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 crypto wallet, such as MetaMask, stores your ETH and processes transactions on the Ethereum blockchain. A unique wallet address will be generated and you will use this address to complete transactions..
Technical reading: A signer approves transactions; ERC721 holder is current on-chain ownership. Token transfer changes ownership without proving a learner identity claim.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signer from eth_accounts; holder from ownerOf(id)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signer from eth_accounts; holder from ownerOf(id)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signer approves transactions; ERC721 holder is current on-chain ownership. Token transfer changes ownership without proving a learner identity claim.</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Injected EIP1193 provider authorization • 81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wallet exposes eth_requestAccounts under user approval. The page still must validate chain before reading or submitting to the manifest address.
Acceptance: ethereum.request({method:"eth_requestAccounts"})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ethereum.request({method:"eth_requestAccounts"})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ethereum.request({method:"eth_requestAccounts"})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wallet exposes eth_requestAccounts under user approval. The page still must validate chain before reading or submitting to the manifest address.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Wallet chain mismatch rejection • 82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METAMASK WALLET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https://metamask.io/
Technical reading: Compare BigInt chain identifiers to avoid decimal/hex display confusion. Block calls when wallet and deployment differ.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wallet0x7a69 == decimal31337; Sepolia11155111 differs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wallet0x7a69 == decimal31337; Sepolia11155111 differs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Compare BigInt chain identifiers to avoid decimal/hex display confusion. Block calls when wallet and deployment differ.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82-01.png"/>
          <p:cNvPicPr>
            <a:picLocks noChangeAspect="1"/>
          </p:cNvPicPr>
          <p:nvPr/>
        </p:nvPicPr>
        <p:blipFill>
          <a:blip r:embed="rId2"/>
          <a:stretch>
            <a:fillRect/>
          </a:stretch>
        </p:blipFill>
        <p:spPr>
          <a:xfrm>
            <a:off x="1177773" y="2560320"/>
            <a:ext cx="4685332"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82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Wallet installation provenance and test-only boundary • 83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Install from official MetaMask distribution and use a disposable local account. The activity page never receives or stores a signing secret.
Acceptance: EIP1193 provider injected; no private-key form in dApp</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EIP1193 provider injected; no private-key form in dApp</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EIP1193 provider injected; no private-key form in dApp</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Install from official MetaMask distribution and use a disposable local account. The activity page never receives or stores a signing secret.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Mainnet versus Sepolia deployment identity • 84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MAINNET VS TESNET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Mainnet is the term used to describe when a blockchain protocol is fully developed and deployed, meaning that cryptocurrency transactions are being broadcasted, verified, and recorded on a distributed ledger technology blockchain. A testnet is used by programmers and developers to test and troubleshoot…
Technical reading: Same address format can exist on different chains. Manifest chainId11155111 identifies Sepolia while local31337 identifies specified Anvil.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(chainId,address) together identify deployment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(chainId,address) together identify deployment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Same address format can exist on different chains. Manifest chainId11155111 identifies Sepolia while local31337 identifies specified Anvil.</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Retired testnets and selected Sepolia route • 85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ETHEREUM TESTNETS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Görli Kovan Rinkeby Ropsten ETH on testnets has no real value; therefore, there are no markets for testnet ETH. Since you need ETH to actually interact with Ethereum, most people get testnet ETH from faucets.
Current exercise: Rinkeby and Ropsten in original content are retired. The detailed public route uses Ethereum Sepolia and records chain ID plus successful receipt.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Sepolia chainId11155111; explorer sepolia.etherscan.io</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Sepolia chainId11155111; explorer sepolia.etherscan.io</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Rinkeby and Ropsten in original content are retired. The detailed public route uses Ethereum Sepolia and records chain ID plus successful receipt.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Faucet-funded test signing account • 86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ACTIVITY: GET TESTNET ETHERS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You can get Rinkeby testnets ethers from the faucets below https://faucet.rinkeby.io/ Send the testnet ethers to each other in the class
Current exercise: Testnet Ether pays execution fees but has no production-value claim. Verify funded account on the selected chain before deployment.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get_balance(test_account) sufficient for test fee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get_balance(test_account) sufficient for test fee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Testnet Ether pays execution fees but has no production-value claim. Verify funded account on the selected chain before deployment.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86-03.png"/>
          <p:cNvPicPr>
            <a:picLocks noChangeAspect="1"/>
          </p:cNvPicPr>
          <p:nvPr/>
        </p:nvPicPr>
        <p:blipFill>
          <a:blip r:embed="rId2"/>
          <a:stretch>
            <a:fillRect/>
          </a:stretch>
        </p:blipFill>
        <p:spPr>
          <a:xfrm>
            <a:off x="2658867" y="2560320"/>
            <a:ext cx="1723144"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86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Gas limit and gas used are different fields • 87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ETHEREUM GAS FEE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Ethereum Gas Fee
Technical reading: A3000000 gas limit is a cap; gasUsed is actual execution. Explicit gas avoids estimate-only claims but receipt status still detects execution revert.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gas=3000000; receipt.gasUsed; receipt.status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gas=3000000; receipt.gasUsed; receipt.status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A3000000 gas limit is a cap; gasUsed is actual execution. Explicit gas avoids estimate-only claims but receipt status still detects execution revert.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87-03.png"/>
          <p:cNvPicPr>
            <a:picLocks noChangeAspect="1"/>
          </p:cNvPicPr>
          <p:nvPr/>
        </p:nvPicPr>
        <p:blipFill>
          <a:blip r:embed="rId2"/>
          <a:stretch>
            <a:fillRect/>
          </a:stretch>
        </p:blipFill>
        <p:spPr>
          <a:xfrm>
            <a:off x="1005840" y="3052391"/>
            <a:ext cx="2468880" cy="1987657"/>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87-02.png"/>
          <p:cNvPicPr>
            <a:picLocks noChangeAspect="1"/>
          </p:cNvPicPr>
          <p:nvPr/>
        </p:nvPicPr>
        <p:blipFill>
          <a:blip r:embed="rId3"/>
          <a:stretch>
            <a:fillRect/>
          </a:stretch>
        </p:blipFill>
        <p:spPr>
          <a:xfrm>
            <a:off x="3828665" y="2560320"/>
            <a:ext cx="2035308" cy="297180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87</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Effective gas price and actual fee • 88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BEWARE OF ETHEREUM GAS PRICE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Beware of Ethereum Gas Price
Technical reading: Calculate paid fee with effectiveGasPrice, not a quoted maximum alone. Record chain/state/toolchain when comparing receipt gas.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fee = gasUsed × effectiveGasPrice; wei→ETH ÷10**18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fee = gasUsed × effectiveGasPrice; wei→ETH ÷10**18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Calculate paid fee with effectiveGasPrice, not a quoted maximum alone. Record chain/state/toolchain when comparing receipt gas.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88-02.png"/>
          <p:cNvPicPr>
            <a:picLocks noChangeAspect="1"/>
          </p:cNvPicPr>
          <p:nvPr/>
        </p:nvPicPr>
        <p:blipFill>
          <a:blip r:embed="rId2"/>
          <a:stretch>
            <a:fillRect/>
          </a:stretch>
        </p:blipFill>
        <p:spPr>
          <a:xfrm>
            <a:off x="1169461" y="2560320"/>
            <a:ext cx="4701957"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88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test accounts define role rejection • 89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CREATE A 2ND TEST ACCOUNT ON RINKEBY TEST NETWORK</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Send 5 ether from the 1st test account to 2nd test account Specify the gas price used Activity: Ether Transaction and Gas
Current exercise: Buyer/issuer and outsider must be distinct addresses. Use account0/1/2 on an isolated chain, never expose production signing material.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a,b,c = w3.eth.accounts[:3]; a != c</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a,b,c = w3.eth.accounts[:3]; a != c</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Buyer/issuer and outsider must be distinct addresses. Use account0/1/2 on an isolated chain, never expose production signing material.</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89-03.png"/>
          <p:cNvPicPr>
            <a:picLocks noChangeAspect="1"/>
          </p:cNvPicPr>
          <p:nvPr/>
        </p:nvPicPr>
        <p:blipFill>
          <a:blip r:embed="rId2"/>
          <a:stretch>
            <a:fillRect/>
          </a:stretch>
        </p:blipFill>
        <p:spPr>
          <a:xfrm>
            <a:off x="2650244" y="2560320"/>
            <a:ext cx="1740391"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89</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Transaction fields for runtime diagnosis • 90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TRANSACTION DETAILS ON ETHERSCAN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Transaction Details on Etherscan
Technical reading: from,to,value,input,nonce and block/status identify sender, target and effect. A transaction hash without status/readback does not prove the requirement.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from=a; to=contract; value=10**17; receipt.status=1</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from=a; to=contract; value=10**17; receipt.status=1</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from,to,value,input,nonce and block/status identify sender, target and effect. A transaction hash without status/readback does not prove the requirement.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90-02.png"/>
          <p:cNvPicPr>
            <a:picLocks noChangeAspect="1"/>
          </p:cNvPicPr>
          <p:nvPr/>
        </p:nvPicPr>
        <p:blipFill>
          <a:blip r:embed="rId2"/>
          <a:stretch>
            <a:fillRect/>
          </a:stretch>
        </p:blipFill>
        <p:spPr>
          <a:xfrm>
            <a:off x="1209792" y="2560320"/>
            <a:ext cx="4621295"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90</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Explorer monitoring evidence for deployed state • 91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ACTIVITY: ETHERSCAN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View all your test transactions on Rinkeby Etherscan https://rinkeby.etherscan.io/
Current exercise: Read creation or transfer receipt and then reconcile state getters. For NFT verify owner and revocation; for ERC20 verify recipient and totalSupply.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receipt → ownerOf / revoked or balanceOf / totalSupply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receipt → ownerOf / revoked or balanceOf / totalSupply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Read creation or transfer receipt and then reconcile state getters. For NFT verify owner and revocation; for ERC20 verify recipient and totalSupply.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91-03.png"/>
          <p:cNvPicPr>
            <a:picLocks noChangeAspect="1"/>
          </p:cNvPicPr>
          <p:nvPr/>
        </p:nvPicPr>
        <p:blipFill>
          <a:blip r:embed="rId2"/>
          <a:stretch>
            <a:fillRect/>
          </a:stretch>
        </p:blipFill>
        <p:spPr>
          <a:xfrm>
            <a:off x="1005840" y="3447082"/>
            <a:ext cx="2468880" cy="1198274"/>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091-04.png"/>
          <p:cNvPicPr>
            <a:picLocks noChangeAspect="1"/>
          </p:cNvPicPr>
          <p:nvPr/>
        </p:nvPicPr>
        <p:blipFill>
          <a:blip r:embed="rId3"/>
          <a:stretch>
            <a:fillRect/>
          </a:stretch>
        </p:blipFill>
        <p:spPr>
          <a:xfrm>
            <a:off x="3892377" y="2560320"/>
            <a:ext cx="1907885" cy="297180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91</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Solidity static types and state layout • 92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SOLIDITY</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Solidity is an object-oriented, high-level language for implementing smart contracts. Smart contracts are programs which govern the behaviour of accounts within the Ethereum state. Solidity was influenced by C++, Python and JavaScript and is designed to target the Ethereum Virtual Machine (EVM). Solidity…
Technical reading: The compiler checks parameter types before EVM bytecode exists. uint256 quantity, address supplier and bytes32 identifier encode distinct fields.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uint256 quantity; address supplier; bytes32 orderId;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uint256 quantity; address supplier; bytes32 orderId;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compiler checks parameter types before EVM bytecode exists. uint256 quantity, address supplier and bytes32 identifier encode distinct fields.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Remix compilation settings and output contract • 93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REMIX IDE FOR SOLIDITY</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Remix is a suite of tools to interact with the Ethereum blockchain in order to debug transactions, stored in this Git repository Remix IDE is a browser-based IDE built by the Ethereum development team. http://remix.ethereum.org
Technical reading: Remix must select the exact contract/compiler/optimizer/EVM settings. A source editor screenshot alone is not successful compilation or deployment.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compiler0.8.30; optimizer200; EVM Cancun; intended contract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compiler0.8.30; optimizer200; EVM Cancun; intended contract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Remix must select the exact contract/compiler/optimizer/EVM settings. A source editor screenshot alone is not successful compilation or deployment.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093-02.png"/>
          <p:cNvPicPr>
            <a:picLocks noChangeAspect="1"/>
          </p:cNvPicPr>
          <p:nvPr/>
        </p:nvPicPr>
        <p:blipFill>
          <a:blip r:embed="rId2"/>
          <a:stretch>
            <a:fillRect/>
          </a:stretch>
        </p:blipFill>
        <p:spPr>
          <a:xfrm>
            <a:off x="1005840" y="2836805"/>
            <a:ext cx="5029200" cy="241882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93</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Source file declaration order • 94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LAYOUT OF A SOLIDITY SOURCE FILE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Source files can contain an arbitrary number of contract definitions, import directives, pragma directives and struct, enum, function, error and constant variable definitions. A typical layout of solidity source file includes: SPDX License Identifier Pragmas Contract Comments - Single-line comments (//)…
Technical reading: SPDX label, pragma, imports and contract declaration express licensing, compiler range and dependency graph. Retain resolved lock versions for reproduction.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SPDX → pragma solidity ^0.8.30 → import → contract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SPDX → pragma solidity ^0.8.30 → import → contract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SPDX label, pragma, imports and contract declaration express licensing, compiler range and dependency graph. Retain resolved lock versions for reproduction.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Public storage getter and authorized setter • 95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SAMPLE SMART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Storage { uint256 number; function store(uint256 num) public { number = num; } function retrieve() public view returns (uint256){ return number; } // This is a comment }
Technical reading: A public mapping produces a getter. A protected register function adds state; public visibility is not itself write authorization.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mapping(bytes32=&gt;bool) public registered; issuer-only register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mapping(bytes32=&gt;bool) public registered; issuer-only register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public mapping produces a getter. A protected register function adds state; public visibility is not itself write authorization.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SPDX annotation does not establish runtime safety • 96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SPDX LICENSE IDENTIFIER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Since making source code available always touches on legal problems with regards to copyright, the Solidity compiler encourages the use of machine-readable SPDX license identifiers. Every source file should start with a comment indicating its license For example // SPDX-License-Identifier: MIT //…
Technical reading: MIT metadata identifies source licensing; it does not validate business rules. Runtime evidence remains tests and receipts, with license policy separately checked.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 SPDX-License-Identifier: MIT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 SPDX-License-Identifier: MIT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MIT metadata identifies source licensing; it does not validate business rules. Runtime evidence remains tests and receipts, with license policy separately check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Compiler pragma range versus executed version • 97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PRAGMAS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pragma keyword is used to enable certain compiler features or checks. A pragma directive is always local to a source file, so you have to add the pragma to all your files if you want to enable it in your whole project. If you import another file, the pragma from that file does not automatically apply…
Technical reading: ^0.8.30 permits compatible0.8.x versions. package lock pins executed solc0.8.30; record exact compiler and bytecode settings rather than pragma alone.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pragma ^0.8.30; solc.version() exact execution label</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pragma ^0.8.30; solc.version() exact execution label</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^0.8.30 permits compatible0.8.x versions. package lock pins executed solc0.8.30; record exact compiler and bytecode settings rather than pragma alone.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Contract constructor creates instance-specific roles • 98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Contracts in Solidity are similar to classes in object-oriented languages. Contracts in Solidity is a collection of code (its functions) and data (its state) Each contract can contain declarations of State Variables, Functions, Function Modifiers, Events, Struct Types and Enum Types. Contracts can inherit…
Technical reading: The contract deployment initializes issuer=msg.sender. Another deployment has its own storage and authority even when source is identical.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address public immutable issuer = msg.sender;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address public immutable issuer = msg.sender;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contract deployment initializes issuer=msg.sender. Another deployment has its own storage and authority even when source is identical.</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Contract members define the application surface • 99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STRUCTURE OF A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Contract in Solidity is similar to a Class in C++. A Contract have following properties. Constructor − A special function declared with constructor keyword which will be executed once per contract and is invoked when a contract is created. State Variables − Variables per Contract to store the state of the…
Technical reading: Constructor, immutable fields, mapping, event and external functions form the inspectable contract. Review every state-changing callable member.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issuer | registered | Registered | register(bytes32)</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issuer | registered | Registered | register(bytes32)</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Constructor, immutable fields, mapping, event and external functions form the inspectable contract. Review every state-changing callable member.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mutation and event emission order • 100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SOLIDITY CONTRACT STRUCTURE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0.8.6; &lt;import library&gt; contract ContractName { &lt;state variable declaration&gt; &lt;mapping&gt; &lt;constructor&gt; &lt;modifiers&gt; &lt;functions&gt; }
Technical reading: Register sets the digest true before emitting the evidence event. Current getter state and emitted history answer different questions.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registered[digest]=true; emit Registered(digest,msg.sender);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registered[digest]=true; emit Registered(digest,msg.sender);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Register sets the digest true before emitting the evidence event. Current getter state and emitted history answer different questions.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and getter acceptance example • 101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HELLO WORLD CONTRACT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Hello { uint256 public myNum; function store(uint256 _myNum) public { myNum = _myNum; } }
Technical reading: The original HelloWorld pattern becomes an actual compiled/deployed registry assertion. A successful constructor does not yet prove a protected write rule.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deploy(); register(digest); assert registered(digest)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deploy(); register(digest); assert registered(digest)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HelloWorld pattern becomes an actual compiled/deployed registry assertion. A successful constructor does not yet prove a protected write rule.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Visibility versus access-control precondition • 102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VISIBILITY QUANTIFIERS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External − External functions are meant to be called by other contracts. They cannot be used for internal call. To call external function within contract this.function_name() call is required. State variables cannot be marked as external. Public − Public functions/ Variables can be used both externally…
Technical reading: external/public expose ABI calls; private/internal constrain access paths but do not establish business identity. Use explicit role checks on protected external functions.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external register(...) + require(msg.sender==issuer)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external register(...) + require(msg.sender==issuer)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external/public expose ABI calls; private/internal constrain access paths but do not establish business identity. Use explicit role checks on protected external</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Compiler artifacts and error severity gate • 103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compiler returns diagnostics, ABI and bytecode. Any severity=error blocks artifact output; warnings must be reviewed rather than confused with runtime success.
Acceptance: errors.filter(e=&gt;e.severity==="error").length == 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errors.filter(e=&gt;e.severity==="error").length == 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errors.filter(e=&gt;e.severity==="error").length == 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compiler returns diagnostics, ABI and bytecode. Any severity=error blocks artifact output; warnings must be reviewed rather than confused with runtime succe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Canonical function signature and selector • 104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ABI encodes named types, not UI labels. ownerOf(uint256) produces a4-byte selector followed by a32-byte token ID word.
Acceptance: keccak256("ownerOf(uint256)")[0:4] + uint256(1)</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keccak256("ownerOf(uint256)")[0:4] + uint256(1)</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keccak256("ownerOf(uint256)")[0:4] + uint256(1)</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ABI encodes named types, not UI labels. ownerOf(uint256) produces a4-byte selector followed by a32-byte token ID word.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Constructor receipt and runtime code readback • 105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Wait for deployment receipt, require status1, use contractAddress and read runtime code. Address display or a pending wallet request is insufficient.
Acceptance: contractAddress = receipt.contractAddress; get_code(address)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contractAddress = receipt.contractAddress; get_code(address)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contractAddress = receipt.contractAddress; get_code(address)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Wait for deployment receipt, require status1, use contractAddress and read runtime code. Address display or a pending wallet request is insufficient.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 arguments and revert contract • 106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function accepts typed parameters and validates preconditions. release has no arguments because buyer, price and seller are fixed at construction.
Acceptance: function release() external {require(...); ...}</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function release() external {require(...); ...}</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function release() external {require(...); ...}</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function accepts typed parameters and validates preconditions. release has no arguments because buyer, price and seller are fixed at construction.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Numeric getter and quantity invariant • 107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STORE AND RETRIEVE NUMBER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Hello { uint256 public myNum; function store(uint256 _myNum) public { myNum = _myNum; } function retrieve() public view returns(uint256) { return myNum; } }
Technical reading: PurchaseOrder quantity is initialized positive and immutable. Read it after deployment; reject a zero-quantity constructor in an extension test.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constructor:require(q&gt;0); quantity=q; getter quantity()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constructor:require(q&gt;0); quantity=q; getter quantity()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PurchaseOrder quantity is initialized positive and immutable. Read it after deployment; reject a zero-quantity constructor in an extension test.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String labels versus bytes32 evidence identity • 108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STORE AND RETRIEVE STRING</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Hello { string public myString; function store(string memory _myString) public { myString = _myString; } function retrieve() public view returns(string memory) { return myString; } }
Technical reading: Human token name/symbol strings are labels. A document digest uses bytes32 and canonical bytes; string equality cannot replace evidence hashing.</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name():string; documentHash(id):bytes32</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name():string; documentHash(id):bytes32</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Human token name/symbol strings are labels. A document digest uses bytes32 and canonical bytes; string equality cannot replace evidence hashing.</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Constructor arguments and deployment ABI • 109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CONSTRUCTOR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Constructor is a special function declared using constructor keyword. When a contract is created, its constructor (a function declared with the constructor keyword) is executed once. Constructor is generally used to set the default values for state variables A constructor is optional. Only one constructor…
Technical reading: Escrow constructor requires seller address and wei price. ABI and argument order must match; a swapped/incorrect unit fails the business requirement.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constructor(address payable seller,uint256 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constructor(address payable seller,uint256 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Escrow constructor requires seller address and wei price. ABI and argument order must match; a swapped/incorrect unit fails the business requirement.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Constructor-set buyer authority • 110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CONTRACTOR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Hello { uint256 number; constructor() { number = 10; } function store(uint256 num) public { number = num; } function retrieve() public view returns (uint256){ return number; } }
Technical reading: Deployment sender becomes buyer. The seller cannot authorize release merely because they receive funds; buyer identity is a constructor-defined role.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buyer=msg.sender; seller=s; price=p;</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buyer=msg.sender; seller=s; price=p;</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Deployment sender becomes buyer. The seller cannot authorize release merely because they receive funds; buyer identity is a constructor-defined role.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Constructor negative requirement review • 111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ACTIVITY: CONSTRUCTOR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Create a constructor to assign a string value Hint: string myString; constructor() { myString = "Hello"; }
Technical reading: Test zero/invalid quantity and explicit seller assumptions before accepting generated code. Compare the requirement to constructor validation lines and getter evidence.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PurchaseOrder(q=25) accepted; q=0 rejected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PurchaseOrder(q=25) accepted; q=0 rejected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Test zero/invalid quantity and explicit seller assumptions before accepting generated code. Compare the requirement to constructor validation lines and getter 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Public-chain deployment requires selected provider • 112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DEPLOY SMART CONTRACT ON TESTNET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To deploy your smart contract on Rinkeby, change the environment from Javascript VM to Injected Web3. Each transaction will cost a gas fee. View the transactions on Rinkeby Etherscan
Current exercise: Injected MetaMask deployment must target Sepolia. Record actual creation receipt and explorer matching the network; local deployment evidence is separate.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provider chainId11155111; receipt.status1; contract code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provider chainId11155111; receipt.status1; contract code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Injected MetaMask deployment must target Sepolia. Record actual creation receipt and explorer matching the network; local deployment evidence is separate.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12-02.png"/>
          <p:cNvPicPr>
            <a:picLocks noChangeAspect="1"/>
          </p:cNvPicPr>
          <p:nvPr/>
        </p:nvPicPr>
        <p:blipFill>
          <a:blip r:embed="rId2"/>
          <a:stretch>
            <a:fillRect/>
          </a:stretch>
        </p:blipFill>
        <p:spPr>
          <a:xfrm>
            <a:off x="2641347" y="2560320"/>
            <a:ext cx="1758185"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112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Sepolia manifest and source-verification settings • 113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ACTIVITY: DEPLOY CONTRACT TO TESTNET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Deploy the contract in previous constructor activity to Rinkeby testnet
Current exercise: Public source verification requires the same compiler, optimizer, EVM target, imports and constructor arguments used to deploy. Source text alone is not an artifact match.</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source hash + solc0.8.30 + optimizer200 + Cancun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source hash + solc0.8.30 + optimizer200 + Cancun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Public source verification requires the same compiler, optimizer, EVM target, imports and constructor arguments used to deploy. Source text alone is not an arti</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Value types and integer-unit assertions • 114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SIMPLE DATA TYPES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String Integers (int or uint) Bool Address Bytes Data Types Complex Data Types Array Struct Enum Mapping
Technical reading: address, uint256, bool and bytes32 carry different semantics. Token units and Ether wei are integers; boolean states encode acceptance, not arbitrary text.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quantity:uint256; funded:bool; digest:bytes32; issuer:address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quantity:uint256; funded:bool; digest:bytes32; issuer:address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address, uint256, bool and bytes32 carry different semantics. Token units and Ether wei are integers; boolean states encode acceptance, not arbitrary text.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Constant versus immutable parameter decision • 115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CONSTANT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&gt;=0.7.0 &lt;0.9.0; contract MyContract { string public constant myString= "Hello"; }
Technical reading: A constant is fixed in source while immutable is initialized during deployment. Choose immutable for seller/price so each test instance captures its requirement.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constant fixed literal; immutable assigned at constructor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constant fixed literal; immutable assigned at constructor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constant is fixed in source while immutable is initialized during deployment. Choose immutable for seller/price so each test instance captures its requirement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state values and getter comparison • 116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SIMPLE DATA TYPES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&gt;=0.7.0 &lt;0.9.0; contract MyContract { string public myString = "myString"; bool public myBool = true; int public myInt = 1; uint public myUint = 1; uint8 public mUint8 = 8; uint256 public myUint265 = 9999; }
Technical reading: Enums compile to bounded integer state. PurchaseOrder exposes Created0,Accepted1,Delivered2; compare exact values after each authorized transition.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state()==0 → accept →1 → deliver →2</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state()==0 → accept →1 → deliver →2</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Enums compile to bounded integer state. PurchaseOrder exposes Created0,Accepted1,Delivered2; compare exact values after each authorized transition.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Mapping default and populated entry • 117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missing registry digest reads false. A missing SupplyVerify batch custodian reads zero address; creation checks this before establishing ownership.
Acceptance: registered[newDigest]==false; batches[id].custodian==0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registered[newDigest]==false; batches[id].custodian==0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registered[newDigest]==false; batches[id].custodian==0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missing registry digest reads false. A missing SupplyVerify batch custodian reads zero address; creation checks this before establishing ownership.</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Mapping update and independent evidence keys • 118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MAPPING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0.8.6; contract Hello { mapping(string =&gt; uint256) public person; function addPerson(string memory _name, uint256 _age) public { person[_name] = _age; } }
Technical reading: Different digest keys address different mapping entries. Register one and verify another remains false to detect accidental global-state logic.</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registered[digestA]=true; registered[digestB]==false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registered[digestA]=true; registered[digestB]==false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Different digest keys address different mapping entries. Register one and verify another remains false to detect accidental global-state logic.</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Duplicate mapping write rejection • 119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ACTIVITY: MAPPING</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Create a mapping to people count to Person struct and to keep track of the people Hint: struct Person { uint _id; string _firstname; string _lastname; } uint256 public peopleCount = 0; mapping(uint =&gt; Person) public people;
Technical reading: A repeated registration fails before state mutation. Explicit uniqueness prevents duplicate evidence records from masquerading as new history.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require(!registered[digest],"duplicate")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require(!registered[digest],"duplicate")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repeated registration fails before state mutation. Explicit uniqueness prevents duplicate evidence records from masquerading as new history.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Global msg.sender and msg.value boundaries • 120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IN SOLIDITY THERE ARE SPECIAL VARIABLES AND FUNCTIONS W</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They can also be used to assist with error handling, employ mathematical and cryptographic functions, and present information about contract addresses and the contracts themselves. Common global variables are: msg gas tx block Global Variables
Technical reading: msg.sender identifies direct caller; msg.value is native Ether in the call. Require both buyer and exact price when funding; never use tx.origin authorization.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msg.sender==buyer &amp;&amp; msg.value==price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msg.sender==buyer &amp;&amp; msg.value==price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msg.sender identifies direct caller; msg.value is native Ether in the call. Require both buyer and exact price when funding; never use tx.origin authorization.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Block timestamp evidence limitation • 121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BLOCKHASH (UINT BLOCKNUMBER) RETURNS (BYTES32) - HASH 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block.coinbase (address payable) = Current block miner's address. block.difficulty (uint) - current block difficulty. block.gaslimit (uint) - Current block gaslimit. block.number (uint) - Current block number. block.timestamp - Current block timestamp as seconds since unix epoch. gasleft() returns…
Technical reading: EventLedger records block.timestamp from the execution environment. It is a chain timestamp, not a trusted physical inspection timestamp or arbitrary off-chain clock.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emit Evidence(id,digest,block.timestamp)</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emit Evidence(id,digest,block.timestamp)</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EventLedger records block.timestamp from the execution environment. It is a chain timestamp, not a trusted physical inspection timestamp or arbitrary off-chain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Payable funding and integer Ether amount • 122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GLOBAL VARIABLE AND PAYABLE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&gt;=0.6.6 &lt;0.9.0; contract FundMe { mapping(address =&gt; uint256) public addrToAmt; function fund() public payable { addrToAmt[msg.sender] += msg.value; } }
Technical reading: payable permits receiving Ether but does not constrain sender/amount/state. fund separately requires buyer, not-funded and exact wei price.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function fund() external payable; require(msg.value==price)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function fund() external payable; require(msg.value==price)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payable permits receiving Ether but does not constrain sender/amount/state. fund separately requires buyer, not-funded and exact wei price.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modifier policy versus generated syntax • 123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modifier can centralize checks, but each protected external function must actually apply it. Review call surfaces against the issuer-only policy.
Acceptance: modifier onlyIssuer(){require(msg.sender==issuer);_;}</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modifier onlyIssuer(){require(msg.sender==issuer);_;}</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modifier onlyIssuer(){require(msg.sender==issuer);_;}</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modifier can centralize checks, but each protected external function must actually apply it. Review call surfaces against the issuer-only policy.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Modifier omission creates a specific defect • 124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FUNCTION MODIFIER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MIT pragma solidity &gt;=0.6.6 &lt;0.9.0; contract FundMe { mapping(address =&gt; uint256) public addrToAmt; address public owner; constructor() { owner = msg.sender; } modifier onlyOwner { require(msg.sender == owner); _; } function fund() public payable onlyOwner {…
Technical reading: An omitted modifier on revoke permits unauthorized validity changes. Add a failing outsider revocation test before accepting a generated refactor.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revoke(id) must enforce onlyIssuer or equivalent require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revoke(id) must enforce onlyIssuer or equivalent require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omitted modifier on revoke permits unauthorized validity changes. Add a failing outsider revocation test before accepting a generated refactor.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Role test before modifier refactor • 125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ACTIVITY: FUNCTION MODIFIER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Add a function modifier to the previous activity on mapping that only the owner can add person to the lis. Hint: mapping(uint =&gt; Person) public people; uint256 public peopleCount; address owner; modifier onlyOwner { require(msg.sender == owner); _; } constructor() { owner = msg.sender; }
Technical reading: Refactor a repeated issuer require into a modifier and keep the same positive/negative assertions. Syntax improvement must not change the access policy.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issuer issue accepted; outsider issue rejected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issuer issue accepted; outsider issue rejected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Refactor a repeated issuer require into a modifier and keep the same positive/negative assertions. Syntax improvement must not change the access policy.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transfer function and recipient effect • 126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THE TRANSFER() FUNCTION OF THE ERC20 STANDARD IS USED 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As per the standard, the transfer() function must emit the Transfer event on a successful transferal of tokens. The transaction should revert if msg.sender does not have enough tokens to spend. A transfer of a 0 (zero) must also be treated as a valid transfer, and must log the Transfer event. The address…
Technical reading: transfer deducts sender balance and adds recipient balance in smallest units. It returns success and emits Transfer through the standard base implementation.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transfer(b,500*10**18); balanceOf(b)==500*10**18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transfer(b,500*10**18); balanceOf(b)==500*10**18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transfer deducts sender balance and adds recipient balance in smallest units. It returns success and emits Transfer through the standard base implementation.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 external transfer versus ERC20 method • 127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TRANSFER FUNCTION DEMO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 SPDX-License-Identifier: MIT pragma solidity &gt;=0.6.6 &lt;0.9.0; contract Token { mapping(address =&gt; uint256) public balances; address payable funder; address owner; constructor(address payable _funder)  { funder = _funder; owner = msg.sender; } modifier onlyOwner { require(msg.sender == owner); _; }…
Technical reading: seller.call{value:price} sends native Ether. ERC20 transfer changes token balances. Apply checks-effects-interactions around Ether callbacks and test actual recipient effects.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ETH:call{value:price}; token:transfer(to,amount)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ETH:call{value:price}; token:transfer(to,amount)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seller.call{value:price} sends native Ether. ERC20 transfer changes token balances. Apply checks-effects-interactions around Ether callbacks and test actual rec</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Token transfer negative balance test • 128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ACTIVITY: TRANSFER FUNCTION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Add a SellToken function when owner sell the token Hint: function sellToken() public payable { balances[msg.sender] -= 1; payable(owner).transfer(msg.value); }
Technical reading: After learner receives500 and delegates20, their480 balance cannot support501 transfer. Rejection must be an EVM revert, not an RPC/ABI error.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reject(transfer(a,501*10**18), learner)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reject(transfer(a,501*10**18), learner)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After learner receives500 and delegates20, their480 balance cannot support501 transfer. Rejection must be an EVM revert, not an RPC/ABI error.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Inherited ERC721 receiver checks • 129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INHERITANCE IS A WAY TO EXTEND FUNCTIONALITY OF A CONTR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 derived contract can access all non-private members including internal methods and state variables. But using this is not allowed. Inheritance Syntax: contract MyToken is ERC20Token Inheritance
Technical reading: CertificateNFT inherits the standard ERC721 implementation. Safe mint to an EOA succeeds; contract recipients must satisfy onERC721Received before mint acceptance.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CertificateNFT is ERC721; _safeMint(learner,id)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CertificateNFT is ERC721; _safeMint(learner,id)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CertificateNFT inherits the standard ERC721 implementation. Safe mint to an EOA succeeds; contract recipients must satisfy onERC721Received before mint acceptan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pinned base and total supply • 130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WorkshopToken inherits OpenZeppelin ERC20 version5.4.0 and mints one million credits once in constructor. Fixed source and lock establish the implementation.
Acceptance: _mint(msg.sender,1000000*10**decimals())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_mint(msg.sender,1000000*10**decimals())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_mint(msg.sender,1000000*10**decimals())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WorkshopToken inherits OpenZeppelin ERC20 version5.4.0 and mints one million credits once in constructor. Fixed source and lock establish the implementation.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transfer allowance state diagram • 131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HOW ERC20 TOKEN WORKS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This diagram illustrate the steps of how the process works. First an ERC20 token is published to the ethereum network The token is assigned a contract address and has an ABI An address that holds the token approves a contract to spend on its behalf The contract then sends the token to a receiving address
Technical reading: transfer is sender-controlled; transferFrom is spender-controlled with allowance. These are distinct authorization paths even with the same recipient and amount.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approve(c,20*unit) from b; transferFrom(b,c,20*unit) from c</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approve(c,20*unit) from b; transferFrom(b,c,20*unit) from c</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transfer is sender-controlled; transferFrom is spender-controlled with allowance. These are distinct authorization paths even with the same recipient and amount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31-03.png"/>
          <p:cNvPicPr>
            <a:picLocks noChangeAspect="1"/>
          </p:cNvPicPr>
          <p:nvPr/>
        </p:nvPicPr>
        <p:blipFill>
          <a:blip r:embed="rId2"/>
          <a:stretch>
            <a:fillRect/>
          </a:stretch>
        </p:blipFill>
        <p:spPr>
          <a:xfrm>
            <a:off x="1005840" y="3343167"/>
            <a:ext cx="5029200" cy="140610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131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standard interface readbacks • 132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HTTPS://EIPS.ETHEREUM.ORG/EIPS/EIP-20</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ERC20 Token
Technical reading: name, symbol and decimals are optional metadata conventions; totalSupply, balanceOf, transfer, allowance, approve and transferFrom implement the core token contract.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balanceOf(address); allowance(owner,spender); totalSupply()</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balanceOf(address); allowance(owner,spender); totalSupply()</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name, symbol and decimals are optional metadata conventions; totalSupply, balanceOf, transfer, allowance, approve and transferFrom implement the core token cont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32-02.png"/>
          <p:cNvPicPr>
            <a:picLocks noChangeAspect="1"/>
          </p:cNvPicPr>
          <p:nvPr/>
        </p:nvPicPr>
        <p:blipFill>
          <a:blip r:embed="rId2"/>
          <a:stretch>
            <a:fillRect/>
          </a:stretch>
        </p:blipFill>
        <p:spPr>
          <a:xfrm>
            <a:off x="1005840" y="3146219"/>
            <a:ext cx="5029200" cy="180000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132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supply and smallest-unit conversion • 133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TOTALSUPPLY() - RETURNS CURRENT TOTAL NUMBER OF TOKENS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balanceOf() - Returns current balance of specified account allowance() - Returns remaining number of tokens allowed to be transferred from one specific account to another specific account transfer() - Transfers tokens from the owner to specified target account transferFrom() - Transfers tokens from one…
Technical reading: totalSupply stores one million multiplied by10^18. Display units divide by decimals, but client assertions operate on integers.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totalSupply()==1000000*10**18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totalSupply()==1000000*10**18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totalSupply stores one million multiplied by10^18. Display units divide by decimals, but client assertions operate on integers.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allowance spending invariant • 134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TOTSUPPLY - TOTAL NUMBER OF TOKENS IN CIRCULATION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name - Descriptive token name decimals - Number of decimals to use when displaying token amounts symbol - Short identifier balances - Current balance of each participating account, mapped to the account’s address allowed - Number of tokens authorized to transfer between accounts, mapped to sender’s…
Technical reading: After approving20 and spending20, allowance is0. Owner balance decreases by20, recipient increases by20 and totalSupply stays unchanged.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allowance(b,c)==0; balanceOf(c)==20*10**18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allowance(b,c)==0; balanceOf(c)==20*10**18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After approving20 and spending20, allowance is0. Owner balance decreases by20, recipient increases by20 and totalSupply stays unchanged.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OpenZeppelin dependency resolved from lock • 135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OPENZEPPELIN CONTRACTS (HTTPS://DOCS.OPENZEPPELIN.COM/)</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OpenZeppelin
Technical reading: Importing a package name alone is not reproducible. Every activity package pins OpenZeppelin5.4.0 and records solc version/settings in contract.json.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package-lock resolves @openzeppelin/contracts5.4.0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package-lock resolves @openzeppelin/contracts5.4.0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Importing a package name alone is not reproducible. Every activity package pins OpenZeppelin5.4.0 and records solc version/settings in contract.json.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35-02.png"/>
          <p:cNvPicPr>
            <a:picLocks noChangeAspect="1"/>
          </p:cNvPicPr>
          <p:nvPr/>
        </p:nvPicPr>
        <p:blipFill>
          <a:blip r:embed="rId2"/>
          <a:stretch>
            <a:fillRect/>
          </a:stretch>
        </p:blipFill>
        <p:spPr>
          <a:xfrm>
            <a:off x="1276248" y="2560320"/>
            <a:ext cx="4488382"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135</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source dependency and inherited methods • 136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HTTPS://GITHUB.COM/OPENZEPPELIN/OPENZEPPELIN-CONTRACTS/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OpenZeppelin Token Codes
Technical reading: The base ERC20 supplies balance, transfer and allowance checks. Review the imported implementation alongside the derived constructor; do not substitute a partial interface as executable code.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import ERC20; contract WorkshopToken is ERC20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import ERC20; contract WorkshopToken is ERC20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base ERC20 supplies balance, transfer and allowance checks. Review the imported implementation alongside the derived constructor; do not substitute a partia</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36-02.png"/>
          <p:cNvPicPr>
            <a:picLocks noChangeAspect="1"/>
          </p:cNvPicPr>
          <p:nvPr/>
        </p:nvPicPr>
        <p:blipFill>
          <a:blip r:embed="rId2"/>
          <a:stretch>
            <a:fillRect/>
          </a:stretch>
        </p:blipFill>
        <p:spPr>
          <a:xfrm>
            <a:off x="1005840" y="3093422"/>
            <a:ext cx="5029200" cy="1905595"/>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136</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Wizard-generated code and review gate • 137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generator may add minting/burning/admin options beyond requirements. Compare its actual constructor and public functions against the fixed-supply requirement before compilation.
Acceptance: Requirement:one constructor mint; no public mint function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Requirement:one constructor mint; no public mint function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Requirement:one constructor mint; no public mint function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generator may add minting/burning/admin options beyond requirements. Compare its actual constructor and public functions against the fixed-supply requirement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Generated Solidity compilation match • 138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Compile generated code with the same pinned import/compiler settings. Inspect ABI for unwanted authority surfaces rather than assuming generator output is safe.
Acceptance: ABI function list contains transfer/approve; no unrestricted mint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ABI function list contains transfer/approve; no unrestricted mint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ABI function list contains transfer/approve; no unrestricted mint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Compile generated code with the same pinned import/compiler settings. Inspect ABI for unwanted authority surfaces rather than assuming generator output is safe.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Sepolia constructor receipt • 139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DEPLOY THE ERC20 TOKEN SMART CONTRACT ON TESTNET VIA TH</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Deploy ERC20 Token on Testnet
Technical reading: Deploy WorkshopToken through the selected Sepolia wallet provider, then read totalSupply and deployer balance. Public receipt is a separate learner/assessment evidence requirement.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chainId11155111; constructor mint1e6 WSC; receipt.status1</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chainId11155111; constructor mint1e6 WSC; receipt.status1</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Deploy WorkshopToken through the selected Sepolia wallet provider, then read totalSupply and deployer balance. Public receipt is a separate learner/assessment 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39-02.png"/>
          <p:cNvPicPr>
            <a:picLocks noChangeAspect="1"/>
          </p:cNvPicPr>
          <p:nvPr/>
        </p:nvPicPr>
        <p:blipFill>
          <a:blip r:embed="rId2"/>
          <a:stretch>
            <a:fillRect/>
          </a:stretch>
        </p:blipFill>
        <p:spPr>
          <a:xfrm>
            <a:off x="2596402" y="2560320"/>
            <a:ext cx="1848075"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139</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Explorer network and current token address • 140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Use the actual Sepolia creation address for explorer/source checks. A token address copied from another chain or old deployment is not the current package instance.
Acceptance: sepolia.etherscan.io/address/&lt;current_contractAddress&gt;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sepolia.etherscan.io/address/&lt;current_contractAddress&gt;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sepolia.etherscan.io/address/&lt;current_contractAddress&gt;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Use the actual Sepolia creation address for explorer/source checks. A token address copied from another chain or old deployment is not the current package insta</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Wallet custom-token metadata readback • 141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IMPORT THE TOKENS TO THE METAMASK BY ENTERING THE CONTR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Import ERC20 Token to Metamask
Technical reading: Import the current contract address on the matching network. Wallet name/symbol/decimals should agree with chain getters; adding a token display does not mint tokens.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name=Workshop Credits; symbol=WSC; decimals=18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name=Workshop Credits; symbol=WSC; decimals=18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Import the current contract address on the matching network. Wallet name/symbol/decimals should agree with chain getters; adding a token display does not mint 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41-02.png"/>
          <p:cNvPicPr>
            <a:picLocks noChangeAspect="1"/>
          </p:cNvPicPr>
          <p:nvPr/>
        </p:nvPicPr>
        <p:blipFill>
          <a:blip r:embed="rId2"/>
          <a:stretch>
            <a:fillRect/>
          </a:stretch>
        </p:blipFill>
        <p:spPr>
          <a:xfrm>
            <a:off x="1356169" y="2560320"/>
            <a:ext cx="1768221" cy="2971800"/>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141-03.png"/>
          <p:cNvPicPr>
            <a:picLocks noChangeAspect="1"/>
          </p:cNvPicPr>
          <p:nvPr/>
        </p:nvPicPr>
        <p:blipFill>
          <a:blip r:embed="rId3"/>
          <a:stretch>
            <a:fillRect/>
          </a:stretch>
        </p:blipFill>
        <p:spPr>
          <a:xfrm>
            <a:off x="3952282" y="2560320"/>
            <a:ext cx="1788074" cy="297180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141</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Wallet token transfer and recipient balance • 142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After approving a token transfer, wait for its successful receipt and verify balanceOf on the recipient. A wallet pending state is not transfer acceptance.
Acceptance: balanceOf(recipient)_after - before ==500*10**18</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balanceOf(recipient)_after - before ==500*10**18</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balanceOf(recipient)_after - before ==500*10**18</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After approving a token transfer, wait for its successful receipt and verify balanceOf on the recipient. A wallet pending state is not transfer acceptance.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Retired-network generator correction • 143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Rinkeby/Ropsten generator instructions are historical. Use the supplied fixed-supply Solidity source and Sepolia/local routes with explicit network manifests.
Acceptance: Rinkeby/Ropsten retired; current exercise local or Sepolia</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Rinkeby/Ropsten retired; current exercise local or Sepolia</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Rinkeby/Ropsten retired; current exercise local or Sepolia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Rinkeby/Ropsten generator instructions are historical. Use the supplied fixed-supply Solidity source and Sepolia/local routes with explicit network man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Token display reconciliation across wallet and explorer • 144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ADD THE TOKENS TO YOUR METAMASK</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View your token transaction on testnet etherscan Transfer some of you tokens to other Transact ERC20 Token
Technical reading: Wallet balances are a display of contract state. Reconcile selected chain/address and integer balance getter before interpreting a display discrepancy.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walletChainId == manifest.chainId; current token address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walletChainId == manifest.chainId; current token address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Wallet balances are a display of contract state. Reconcile selected chain/address and integer balance getter before interpreting a display discrepancy.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44-02.png"/>
          <p:cNvPicPr>
            <a:picLocks noChangeAspect="1"/>
          </p:cNvPicPr>
          <p:nvPr/>
        </p:nvPicPr>
        <p:blipFill>
          <a:blip r:embed="rId2"/>
          <a:stretch>
            <a:fillRect/>
          </a:stretch>
        </p:blipFill>
        <p:spPr>
          <a:xfrm>
            <a:off x="1005840" y="3493494"/>
            <a:ext cx="2468880" cy="1105450"/>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144-03.png"/>
          <p:cNvPicPr>
            <a:picLocks noChangeAspect="1"/>
          </p:cNvPicPr>
          <p:nvPr/>
        </p:nvPicPr>
        <p:blipFill>
          <a:blip r:embed="rId3"/>
          <a:stretch>
            <a:fillRect/>
          </a:stretch>
        </p:blipFill>
        <p:spPr>
          <a:xfrm>
            <a:off x="3966909" y="2560320"/>
            <a:ext cx="1758820" cy="297180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144</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complete acceptance trace • 145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ACTIVITY: CREATE ERC20 TOKEN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Code a ERC-20 token smart contract on Remix Compile and deploy on Javascript VM Test out by transfer your own token from one account to another account Deploy the tokens on Ethereum testnet eg Rinkeby Check the token contract on Etherscan Import your tokens to your metamask wallet Transfer some of your…
Current exercise: Evidence covers fixed supply, sender/recipient balances, allowance spend and overdraft rejection. These assertions teach the original token creation/transfer topic through real EVM results.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1e6 supply;500 transfer;20 delegation;501 overdraft rejected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1e6 supply;500 transfer;20 delegation;501 overdraft rejected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Evidence covers fixed supply, sender/recipient balances, allowance spend and overdraft rejection. These assertions teach the original token creation/transfer to</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Compile and review a supplier purchase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A3, K3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enum state, immutable quantity and supplier-only transitions implement a business requirement trace.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PurchaseOrder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PurchaseOrder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enum state, immutable quantity and supplier-only transitions implement a business requirement trace.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03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COMPILE AND REVIEW A SUPPLIER PURCHASE ORDER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compile and review a supplier purchase order for an isolated test chain. Use Solidity 0.8.30 and web3.py 8.0.0 with EthereumTesterProvider backed by Py-EVM; also allow --rpc for an isolated unlocked local JSON-RPC test chain. Requirements: enum state, immutable quantity and supplier-only transitions implement a business requirement trace. Read mock-data.json, derive a canonical SHA-256 digest where required, compile using pinned solc-js 0.8.30, deploy actual 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03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COMPILE AND REVIEW A SUPPLIER PURCHASE ORDER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237595 | tx 1c1423931bc56bce2b…
Block 2 | gasUsed 26606 | tx 5b833f987666b84e6a…
Block 3 | gasUsed 26639 | tx a0b5f79d5181786af2…</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enum state, immutable quantity and supplier-only transitions implement a business requirement trace.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Issue and transfer ERC-20 workshop credits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A3, K3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ERC-20 balanceOf, transfer, approve and transferFrom preserve totalSupply with 18-decimal integer units.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WorkshopToken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WorkshopToken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ERC-20 balanceOf, transfer, approve and transferFrom preserve totalSupply with 18-decimal integer units.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04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ISSUE AND TRANSFER ERC-20 WORKSHOP CREDITS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issue and transfer erc-20 workshop credits for an isolated test chain. Use Solidity 0.8.30 and web3.py 8.0.0 with EthereumTesterProvider backed by Py-EVM; also allow --rpc for an isolated unlocked local JSON-RPC test chain. Requirements: ERC-20 balanceOf, transfer, approve and transferFrom preserve totalSupply with 18-decimal integer units. Read mock-data.json, derive a canonical SHA-256 digest where required, compile using pinned solc-js 0.8.30, deploy actual 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04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ISSUE AND TRANSFER ERC-20 WORKSHOP CREDITS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545252 | tx 8c8bfd3b53fe829d8f…
Block 2 | gasUsed 51625 | tx b412507a1dfe35a234…
Block 3 | gasUsed 46366 | tx 34d38332bce1b16750…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ERC-20 balanceOf, transfer, approve and transferFrom preserve totalSupply with 18-decimal integer units.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Issue and revoke ERC-721 course certificates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A3, K3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ERC-721 ownerOf and documentHash prove holder and document binding; revocation remains an explicit status.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CertificateNFT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CertificateNFT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ERC-721 ownerOf and documentHash prove holder and document binding; revocation remains an explicit status.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05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ISSUE AND REVOKE ERC-721 COURSE CERTIFICATES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issue and revoke erc-721 course certificates for an isolated test chain. Use Solidity 0.8.30 and web3.py 8.0.0 with EthereumTesterProvider backed by Py-EVM; also allow --rpc for an isolated unlocked local JSON-RPC test chain. Requirements: ERC-721 ownerOf and documentHash prove holder and document binding; revocation remains an explicit status. Read mock-data.json, derive a canonical SHA-256 digest where required, compile using pinned solc-js 0.8.30, deploy actual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05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ISSUE AND REVOKE ERC-721 COURSE CERTIFICATES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1062997 | tx f76b0b7602f1ca1ebd…
Block 2 | gasUsed 94344 | tx 3199aa7358abcfc3e2…
Block 3 | gasUsed 45897 | tx ef4c85b77545918477…</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ERC-721 ownerOf and documentHash prove holder and document binding; revocation remains an explicit status.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custody for pharmaceutical batches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A3, K3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Batch ID + evidence digest + custodian + stage create a custody state machine; unauthorized handover reverts.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SupplyVerify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SupplyVerify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Batch ID + evidence digest + custodian + stage create a custody state machine; unauthorized handover reverts.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06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TRACK CUSTODY FOR PHARMACEUTICAL BATCHES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track custody for pharmaceutical batches for an isolated test chain. Use Solidity 0.8.30 and web3.py 8.0.0 with EthereumTesterProvider backed by Py-EVM; also allow --rpc for an isolated unlocked local JSON-RPC test chain. Requirements: Batch ID + evidence digest + custodian + stage create a custody state machine; unauthorized handover reverts. Read mock-data.json, derive a canonical SHA-256 digest where required, compile using pinned solc-js 0.8.30, deploy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06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TRACK CUSTODY FOR PHARMACEUTICAL BATCHES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actual 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229544 | tx 4c54f3582eda8af375…
Block 2 | gasUsed 69185 | tx be58f122cb875f0cb7…
Block 3 | gasUsed 52092 | tx f86d3a97a16e19e8f8…</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Batch ID + evidence digest + custodian + stage create a custody state machine; unauthorized handover reverts.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EDITABLE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delegated transfer — integer-unit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One million credits with 18 decimals. 500 credits transferred, then 20 delegated. totalSupply stays one million.</a:t>
            </a:r>
          </a:p>
        </p:txBody>
      </p:sp>
      <p:sp>
        <p:nvSpPr>
          <p:cNvPr id="12" name="TextBox 1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3" name="TextBox 1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4" name="TextBox 1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Smart Contract Testing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A4, A5, K4</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9" name="TextBox 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0" name="TextBox 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1" name="TextBox 1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Provider node request boundary • 147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provider is the client’s transport, not the consensus network itself. Verify connectivity, chain identity and returned receipt/state on one endpoint.
Acceptance: w3.is_connected(); w3.eth.chain_id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w3.is_connected(); w3.eth.chain_id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w3.is_connected(); w3.eth.chain_id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provider is the client’s transport, not the consensus network itself. Verify connectivity, chain identity and returned receipt/state on one endpoint.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Web3js versus Python client API • 148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WEB3.JS IS A COLLECTION OF LIBRARIES THAT ALLOW YOU TO </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Web3.js
Technical reading: Original Web3js content is retained as context. The supplied executable client uses web3.py8, while the browser directly requests the EIP1193 provider.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Python:Web3(provider); browser:ethereum.request(...)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Python:Web3(provider); browser:ethereum.request(...)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Web3js content is retained as context. The supplied executable client uses web3.py8, while the browser directly requests the EIP1193 provider.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48-02.png"/>
          <p:cNvPicPr>
            <a:picLocks noChangeAspect="1"/>
          </p:cNvPicPr>
          <p:nvPr/>
        </p:nvPicPr>
        <p:blipFill>
          <a:blip r:embed="rId2"/>
          <a:stretch>
            <a:fillRect/>
          </a:stretch>
        </p:blipFill>
        <p:spPr>
          <a:xfrm>
            <a:off x="1005840" y="2649220"/>
            <a:ext cx="5029200" cy="27940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148</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Faucet balance and deployment funding • 149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TEST NETWORKS USUALLY HAVE SOMETHING CALLED A “FAUCET” </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Each test network has its own version of test ether, so each one must maintain its own faucet.. Here are some links to testnet ether instructions (in no particular order): Kovan Rinkeby Ropsten Test Networks
Current exercise: Testnet funding is separate from local pre-funded accounts. A public sender must hold enough test ETH to pay its deployment transaction fee.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w3.eth.get_balance(sender) &gt; estimated test fee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w3.eth.get_balance(sender) &gt; estimated test fee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Testnet funding is separate from local pre-funded accounts. A public sender must hold enough test ETH to pay its deployment transaction fee.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HTTP provider timeout and connection evidence • 150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THE PROVIDER IS HOW WEB3 TALKS TO THE BLOCKCHAIN. PROVI</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The most common ways to connect to your node are: IPC (uses local filesystem: fastest and most secure) Websockets (works remotely, faster than HTTP) HTTP (more nodes support it) Providers
Technical reading: Choose the exact isolated RPC URL. Connectivity failures must fail the activity, not be swallowed as a successful negative authorization test.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Web3(Web3.HTTPProvider("http://127.0.0.1:8545"))</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Web3(Web3.HTTPProvider("http://127.0.0.1:8545"))</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Choose the exact isolated RPC URL. Connectivity failures must fail the activity, not be swallowed as a successful negative authorization test.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Chain ID readback before contract calls • 151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Read the provider chain ID and compare it to the manifest before invoking an ABI at the address. Different chains may have different code at the same address.
Acceptance: provider.chain_id == manifest["chainId"]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provider.chain_id == manifest["chainId"]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provider.chain_id == manifest["chainId"]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Read the provider chain ID and compare it to the manifest before invoking an ABI at the address. Different chains may have different code at the same address.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Python interpreter and pinned dependency identity • 152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Use an activated activity environment and python -m pip. Verify package versions to avoid calling a different interpreter or stale client API.
Acceptance: python -m pip show web3 eth-tester py-evm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python -m pip show web3 eth-tester py-evm</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python -m pip show web3 eth-tester py-evm</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Use an activated activity environment and python -m pip. Verify package versions to avoid calling a different interpreter or stale client API.</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Initialize real PyEVM-backed provider • 153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FROM WEB3 IMPORT WEB3</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w3 = Web3(Web3.HTTPProvider('http://127.0.0.1:8545')) The quickest way to interact with the Ethereum blockchain is to use a remote node provider, like Infura. You can connect to a remote node by specifying the endpoint, just like the previous local node example: from web3 import Web3 w3 =…
Technical reading: EthereumTesterProvider can execute actual EVM bytecode with the selected backend. It is not a Python mapping pretending to be a contract.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EthereumTester(PyEVMBackend()) → EthereumTesterProvider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EthereumTester(PyEVMBackend()) → EthereumTesterProvider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EthereumTesterProvider can execute actual EVM bytecode with the selected backend. It is not a Python mapping pretending to be a contract.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Hosted provider and local key boundary • 154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INFURA ALLOWS YOU TO ASSESS THE ETHEREUM BLOCKCHAIN.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Sign up an account here https://infura.io/ Sign Up Infura
Technical reading: Original Infura instructions are dated tool context. Hosted RPC authentication keys do not grant signing authority; this course baseline needs no hosted API key.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HTTPProvider endpoint != account signer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HTTPProvider endpoint != account signer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Infura instructions are dated tool context. Hosted RPC authentication keys do not grant signing authority; this course baseline needs no hosted API key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54-02.png"/>
          <p:cNvPicPr>
            <a:picLocks noChangeAspect="1"/>
          </p:cNvPicPr>
          <p:nvPr/>
        </p:nvPicPr>
        <p:blipFill>
          <a:blip r:embed="rId2"/>
          <a:stretch>
            <a:fillRect/>
          </a:stretch>
        </p:blipFill>
        <p:spPr>
          <a:xfrm>
            <a:off x="1005840" y="2953449"/>
            <a:ext cx="5029200" cy="2185541"/>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154</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Provider endpoint configuration and secret exclusion • 155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hosted project endpoint belongs in an excluded environment file if used. Never place production API credentials in a public activity, prompt or deployment manifest.
Acceptance: Local baseline RPC URL; no hosted credential required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Local baseline RPC URL; no hosted credential required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baseline RPC URL; no hosted credential required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hosted project endpoint belongs in an excluded environment file if used. Never place production API credentials in a public activity, prompt or deployment man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Provider connectivity and account availability • 156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FROM WEB3 IMPORT WEB3</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Fill in your infura API key here infura_url = "https://mainnet.infura.io/v3/YOUR_INFURA_API_KEY_GOES_HERE" web3 = Web3(Web3.HTTPProvider(infura_url)) print(web3.isConnected()) print(web3.eth.blockNumber) Test Infura EP with Web3 Python
Technical reading: The optional local RPC route needs at least three unlocked disposable accounts. Public RPC endpoints commonly do not expose unlocked signing accounts.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assert w3.is_connected(); assert len(w3.eth.accounts)&gt;=3</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assert w3.is_connected(); assert len(w3.eth.accounts)&gt;=3</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optional local RPC route needs at least three unlocked disposable accounts. Public RPC endpoints commonly do not expose unlocked signing accounts.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web3py8 block-number API readback • 157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WEB3.ETH.BLOCKNUMBER</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web3.eth.gasPrice web3.eth.default_account web3.eth.get_balance('&lt;address&gt;') web3.eth.get_transaction('&lt;address&gt;'') Getting Blockchain Info
Technical reading: Original camelCase client calls are historical. Read current head using block_number and identify the receipt block explicitly for repeatable monitoring.</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head=w3.eth.block_number; w3.eth.get_block(head)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head=w3.eth.block_number; w3.eth.get_block(head)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camelCase client calls are historical. Read current head using block_number and identify the receipt block explicitly for repeatable monitoring.</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Block hash and transaction list reconciliation • 158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Retrieve the receipt block and verify the transaction hash is included. This links a contract action to an actual execution block.
Acceptance: receipt.transactionHash in get_block(n).transactions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receipt.transactionHash in get_block(n).transactions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receipt.transactionHash in get_block(n).transactions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Retrieve the receipt block and verify the transaction hash is included. This links a contract action to an actual execution block.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Account balance in wei and native transfer delta • 159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YOU CAN USE WEB3 TO CHECK OUR ETHEREUM WALLET BALANCE A</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balance = web3.eth.getBalance("YOUR_ACCOUNT_GOES_HERE") print(web3.fromWei(balance, "ether")) Check Your Account Balance
Technical reading: get_balance returns wei on the selected chain. Convert for display only; seller’s incoming escrow delta equals price while sender pays gas.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w3.from_wei(w3.eth.get_balance(b),"ether")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w3.from_wei(w3.eth.get_balance(b),"ether")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get_balance returns wei on the selected chain. Convert for display only; seller’s incoming escrow delta equals price while sender pays gas.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59-02.png"/>
          <p:cNvPicPr>
            <a:picLocks noChangeAspect="1"/>
          </p:cNvPicPr>
          <p:nvPr/>
        </p:nvPicPr>
        <p:blipFill>
          <a:blip r:embed="rId2"/>
          <a:stretch>
            <a:fillRect/>
          </a:stretch>
        </p:blipFill>
        <p:spPr>
          <a:xfrm>
            <a:off x="2638342" y="2560320"/>
            <a:ext cx="1764195"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159</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Token-address ABI and network match • 160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HTTPS://ETHERSCAN.IO/TOKEN/0XD26114CD6EE289ACCF82350C8D</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OMG Token
Technical reading: An arbitrary published token address is not this activity instance. Use current deployment ABI/address/chain tuple and check name/symbol against that source.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contract(address=manifest.address,abi=manifest.contract)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contract(address=manifest.address,abi=manifest.contract)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arbitrary published token address is not this activity instance. Use current deployment ABI/address/chain tuple and check name/symbol against that source.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60-02.png"/>
          <p:cNvPicPr>
            <a:picLocks noChangeAspect="1"/>
          </p:cNvPicPr>
          <p:nvPr/>
        </p:nvPicPr>
        <p:blipFill>
          <a:blip r:embed="rId2"/>
          <a:stretch>
            <a:fillRect/>
          </a:stretch>
        </p:blipFill>
        <p:spPr>
          <a:xfrm>
            <a:off x="1910205" y="2560320"/>
            <a:ext cx="3220469"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160</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ABI JSON and contract instance creation • 161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IMPORT JSON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from web3 import Web3 # Fill in your infura API key here infura_url = "https://mainnet.infura.io/v3/95408920a948489c99c5bcb436235bd2" web3 = Web3(Web3.HTTPProvider(infura_url)) # OMG Address abi = json.loads('[{"...."}]') # OMG ABI address = '0xd26114cd6EE289AccF82350c8d8487fedB8A0C07' contract =…
Technical reading: Load the generated contract.json ABI without inventing methods. The same ABI describes deployment constructor and callable interfaces.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art=json.load(...); w3.eth.contract(abi=art["abi"])</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art=json.load(...); w3.eth.contract(abi=art["abi"])</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Load the generated contract.json ABI without inventing methods. The same ABI describes deployment constructor and callable interfaces.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ERC20 metadata query against supplied token • 162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USE WEB3.PY TO REQUEST THE NAME AND SYMBOL OF BANCOR TO</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https://etherscan.io/address/0x1f573d6fb3f13d689ff844b4ce37794d79a7ff1c#code Activity: Bancor Token
Technical reading: The legacy Bancor example is historical. Query WorkshopToken name,symbol,decimals from the actual local deployment to prove client ABI readback.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name().call(); symbol().call(); decimals().call()</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name().call(); symbol().call(); decimals().call()</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legacy Bancor example is historical. Query WorkshopToken name,symbol,decimals from the actual local deployment to prove client ABI readback.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62-02.png"/>
          <p:cNvPicPr>
            <a:picLocks noChangeAspect="1"/>
          </p:cNvPicPr>
          <p:nvPr/>
        </p:nvPicPr>
        <p:blipFill>
          <a:blip r:embed="rId2"/>
          <a:stretch>
            <a:fillRect/>
          </a:stretch>
        </p:blipFill>
        <p:spPr>
          <a:xfrm>
            <a:off x="1670598" y="2560320"/>
            <a:ext cx="3699682"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162</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Ganache historical node versus current local EVM • 163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Ganache content is retained as dated tooling. Actual exercises use Py-EVM or an optional persistent Anvil JSONRPC node.
Acceptance: Py-EVM default; Anvil optional chain31337</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Py-EVM default; Anvil optional chain31337</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Py-EVM default; Anvil optional chain31337</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Ganache content is retained as dated tooling. Actual exercises use Py-EVM or an optional persistent Anvil JSONRPC node.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Persistent local node network parameters • 164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SETUP GANACHE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account private key Ganache network
Current exercise: Specify localhost host,port and chain ID. A browser needs this persistent RPC node; an in-process Py-EVM chain does not expose an HTTP endpoint.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anvil --chain-id31337 --host127.0.0.1 --port8545</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anvil --chain-id31337 --host127.0.0.1 --port8545</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Specify localhost host,port and chain ID. A browser needs this persistent RPC node; an in-process Py-EVM chain does not expose an HTTP endpoint.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64-01.png"/>
          <p:cNvPicPr>
            <a:picLocks noChangeAspect="1"/>
          </p:cNvPicPr>
          <p:nvPr/>
        </p:nvPicPr>
        <p:blipFill>
          <a:blip r:embed="rId2"/>
          <a:stretch>
            <a:fillRect/>
          </a:stretch>
        </p:blipFill>
        <p:spPr>
          <a:xfrm>
            <a:off x="1206277" y="2560320"/>
            <a:ext cx="4628324" cy="297179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164</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Compile Solidity and inspect executable artifacts • 165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source must produce ABI and nonempty bytecode using locked compiler settings. Source text alone does not establish compiled compatibility.
Acceptance: solc0.8.30 + optimizer200 + Cancun → contract.json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solc0.8.30 + optimizer200 + Cancun → contract.json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solc0.8.30 + optimizer200 + Cancun → contract.json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source must produce ABI and nonempty bytecode using locked compiler settings. Source text alone does not establish compiled compatibility.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Deploy local bytecode and assert resulting storage • 166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TEST THE FOLLOWING SMART CONTRACT ON GANACHE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Storage { uint256 myNum; constructor() { myNum = 5; } function store(uint256 num) public { myNum = num; } function retrieve() public view returns (uint256){ return myNum; } } Activity: Transact on Ganache
Current exercise: Submit constructor through the selected provider, wait for receipt and instantiate the deployed address. Call a getter and test a state change.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constructor.transact → receipt.contractAddress → getter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constructor.transact → receipt.contractAddress → getter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Submit constructor through the selected provider, wait for receipt and instantiate the deployed address. Call a getter and test a state change.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Transaction to local block monitor • 167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GANACHE BLOCKS AND TRANSACTIONS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Ganache Blocks and Transactions
Current exercise: Each positive transaction records hash,gasUsed and block. Inspect local receipts rather than pretending a local hash is visible on public Etherscan.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results.json.receipts:[hash,gasUsed,block]</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results.json.receipts:[hash,gasUsed,block]</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Each positive transaction records hash,gasUsed and block. Inspect local receipts rather than pretending a local hash is visible on public Etherscan.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67-02.png"/>
          <p:cNvPicPr>
            <a:picLocks noChangeAspect="1"/>
          </p:cNvPicPr>
          <p:nvPr/>
        </p:nvPicPr>
        <p:blipFill>
          <a:blip r:embed="rId2"/>
          <a:stretch>
            <a:fillRect/>
          </a:stretch>
        </p:blipFill>
        <p:spPr>
          <a:xfrm>
            <a:off x="1005840" y="2567910"/>
            <a:ext cx="5029200" cy="2956619"/>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167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Transaction fields and node-managed test signing • 168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 STEP1: CREATE THE TRANSACTION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tx = { 'nonce': nonce, 'to': account_2, 'value': web3.toWei(5, 'ether'), 'gas': 2000000, 'gasPrice': web3.toWei('50', 'gwei'), } # Step2: Sign the transaction signed_tx = web3.eth.account.signTransaction(tx, private_key) # Step 3: Send the transaction tx_hash =…
Technical reading: For isolated unlocked Anvil accounts, transact delegates test signing to the local node. Sender,value and gas are explicit; production/public signing is a separate route.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fn.transact({from:a,value:price,gas:3000000})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fn.transact({from:a,value:price,gas:3000000})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For isolated unlocked Anvil accounts, transact delegates test signing to the local node. Sender,value and gas are explicit; production/public signing is a separ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Receipt status and exception discrimination • 169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FROM WEB3 IMPORT WEB3</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ganache_url = "http://127.0.0.1:7545" web3 = Web3(Web3.HTTPProvider(ganache_url)) account_1 = '' # Fill me in account_2 = '' # Fill me in private_key = '' # Fill me in nonce = web3.eth.getTransactionCount(account_1) tx = { 'nonce': nonce, 'to': account_2, 'value': web3.toWei(1, 'ether'), 'gas': 2000000,…
Current exercise: Wait for the actual receipt and require status1. Negative tests accept actual EVM reverts only; RPC errors or ABI mistakes propagate as failures.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except(TransactionFailed,ContractLogicError): expected revert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except(TransactionFailed,ContractLogicError): expected revert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Wait for the actual receipt and require status1. Negative tests accept actual EVM reverts only; RPC errors or ABI mistakes propagate as failures.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Nonce and sequential local transaction receipts • 170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TRANSACTIONS ON GANACHE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Transactions on Ganache
Current exercise: Sequentially await receipts so state-dependent calls observe committed predecessor actions. Parallel nonce contention is outside the supplied local baseline.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fund receipt before release transaction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fund receipt before release transaction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Sequentially await receipts so state-dependent calls observe committed predecessor actions. Parallel nonce contention is outside the supplied local baseline.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70-01.png"/>
          <p:cNvPicPr>
            <a:picLocks noChangeAspect="1"/>
          </p:cNvPicPr>
          <p:nvPr/>
        </p:nvPicPr>
        <p:blipFill>
          <a:blip r:embed="rId2"/>
          <a:stretch>
            <a:fillRect/>
          </a:stretch>
        </p:blipFill>
        <p:spPr>
          <a:xfrm>
            <a:off x="1211545" y="2560320"/>
            <a:ext cx="4617789"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170</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Native Ether amount and sender fee • 171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TRANSFER 5 ETHERS FROM ACCOUNT 2 TO 3 IN GANACHE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Activity: Transactions on Ganache
Current exercise: The original5ETH local transfer example is retained as context. Our0.1ETH escrow separates recipient principal from sender execution cost.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seller balance delta ==10**17wei; sender also pays gas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seller balance delta ==10**17wei; sender also pays gas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original5ETH local transfer example is retained as context. Our0.1ETH escrow separates recipient principal from sender execution cost.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70-01.png"/>
          <p:cNvPicPr>
            <a:picLocks noChangeAspect="1"/>
          </p:cNvPicPr>
          <p:nvPr/>
        </p:nvPicPr>
        <p:blipFill>
          <a:blip r:embed="rId2"/>
          <a:stretch>
            <a:fillRect/>
          </a:stretch>
        </p:blipFill>
        <p:spPr>
          <a:xfrm>
            <a:off x="1211545" y="2560320"/>
            <a:ext cx="4617789"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171</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Source contract versus client acceptance oracle • 172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 SPDX-LICENSE-IDENTIFIER: GPL-3.0</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pragma solidity &gt;=0.7.0 &lt;0.9.0; contract Hello { string public myString; function store(string memory _myString) public { myString = _myString; } function retrieve() public view returns(string memory) { return myString; } } Deploy Test Contract on Remix
Technical reading: Solidity implements storage/control; Python only drives actual transactions and asserts returned state. It must not reproduce state in an in-memory mock.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runtime state → contract.functions getter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Contract.sol runtime state → contract.functions getter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implements storage/control; Python only drives actual transactions and asserts returned state. It must not reproduce state in an in-memory mock.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ABI decoding for current deployment • 173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IMPORT JSON</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from web3 import Web3 # Set up web3 connection with Ganache ganache_url = "http://127.0.0.1:7545" web3 = Web3(Web3.HTTPProvider(ganache_url)) # Set a default account to sign transaction web3.eth.defaultAccount = web3.eth.accounts[0] # Contract ABI abi = json.loads('XXXX') # Contract address address =…
Current exercise: Read the compiled ABI and connect it to the deployed contract address on the same chain. Mismatched ABI/address is an error, not a rejected authorization test.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w3.eth.contract(address=receipt.contractAddress,abi=art.abi)</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w3.eth.contract(address=receipt.contractAddress,abi=art.abi)</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Read the compiled ABI and connect it to the deployed contract address on the same chain. Mismatched ABI/address is an error, not a rejected authorization test.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Constructor ABI bytecode and initialized instance • 174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 INITIALIZE CONTRACT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contract = web3.eth.contract(address=address, abi=abi) # Store value tx_hash = contract.functions.store('Good Day').transact() # Wait for transaction to be mined web3.eth.waitForTransactionReceipt(tx_hash) # Retrieve value print(f'Retrive the value: {contract.functions.retrieve().call()}') Test Contract…
Technical reading: The contract factory needs ABI+bytecode while readback instance needs ABI+address. These correspond to different points in deployment lifecycle.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factory(ABI,bytecode) → deployed(ABI,address)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factory(ABI,bytecode) → deployed(ABI,address)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contract factory needs ABI+bytecode while readback instance needs ABI+address. These correspond to different points in deployment lifecycle.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ABI and bytecode from reproducible compilation • 175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WHERE TO GET ABI AND BYTECODE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Where to Get ABI and ByteCode
Technical reading: compile.cjs writes contract.json with ABI,bytecode,compiler,target and optimizer. Keep source/locks alongside it for reconstruction.</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contract.json:{abi,bytecode,compiler,evmVersion,optimizerRuns}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contract.json:{abi,bytecode,compiler,evmVersion,optimizerRuns}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compile.cjs writes contract.json with ABI,bytecode,compiler,target and optimizer. Keep source/locks alongside it for reconstruction.</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Current deployed address from successful receipt • 176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Read contractAddress from the constructor receipt; do not copy a stale example address. Validate nonempty code and manifest chain ID.
Acceptance: address=receipt.contractAddress; get_code(address)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address=receipt.contractAddress; get_code(address)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address=receipt.contractAddress; get_code(address)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Read contractAddress from the constructor receipt; do not copy a stale example address. Validate nonempty code and manifest chain ID.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Block and receipt evidence field cross-check • 177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CHECK BLOCKS ON GANACHE</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Check Blocks on Ganache
Current exercise: Match recorded result block/hash against current provider data. Preserve results before resetting the local chain; old ephemeral addresses cannot prove new state.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results.hash → current get_transaction_receipt(hash)</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results.hash → current get_transaction_receipt(hash)</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Match recorded result block/hash against current provider data. Preserve results before resetting the local chain; old ephemeral addresses cannot prove new stat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507492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77-00.png"/>
          <p:cNvPicPr>
            <a:picLocks noChangeAspect="1"/>
          </p:cNvPicPr>
          <p:nvPr/>
        </p:nvPicPr>
        <p:blipFill>
          <a:blip r:embed="rId2"/>
          <a:stretch>
            <a:fillRect/>
          </a:stretch>
        </p:blipFill>
        <p:spPr>
          <a:xfrm>
            <a:off x="1284493" y="2560320"/>
            <a:ext cx="4471893" cy="2971800"/>
          </a:xfrm>
          <a:prstGeom prst="rect">
            <a:avLst/>
          </a:prstGeom>
        </p:spPr>
      </p:pic>
      <p:sp>
        <p:nvSpPr>
          <p:cNvPr id="31" name="TextBox 30"/>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177</a:t>
            </a:r>
          </a:p>
        </p:txBody>
      </p:sp>
      <p:sp>
        <p:nvSpPr>
          <p:cNvPr id="32" name="TextBox 3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3" name="TextBox 3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4" name="TextBox 3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Complete local EVM acceptance workflow • 178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DEPLOY THE FOLLOWING SMART CONTRACT ON GANACHE AND TEST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 SPDX-License-Identifier: GPL-3.0 pragma solidity &gt;=0.7.0 &lt;0.9.0; contract Storage { uint256 myNum; constructor() { myNum = 5; } function store(uint256 num) public { myNum = num; } function retrieve() public view returns (uint256){ return myNum; } } Activity: Test Transaction with Web3
Current exercise: Compile,deploy,execute valid actions and check rejected invalid calls. Record state,receipt and source manifests; separate public-chain/browser boundaries.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ABI+bytecode → EVM receipts → assertions → manifest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ABI+bytecode → EVM receipts → assertions → manifest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Compile,deploy,execute valid actions and check rejected invalid calls. Record state,receipt and source manifests; separate public-chain/browser boundaries.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 eligible voting and duplicate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A5,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enrol defines eligibility; vote bounds option and flips voted before incrementing count.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Ballot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Ballot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enrol defines eligibility; vote bounds option and flips voted before incrementing count.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07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TEST ELIGIBLE VOTING AND DUPLICATE CONTROLS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test eligible voting and duplicate controls for an isolated test chain. Use Solidity 0.8.30 and web3.py 8.0.0 with EthereumTesterProvider backed by Py-EVM; also allow --rpc for an isolated unlocked local JSON-RPC test chain. Requirements: enrol defines eligibility; vote bounds option and flips voted before incrementing count. Read mock-data.json, derive a canonical SHA-256 digest where required, compile using pinned solc-js 0.8.30, deploy actual 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07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TEST ELIGIBLE VOTING AND DUPLICATE CONTROLS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236450 | tx cdfc600f1591e69601…
Block 2 | gasUsed 43969 | tx b806e630b64e954e84…
Block 3 | gasUsed 68268 | tx 08d74a9c60f172d65c…</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enrol defines eligibility; vote bounds option and flips voted before incrementing count.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 withdrawal controls against reentrancy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A5,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Checks-effects-interactions plus entered guard prevent recursive withdrawal; an actual adversarial contract probes the boundary.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SafeVault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SafeVault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Checks-effects-interactions plus entered guard prevent recursive withdrawal; an actual adversarial contract probes the boundary.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08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VERIFY WITHDRAWAL CONTROLS AGAINST REENTRANCY</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verify withdrawal controls against reentrancy for an isolated test chain. Use Solidity 0.8.30 and web3.py 8.0.0 with EthereumTesterProvider backed by Py-EVM; also allow --rpc for an isolated unlocked local JSON-RPC test chain. Requirements: Checks-effects-interactions plus entered guard prevent recursive withdrawal; an actual adversarial contract probes the boundary. Read mock-data.json, derive a canonical SHA-256 digest where required, compile using pinned solc-js 0.8.30, deploy actual EVM</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08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VERIFY WITHDRAWAL CONTROLS AGAINST REENTRANCY</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187795 | tx e1ee4c682e4512f616…
Block 2 | gasUsed 43455 | tx 8e808cb4e16b50eb46…
Block 3 | gasUsed 188874 | tx 397773fe4b0cf440ad…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Checks-effects-interactions plus entered guard prevent recursive withdrawal; an actual adversarial contract probes the b</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217</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Measure gas for storage transition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09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A5,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Measure cold zero-to-nonzero versus nonzero-to-nonzero SSTORE through receipts; report measured gas, not an assumed universal price.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GasBench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GasBench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Measure cold zero-to-nonzero versus nonzero-to-nonzero SSTORE through receipts; report measured gas, not an assumed universal price.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219</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09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MEASURE GAS FOR STORAGE TRANSITION CLASSES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measure gas for storage transition classes for an isolated test chain. Use Solidity 0.8.30 and web3.py 8.0.0 with EthereumTesterProvider backed by Py-EVM; also allow --rpc for an isolated unlocked local JSON-RPC test chain. Requirements: Measure cold zero-to-nonzero versus nonzero-to-nonzero SSTORE through receipts; report measured gas, not an assumed universal price. Read mock-data.json, derive a canonical SHA-256 digest where required, compile using pinned solc-js 0.8.30, deploy</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09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MEASURE GAS FOR STORAGE TRANSITION CLASSES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actual 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138683 | tx 513147763ebf03d504…
Block 2 | gasUsed 43776 | tx 37326bc3e9e6fe13a4…
Block 3 | gasUsed 26676 | tx dd2d62ff0dd40735b2…</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Measure cold zero-to-nonzero versus nonzero-to-nonzero SSTORE through receipts; report measured gas, not an assumed univ</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Index receipt events and reconcile records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A5,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Event ID, digest and timestamp are decoded from actual EVM receipts and reconciled with the business evidence list.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EventLedger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EventLedger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Event ID, digest and timestamp are decoded from actual EVM receipts and reconciled with the business evidence list.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10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INDEX RECEIPT EVENTS AND RECONCILE RECORDS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index receipt events and reconcile records for an isolated test chain. Use Solidity 0.8.30 and web3.py 8.0.0 with EthereumTesterProvider backed by Py-EVM; also allow --rpc for an isolated unlocked local JSON-RPC test chain. Requirements: Event ID, digest and timestamp are decoded from actual EVM receipts and reconciled with the business evidence list. Read mock-data.json, derive a canonical SHA-256 digest where required, compile using pinned solc-js 0.8.30,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225</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10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INDEX RECEIPT EVENTS AND RECONCILE RECORDS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deploy actual 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172059 | tx a2fe60a2fd565e2cdd…
Block 2 | gasUsed 46508 | tx 99a9a2ed8ef62eb3e6…</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Event ID, digest and timestamp are decoded from actual EVM receipts and reconciled with the business evidence list.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09 • PY-EVM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Gas receipt comparison — actual local measurement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Measured with Solidity 0.8.30, Cancun and optimizer 200. State transition affects gas; values are not universal public-chain fees.</a:t>
            </a:r>
          </a:p>
        </p:txBody>
      </p:sp>
      <p:sp>
        <p:nvSpPr>
          <p:cNvPr id="12" name="TextBox 11"/>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3" name="TextBox 12"/>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4" name="TextBox 13"/>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228</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Smart Contract Deployment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A6, A7, K5</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9" name="TextBox 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0" name="TextBox 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1" name="TextBox 1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dApp read-only certificate verification path • 180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 DEVELOP DAPP</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To develop and deploy an DApp requires the following components: smart contract (solidity) deploy smart contract on Blockchain Web3 to interact with Blockchain Metamask to interface between Web3 and Browser Node.js or React to build the frontend and backend server.
Technical reading: The actual static page reads a local manifest,checks injected wallet chain and calls owner/hash/revocation. A named RPC path binds frontend and contract state.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index.html → deployment.json → eth_call CertificateNFT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index.html → deployment.json → eth_call CertificateNFT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actual static page reads a local manifest,checks injected wallet chain and calls owner/hash/revocation. A named RPC path binds frontend and contract state.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80-04.png"/>
          <p:cNvPicPr>
            <a:picLocks noChangeAspect="1"/>
          </p:cNvPicPr>
          <p:nvPr/>
        </p:nvPicPr>
        <p:blipFill>
          <a:blip r:embed="rId2"/>
          <a:stretch>
            <a:fillRect/>
          </a:stretch>
        </p:blipFill>
        <p:spPr>
          <a:xfrm>
            <a:off x="1005840" y="3169636"/>
            <a:ext cx="2468880" cy="1753167"/>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180-05.png"/>
          <p:cNvPicPr>
            <a:picLocks noChangeAspect="1"/>
          </p:cNvPicPr>
          <p:nvPr/>
        </p:nvPicPr>
        <p:blipFill>
          <a:blip r:embed="rId3"/>
          <a:stretch>
            <a:fillRect/>
          </a:stretch>
        </p:blipFill>
        <p:spPr>
          <a:xfrm>
            <a:off x="3611880" y="2823764"/>
            <a:ext cx="2468880" cy="2444910"/>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180</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framework responsibilities separated • 181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 DAPP DEVELOPMENT FRAMEWORKS</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Truffle (Javascript) Hardhat (Typescript) Brownies (Python)
Current exercise: The original Truffle framework combines compilation,deployment and testing. The current package exposes each artifact explicitly with solc-js and Python client assertions.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compile.cjs → contract.json → run_activity.py → results.json</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compile.cjs → contract.json → run_activity.py → results.json</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Truffle framework combines compilation,deployment and testing. The current package exposes each artifact explicitly with solc-js and Python client </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Rectangle 28"/>
          <p:cNvSpPr/>
          <p:nvPr/>
        </p:nvSpPr>
        <p:spPr>
          <a:xfrm>
            <a:off x="96012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original-181-04.png"/>
          <p:cNvPicPr>
            <a:picLocks noChangeAspect="1"/>
          </p:cNvPicPr>
          <p:nvPr/>
        </p:nvPicPr>
        <p:blipFill>
          <a:blip r:embed="rId2"/>
          <a:stretch>
            <a:fillRect/>
          </a:stretch>
        </p:blipFill>
        <p:spPr>
          <a:xfrm>
            <a:off x="1005840" y="2839554"/>
            <a:ext cx="2468880" cy="2413330"/>
          </a:xfrm>
          <a:prstGeom prst="rect">
            <a:avLst/>
          </a:prstGeom>
        </p:spPr>
      </p:pic>
      <p:sp>
        <p:nvSpPr>
          <p:cNvPr id="31" name="Rectangle 30"/>
          <p:cNvSpPr/>
          <p:nvPr/>
        </p:nvSpPr>
        <p:spPr>
          <a:xfrm>
            <a:off x="3566160" y="2468880"/>
            <a:ext cx="2514600"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riginal-181-03.png"/>
          <p:cNvPicPr>
            <a:picLocks noChangeAspect="1"/>
          </p:cNvPicPr>
          <p:nvPr/>
        </p:nvPicPr>
        <p:blipFill>
          <a:blip r:embed="rId3"/>
          <a:stretch>
            <a:fillRect/>
          </a:stretch>
        </p:blipFill>
        <p:spPr>
          <a:xfrm>
            <a:off x="3611880" y="3403081"/>
            <a:ext cx="2468880" cy="1286276"/>
          </a:xfrm>
          <a:prstGeom prst="rect">
            <a:avLst/>
          </a:prstGeom>
        </p:spPr>
      </p:pic>
      <p:sp>
        <p:nvSpPr>
          <p:cNvPr id="33" name="TextBox 32"/>
          <p:cNvSpPr txBox="1"/>
          <p:nvPr/>
        </p:nvSpPr>
        <p:spPr>
          <a:xfrm>
            <a:off x="1005840" y="5797296"/>
            <a:ext cx="5120640" cy="256032"/>
          </a:xfrm>
          <a:prstGeom prst="rect">
            <a:avLst/>
          </a:prstGeom>
          <a:noFill/>
        </p:spPr>
        <p:txBody>
          <a:bodyPr wrap="square" anchor="t">
            <a:spAutoFit/>
          </a:bodyPr>
          <a:lstStyle/>
          <a:p>
            <a:pPr algn="l">
              <a:spcAft>
                <a:spcPts val="400"/>
              </a:spcAft>
            </a:pPr>
            <a:r>
              <a:rPr sz="1000" b="0">
                <a:solidFill>
                  <a:srgbClr val="5B6372"/>
                </a:solidFill>
                <a:latin typeface="Arial"/>
              </a:rPr>
              <a:t>Copied original diagram • v17 source 181</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231</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Retired toolchain replaced with pinned compiler package • 182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Truffle installation is historical. The learner lock pins solc0.8.30 and OpenZeppelin5.4.0, with a readable compiler entrypoint.
Acceptance: npm ci; node compile.cjs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npm ci; node compile.cjs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npm ci; node compile.cjs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Truffle installation is historical. The learner lock pins solc0.8.30 and OpenZeppelin5.4.0, with a readable compiler entrypoint.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Self-contained project dependency graph • 183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Each activity independently contains contract,client,mocks,prompts,compiler config and dependency locks. It must run without importing another activity.
Acceptance: Contract.sol + run_activity.py + mocks + package lock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run_activity.py + mocks + package lock</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Contract.sol + run_activity.py + mocks + package lock</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Each activity independently contains contract,client,mocks,prompts,compiler config and dependency locks. It must run without importing another activity.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233</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Deployment manifest replaces hidden migration state • 184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Use successful receipt address plus ABI/source/runtime hashes. A deployment script exit code alone is not current-chain proof.
Acceptance: deployment.json.chainId/address/sourceSha256/runtimeKeccak</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deployment.json.chainId/address/sourceSha256/runtimeKeccak</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deployment.json.chainId/address/sourceSha256/runtimeKeccak</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Use successful receipt address plus ABI/source/runtime hashes. A deployment script exit code alone is not current-chain proof.</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234</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 framework assertion and failure semantics • 185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supplied tests raise on failed receipt,state or missing rejection. A passing output is tied to exact toolchain/input and does not establish complete audit coverage.
Acceptance: assert receipt.status==1; assert expected state; reject invalid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assert receipt.status==1; assert expected state; reject invalid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assert receipt.status==1; assert expected state; reject invalid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supplied tests raise on failed receipt,state or missing rejection. A passing output is tied to exact toolchain/input and does not establish complete audit c</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235</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Pet adoption reservation and custody correspondence • 186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pet-shop example uses an ID→owner reservation. SupplyVerify uses batchID→custodian and rejects duplicate creation/unauthorized transfer; identifiers require valid domain controls.
Acceptance: mapping(bytes32=&gt;Batch); require(custodian==msg.sender)</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mapping(bytes32=&gt;Batch); require(custodian==msg.sender)</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mapping(bytes32=&gt;Batch); require(custodian==msg.sender)</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pet-shop example uses an ID→owner reservation. SupplyVerify uses batchID→custodian and rejects duplicate creation/unauthorized transfer; identifiers re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236</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Reservation identifier and owner transition • 187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 reservation or custody ID maps to one current owner. Ensure an uninitialized record cannot be transferred and a duplicate identifier cannot be silently overwritten.
Acceptance: require(existing custodian==0) before create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require(existing custodian==0) before create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require(existing custodian==0) before create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 reservation or custody ID maps to one current owner. Ensure an uninitialized record cannot be transferred and a duplicate identifier cannot be silently overwr</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237</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Adoption mapping versus supplier custody schema • 188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original Adoption mapping is retained as a source artifact. Current Batch state adds evidence digest and stage so transition evidence is inspectable.
Acceptance: Batch{address custodian;bytes32 digest;uint stage}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Batch{address custodian;bytes32 digest;uint stage}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Batch{address custodian;bytes32 digest;uint stage}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Adoption mapping is retained as a source artifact. Current Batch state adds evidence digest and stage so transition evidence is inspectable.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238</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Explicit constructor deployment and receipt evidence • 189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original migration source is historical. The Python factory submits actual constructor bytecode and extracts address only after receipt status succeeds.
Acceptance: fac.constructor(...).transact → wait_for_transaction_receipt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fac.constructor(...).transact → wait_for_transaction_receipt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fac.constructor(...).transact → wait_for_transaction_receipt</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migration source is historical. The Python factory submits actual constructor bytecode and extracts address only after receipt status succeeds.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239</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Frontend provider chain and current contract manifest • 190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page can be served statically but must load the same persistent-chain manifest. A Py-EVM manifest cannot be reached by a browser wallet.
Acceptance: manifest.rpc required; wallet chain must match</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manifest.rpc required; wallet chain must match</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manifest.rpc required; wallet chain must match</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page can be served statically but must load the same persistent-chain manifest. A Py-EVM manifest cannot be reached by a browser wallet.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240</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EIP1193 provider connect request • 191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Request wallet accounts under user approval and report actual connected address. Do not fake a wallet UI or infer signing approval from a button click.
Acceptance: ethereum.request({method:"eth_requestAccounts"})</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ethereum.request({method:"eth_requestAccounts"})</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ethereum.request({method:"eth_requestAccounts"})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Request wallet accounts under user approval and report actual connected address. Do not fake a wallet UI or infer signing approval from a button click.</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241</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Frontend ABI selector and token ID word • 192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supplied page uses exact Keccak-derived selectors and32-byte uint256 words for ownerOf/documentHash/revoked. ABI types define the request.
Acceptance: data=selector + tokenId.toString(16).padStart(64,"0")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data=selector + tokenId.toString(16).padStart(64,"0")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data=selector + tokenId.toString(16).padStart(64,"0")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supplied page uses exact Keccak-derived selectors and32-byte uint256 words for ownerOf/documentHash/revoked. ABI types define the request.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242</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Owner readback and certificate validity distinction • 193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An ERC721 holder can change through transfer. Read owner,digest and revoked independently; ownership is not immutable learner identity.
Acceptance: ownerOf(id) ∧ documentHash match ∧ !revoked(id)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ownerOf(id) ∧ documentHash match ∧ !revoked(id)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ownerOf(id) ∧ documentHash match ∧ !revoked(id)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An ERC721 holder can change through transfer. Read owner,digest and revoked independently; ownership is not immutable learner identity.</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Provider errors and missing-ID rejection display • 194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dApp catches failed reads and displays an error without a valid status. Missing token IDs and chain mismatch must not display old success evidence.
Acceptance: catch(e){out.textContent="Read failed: "+e.message}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catch(e){out.textContent="Read failed: "+e.message}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catch(e){out.textContent="Read failed: "+e.message}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dApp catches failed reads and displays an error without a valid status. Missing token IDs and chain mismatch must not display old success evidence.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244</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Local wallet network identity and RPC URL • 195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original Ganache7545/1337 network is historical. The optional specified Anvil route uses localhost8545 and31337; manifest must agree.
Acceptance: RPC:http://127.0.0.1:8545; chainId31337</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RPC:http://127.0.0.1:8545; chainId31337</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RPC:http://127.0.0.1:8545; chainId31337</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original Ganache7545/1337 network is historical. The optional specified Anvil route uses localhost8545 and31337; manifest must agree.</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245</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Disposable account import and key isolation • 196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Import only disposable local development keys when browser signing is needed. The page and public manifests store no signing secret; never reuse these keys on production.
Acceptance: Wallet signer local test-only; no private key in source</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Wallet signer local test-only; no private key in source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Wallet signer local test-only; no private key in source</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Import only disposable local development keys when browser signing is needed. The page and public manifests store no signing secret; never reuse these keys on p</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246</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server and manifest origin • 197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Serve the folder via an HTTP server so fetch can read deployment.json. The page uses local origin and current manifest; opening file:// is not the intended route.
Acceptance: python -m http.server8000 → localhost:8000/index.html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python -m http.server8000 → localhost:8000/index.html</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python -m http.server8000 → localhost:8000/index.html</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Serve the folder via an HTTP server so fetch can read deployment.json. The page uses local origin and current manifest; opening file:// is not the intended rout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247</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Browser evidence and mismatch negative case • 198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RETAINED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Record actual connected wallet,chain and readback for ID1,then switch network and show mismatch rejection. Local Python success is not browser execution evidence.
Acceptance: owner/hash/revoked readback + chain mismatch blocked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owner/hash/revoked readback + chain mismatch blocked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owner/hash/revoked readback + chain mismatch blocked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Record actual connected wallet,chain and readback for ID1,then switch network and show mismatch rejection. Local Python success is not browser execution evidenc</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248</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MetaCoin historical transfer mapped to ERC20 accounting • 199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Original MetaCoin example is retained as legacy code. WorkshopToken uses the actual standard ERC20 implementation and smallest-unit conservation tests.
Acceptance: ERC20 transfer500WSC; supply conserved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ERC20 transfer500WSC; supply conserved</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ERC20 transfer500WSC; supply conserved</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Original MetaCoin example is retained as legacy code. WorkshopToken uses the actual standard ERC20 implementation and smallest-unit conservation tests.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249</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Delegated transfer client call and state evidence • 200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The spender executes transferFrom only within learner allowance. Inspect actual after-balances and allowance alongside successful receipt.
Acceptance: approve20 → spender transferFrom20 → allowance0</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approve20 → spender transferFrom20 → allowance0</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approve20 → spender transferFrom20 → allowance0</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The spender executes transferFrom only within learner allowance. Inspect actual after-balances and allowance alongside successful receipt.</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250</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Recipient sender and supply reconciliation • 201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HISTORICAL V17 TOPIC</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Technical reading: After500 transfer and20 delegated spend, issuer999500,learner480 andspender20 sum to1000000 credits. Sender balances change while totalSupply stays fixed.
Acceptance: 999500+480+20 ==1000000WSC</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999500+480+20 ==1000000WSC</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999500+480+20 ==1000000WSC</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After500 transfer and20 delegated spend, issuer999500,learner480 andspender20 sum to1000000 credits. Sender balances change while totalSupply stays fixed.</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Getter/receipt values must satisfy this exact source-specific condition</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251</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Publish a reproducible local deployment manifest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A7, K5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Chain ID, address, ABI, bytecode hash and compiler lock uniquely describe a test deployment.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CertificateNFT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252</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CertificateNFT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Chain ID, address, ABI, bytecode hash and compiler lock uniquely describe a test deployment.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253</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11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PUBLISH A REPRODUCIBLE LOCAL DEPLOYMENT MANIFEST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publish a reproducible local deployment manifest for an isolated test chain. Use Solidity 0.8.30 and web3.py 8.0.0 with EthereumTesterProvider backed by Py-EVM; also allow --rpc for an isolated unlocked local JSON-RPC test chain. Requirements: Chain ID, address, ABI, bytecode hash and compiler lock uniquely describe a test deployment. Read mock-data.json, derive a canonical SHA-256 digest where required, compile using pinned solc-js 0.8.30, deploy actual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254</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11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PUBLISH A REPRODUCIBLE LOCAL DEPLOYMENT MANIFEST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255</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11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1062997 | tx f76b0b7602f1ca1ebd…
Block 2 | gasUsed 94344 | tx 8f720a92f2cc42652c…</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Chain ID, address, ABI, bytecode hash and compiler lock uniquely describe a test deployment.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256</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ALIGNED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 a wallet and verify a certificate dApp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A7, K5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EIP-1193 provider checks chain ID then eth_call ownerOf/documentHash; explicit local-RPC deployment provides manifest.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CertificateNFT source, Python assertions and receipts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Solidity 0.8.30 • Python Web3 • local Py-EVM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actual EVM positive/negative assertions pass</a:t>
            </a:r>
          </a:p>
        </p:txBody>
      </p:sp>
      <p:sp>
        <p:nvSpPr>
          <p:cNvPr id="23" name="TextBox 22"/>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4" name="TextBox 23"/>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5" name="TextBox 24"/>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257</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CertificateNFT runtime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NAMED STATE AND CONTROL</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EIP-1193 provider checks chain ID then eth_call ownerOf/documentHash; explicit local-RPC deployment provides manifest.</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Contract.sol → ABI / bytecode → EVM → receipt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mock-data.json + actor accounts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Solidity authorization and state requirements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run_activity.py asserts actual chain outputs</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258</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12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CONNECT A WALLET AND VERIFY A CERTIFICATE DAPP</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Act as a Solidity and Python Web3 developer. Build connect a wallet and verify a certificate dapp for an isolated test chain. Use Solidity 0.8.30 and web3.py 8.0.0 with EthereumTesterProvider backed by Py-EVM; also allow --rpc for an isolated unlocked local JSON-RPC test chain. Requirements: EIP-1193 provider checks chain ID then eth_call ownerOf/documentHash; explicit local-RPC deployment provides manifest. Read mock-data.json, derive a canonical SHA-256 digest where required, compile using pinned solc-js 0.8.30, deploy actual</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259</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 Coding prompt 12 •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PROMPT • CONNECT A WALLET AND VERIFY A CERTIFICATE DAPP</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300" b="0">
                <a:solidFill>
                  <a:srgbClr val="161B26"/>
                </a:solidFill>
                <a:latin typeface="Arial"/>
              </a:rPr>
              <a:t>EVM bytecode, wait for every receipt and assert receipt status. Include positive and negative authorization/state tests, output chain ID/address/transaction hashes/gas and a deployment manifest. Do not simulate contract state in Python or use mainnet keys. Use OpenZeppelin 5.4.0 for ERC standards. Return Contract.sol, run_activity.py, mock-data.json, compile.cjs, requirements.txt and a detailed troubleshooting guide. Explain integer units, failure cases and what the assertions prove. Never claim a browser wallet or public testnet succeeded unless actually exercised.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Generate actual Solidity EVM tests; never mock contract state.</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Exact business requirement and mock schema</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Require pinned compiler, negative tests and receipts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Review generated code against supplied baseline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260</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CODE • STATE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evidence •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57784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56816"/>
            <a:ext cx="5120640" cy="329184"/>
          </a:xfrm>
          <a:prstGeom prst="rect">
            <a:avLst/>
          </a:prstGeom>
          <a:noFill/>
        </p:spPr>
        <p:txBody>
          <a:bodyPr wrap="square" anchor="t">
            <a:spAutoFit/>
          </a:bodyPr>
          <a:lstStyle/>
          <a:p>
            <a:pPr algn="l">
              <a:spcAft>
                <a:spcPts val="400"/>
              </a:spcAft>
            </a:pPr>
            <a:r>
              <a:rPr sz="1300" b="1">
                <a:solidFill>
                  <a:srgbClr val="1F6FEB"/>
                </a:solidFill>
                <a:latin typeface="Arial"/>
              </a:rPr>
              <a:t>REAL LOCAL EVM OUTPUT</a:t>
            </a:r>
          </a:p>
        </p:txBody>
      </p:sp>
      <p:sp>
        <p:nvSpPr>
          <p:cNvPr id="9" name="TextBox 8"/>
          <p:cNvSpPr txBox="1"/>
          <p:nvPr/>
        </p:nvSpPr>
        <p:spPr>
          <a:xfrm>
            <a:off x="1005840" y="2404872"/>
            <a:ext cx="5120640" cy="1920240"/>
          </a:xfrm>
          <a:prstGeom prst="rect">
            <a:avLst/>
          </a:prstGeom>
          <a:noFill/>
        </p:spPr>
        <p:txBody>
          <a:bodyPr wrap="square" anchor="t">
            <a:spAutoFit/>
          </a:bodyPr>
          <a:lstStyle/>
          <a:p>
            <a:pPr algn="l">
              <a:spcAft>
                <a:spcPts val="200"/>
              </a:spcAft>
            </a:pPr>
            <a:r>
              <a:rPr sz="1500" b="0">
                <a:solidFill>
                  <a:srgbClr val="161B26"/>
                </a:solidFill>
                <a:latin typeface="Arial"/>
              </a:rPr>
              <a:t>Block 1 | gasUsed 1062997 | tx f76b0b7602f1ca1ebd…
Block 2 | gasUsed 94344 | tx ee8c1830f8d944833d…</a:t>
            </a:r>
          </a:p>
        </p:txBody>
      </p:sp>
      <p:sp>
        <p:nvSpPr>
          <p:cNvPr id="10" name="Rectangle 9"/>
          <p:cNvSpPr/>
          <p:nvPr/>
        </p:nvSpPr>
        <p:spPr>
          <a:xfrm>
            <a:off x="1005840" y="4489704"/>
            <a:ext cx="5120640"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608576"/>
            <a:ext cx="4846320" cy="1005840"/>
          </a:xfrm>
          <a:prstGeom prst="rect">
            <a:avLst/>
          </a:prstGeom>
          <a:noFill/>
        </p:spPr>
        <p:txBody>
          <a:bodyPr wrap="square" anchor="t">
            <a:spAutoFit/>
          </a:bodyPr>
          <a:lstStyle/>
          <a:p>
            <a:pPr algn="l">
              <a:spcAft>
                <a:spcPts val="200"/>
              </a:spcAft>
            </a:pPr>
            <a:r>
              <a:rPr sz="1300" b="1">
                <a:solidFill>
                  <a:srgbClr val="10B981"/>
                </a:solidFill>
                <a:latin typeface="Arial"/>
              </a:rPr>
              <a:t>EIP-1193 provider checks chain ID then eth_call ownerOf/documentHash; explicit local-RPC deployment provides manifest.</a:t>
            </a:r>
          </a:p>
        </p:txBody>
      </p:sp>
      <p:sp>
        <p:nvSpPr>
          <p:cNvPr id="12" name="Rounded Rectangle 11"/>
          <p:cNvSpPr/>
          <p:nvPr/>
        </p:nvSpPr>
        <p:spPr>
          <a:xfrm>
            <a:off x="6675120" y="1810512"/>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39712" y="198424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84248"/>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1</a:t>
            </a:r>
          </a:p>
        </p:txBody>
      </p:sp>
      <p:sp>
        <p:nvSpPr>
          <p:cNvPr id="15" name="TextBox 14"/>
          <p:cNvSpPr txBox="1"/>
          <p:nvPr/>
        </p:nvSpPr>
        <p:spPr>
          <a:xfrm>
            <a:off x="7452360" y="1920240"/>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INPUT</a:t>
            </a:r>
          </a:p>
        </p:txBody>
      </p:sp>
      <p:sp>
        <p:nvSpPr>
          <p:cNvPr id="16" name="TextBox 15"/>
          <p:cNvSpPr txBox="1"/>
          <p:nvPr/>
        </p:nvSpPr>
        <p:spPr>
          <a:xfrm>
            <a:off x="7452360" y="2212848"/>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Synthetic record and deterministic assertions</a:t>
            </a:r>
          </a:p>
        </p:txBody>
      </p:sp>
      <p:cxnSp>
        <p:nvCxnSpPr>
          <p:cNvPr id="17" name="Connector 16"/>
          <p:cNvCxnSpPr/>
          <p:nvPr/>
        </p:nvCxnSpPr>
        <p:spPr>
          <a:xfrm>
            <a:off x="9052560" y="3063240"/>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3236976"/>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39712" y="34107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3410712"/>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2</a:t>
            </a:r>
          </a:p>
        </p:txBody>
      </p:sp>
      <p:sp>
        <p:nvSpPr>
          <p:cNvPr id="21" name="TextBox 20"/>
          <p:cNvSpPr txBox="1"/>
          <p:nvPr/>
        </p:nvSpPr>
        <p:spPr>
          <a:xfrm>
            <a:off x="7452360" y="3346704"/>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CONTROL</a:t>
            </a:r>
          </a:p>
        </p:txBody>
      </p:sp>
      <p:sp>
        <p:nvSpPr>
          <p:cNvPr id="22" name="TextBox 21"/>
          <p:cNvSpPr txBox="1"/>
          <p:nvPr/>
        </p:nvSpPr>
        <p:spPr>
          <a:xfrm>
            <a:off x="7452360" y="3639312"/>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Positive state assertions + rejected invalid calls</a:t>
            </a:r>
          </a:p>
        </p:txBody>
      </p:sp>
      <p:cxnSp>
        <p:nvCxnSpPr>
          <p:cNvPr id="23" name="Connector 22"/>
          <p:cNvCxnSpPr/>
          <p:nvPr/>
        </p:nvCxnSpPr>
        <p:spPr>
          <a:xfrm>
            <a:off x="9052560" y="4489704"/>
            <a:ext cx="0" cy="155448"/>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4663440"/>
            <a:ext cx="4736592" cy="1243584"/>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39712" y="483717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9712" y="4837176"/>
            <a:ext cx="457200" cy="457200"/>
          </a:xfrm>
          <a:prstGeom prst="rect">
            <a:avLst/>
          </a:prstGeom>
          <a:noFill/>
        </p:spPr>
        <p:txBody>
          <a:bodyPr wrap="square" anchor="t">
            <a:spAutoFit/>
          </a:bodyPr>
          <a:lstStyle/>
          <a:p>
            <a:pPr algn="ctr">
              <a:spcAft>
                <a:spcPts val="400"/>
              </a:spcAft>
            </a:pPr>
            <a:r>
              <a:rPr sz="1700" b="1">
                <a:solidFill>
                  <a:srgbClr val="FFFFFF"/>
                </a:solidFill>
                <a:latin typeface="Arial"/>
              </a:rPr>
              <a:t>3</a:t>
            </a:r>
          </a:p>
        </p:txBody>
      </p:sp>
      <p:sp>
        <p:nvSpPr>
          <p:cNvPr id="27" name="TextBox 26"/>
          <p:cNvSpPr txBox="1"/>
          <p:nvPr/>
        </p:nvSpPr>
        <p:spPr>
          <a:xfrm>
            <a:off x="7452360" y="4773168"/>
            <a:ext cx="3749039" cy="265176"/>
          </a:xfrm>
          <a:prstGeom prst="rect">
            <a:avLst/>
          </a:prstGeom>
          <a:noFill/>
        </p:spPr>
        <p:txBody>
          <a:bodyPr wrap="square" anchor="t">
            <a:spAutoFit/>
          </a:bodyPr>
          <a:lstStyle/>
          <a:p>
            <a:pPr algn="l">
              <a:spcAft>
                <a:spcPts val="400"/>
              </a:spcAft>
            </a:pPr>
            <a:r>
              <a:rPr sz="1200" b="1">
                <a:solidFill>
                  <a:srgbClr val="1F6FEB"/>
                </a:solidFill>
                <a:latin typeface="Arial"/>
              </a:rPr>
              <a:t>EVIDENCE</a:t>
            </a:r>
          </a:p>
        </p:txBody>
      </p:sp>
      <p:sp>
        <p:nvSpPr>
          <p:cNvPr id="28" name="TextBox 27"/>
          <p:cNvSpPr txBox="1"/>
          <p:nvPr/>
        </p:nvSpPr>
        <p:spPr>
          <a:xfrm>
            <a:off x="7452360" y="5065776"/>
            <a:ext cx="3703320" cy="822960"/>
          </a:xfrm>
          <a:prstGeom prst="rect">
            <a:avLst/>
          </a:prstGeom>
          <a:noFill/>
        </p:spPr>
        <p:txBody>
          <a:bodyPr wrap="square" anchor="t">
            <a:spAutoFit/>
          </a:bodyPr>
          <a:lstStyle/>
          <a:p>
            <a:pPr algn="l">
              <a:spcAft>
                <a:spcPts val="400"/>
              </a:spcAft>
            </a:pPr>
            <a:r>
              <a:rPr sz="1200" b="0">
                <a:solidFill>
                  <a:srgbClr val="161B26"/>
                </a:solidFill>
                <a:latin typeface="Arial"/>
              </a:rPr>
              <a:t>Local EVM execution only; browser/Sepolia separate</a:t>
            </a:r>
          </a:p>
        </p:txBody>
      </p:sp>
      <p:sp>
        <p:nvSpPr>
          <p:cNvPr id="29" name="TextBox 2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0" name="TextBox 2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1" name="TextBox 3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EXACT CHAIN ID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network manifest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Network</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Chain ID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Evidence boundary</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In-process Py-EVM</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Read actual deployment.json</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Real opcode execution; browser cannot connect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Anvil localhost</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31337 (specified launch)</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Persistent JSON-RPC; optional wallet flow</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Ethereum Sepolia</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11155111</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Public testnet execution must be separately evidenced</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Never reuse test signing accounts for production. Current manifest must match the connected network.</a:t>
            </a:r>
          </a:p>
        </p:txBody>
      </p:sp>
      <p:sp>
        <p:nvSpPr>
          <p:cNvPr id="34" name="TextBox 33"/>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35" name="TextBox 34"/>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36" name="TextBox 35"/>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ILLUSTRATIVE IMAGE • ACTIVITY 06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inspection versus digital custody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upply-chain-inspection-v18.png"/>
          <p:cNvPicPr>
            <a:picLocks noChangeAspect="1"/>
          </p:cNvPicPr>
          <p:nvPr/>
        </p:nvPicPr>
        <p:blipFill>
          <a:blip r:embed="rId2"/>
          <a:stretch>
            <a:fillRect/>
          </a:stretch>
        </p:blipFill>
        <p:spPr>
          <a:xfrm>
            <a:off x="777240" y="1810512"/>
            <a:ext cx="5212080" cy="4251960"/>
          </a:xfrm>
          <a:prstGeom prst="rect">
            <a:avLst/>
          </a:prstGeom>
        </p:spPr>
      </p:pic>
      <p:sp>
        <p:nvSpPr>
          <p:cNvPr id="8" name="TextBox 7"/>
          <p:cNvSpPr txBox="1"/>
          <p:nvPr/>
        </p:nvSpPr>
        <p:spPr>
          <a:xfrm>
            <a:off x="6309360" y="1920240"/>
            <a:ext cx="4937760" cy="3566160"/>
          </a:xfrm>
          <a:prstGeom prst="rect">
            <a:avLst/>
          </a:prstGeom>
          <a:noFill/>
        </p:spPr>
        <p:txBody>
          <a:bodyPr wrap="square" anchor="t">
            <a:spAutoFit/>
          </a:bodyPr>
          <a:lstStyle/>
          <a:p>
            <a:pPr algn="l">
              <a:spcAft>
                <a:spcPts val="400"/>
              </a:spcAft>
            </a:pPr>
            <a:r>
              <a:rPr sz="2200" b="1">
                <a:solidFill>
                  <a:srgbClr val="161B26"/>
                </a:solidFill>
                <a:latin typeface="Arial"/>
              </a:rPr>
              <a:t>Batch BATCH-SG-042 → inspection evidence digest → current custodian → Handover event</a:t>
            </a:r>
          </a:p>
          <a:p>
            <a:pPr algn="l">
              <a:spcAft>
                <a:spcPts val="400"/>
              </a:spcAft>
            </a:pPr>
            <a:r>
              <a:rPr sz="1800" b="0">
                <a:solidFill>
                  <a:srgbClr val="5B6372"/>
                </a:solidFill>
                <a:latin typeface="Arial"/>
              </a:rPr>
              <a:t>A digest binds bytes. It does not prove the physical batch is authentic or correctly handled. Named inspector, controlled collection and custody permissions close different boundaries.</a:t>
            </a:r>
          </a:p>
          <a:p>
            <a:pPr algn="l">
              <a:spcAft>
                <a:spcPts val="400"/>
              </a:spcAft>
            </a:pPr>
            <a:r>
              <a:rPr sz="1400" b="0">
                <a:solidFill>
                  <a:srgbClr val="10B981"/>
                </a:solidFill>
                <a:latin typeface="Arial"/>
              </a:rPr>
              <a:t>Illustrative generated workplace image; contract evidence is the actual receipt and batch getter.</a:t>
            </a:r>
          </a:p>
        </p:txBody>
      </p:sp>
      <p:sp>
        <p:nvSpPr>
          <p:cNvPr id="9" name="TextBox 8"/>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10" name="TextBox 9"/>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11" name="TextBox 10"/>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READINESS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Code review and evidence handover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Requirement trace</a:t>
            </a:r>
          </a:p>
          <a:p>
            <a:pPr algn="l">
              <a:spcAft>
                <a:spcPts val="300"/>
              </a:spcAft>
            </a:pPr>
            <a:r>
              <a:rPr sz="1300" b="0">
                <a:solidFill>
                  <a:srgbClr val="5B6372"/>
                </a:solidFill>
                <a:latin typeface="Arial"/>
              </a:rPr>
              <a:t>A1 requirement → actor/function/precondition → test → result.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Coding review</a:t>
            </a:r>
          </a:p>
          <a:p>
            <a:pPr algn="l">
              <a:spcAft>
                <a:spcPts val="300"/>
              </a:spcAft>
            </a:pPr>
            <a:r>
              <a:rPr sz="1300" b="0">
                <a:solidFill>
                  <a:srgbClr val="5B6372"/>
                </a:solidFill>
                <a:latin typeface="Arial"/>
              </a:rPr>
              <a:t>A2/A3 source lines, role checks, unit handling and repaired defect.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Test record</a:t>
            </a:r>
          </a:p>
          <a:p>
            <a:pPr algn="l">
              <a:spcAft>
                <a:spcPts val="300"/>
              </a:spcAft>
            </a:pPr>
            <a:r>
              <a:rPr sz="1300" b="0">
                <a:solidFill>
                  <a:srgbClr val="5B6372"/>
                </a:solidFill>
                <a:latin typeface="Arial"/>
              </a:rPr>
              <a:t>A4/A5 executed tests, rejected invalid calls, receipts and monitoring.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Deployment record</a:t>
            </a:r>
          </a:p>
          <a:p>
            <a:pPr algn="l">
              <a:spcAft>
                <a:spcPts val="300"/>
              </a:spcAft>
            </a:pPr>
            <a:r>
              <a:rPr sz="1300" b="0">
                <a:solidFill>
                  <a:srgbClr val="5B6372"/>
                </a:solidFill>
                <a:latin typeface="Arial"/>
              </a:rPr>
              <a:t>A6/A7 grouped source, locks, manifest and complete instructions.</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264</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BRIEFING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before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WA 60 minutes</a:t>
            </a:r>
          </a:p>
          <a:p>
            <a:pPr algn="l">
              <a:spcAft>
                <a:spcPts val="300"/>
              </a:spcAft>
            </a:pPr>
            <a:r>
              <a:rPr sz="1300" b="0">
                <a:solidFill>
                  <a:srgbClr val="5B6372"/>
                </a:solidFill>
                <a:latin typeface="Arial"/>
              </a:rPr>
              <a:t>Answer all five knowledge questions individually.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PP 90 minutes</a:t>
            </a:r>
          </a:p>
          <a:p>
            <a:pPr algn="l">
              <a:spcAft>
                <a:spcPts val="300"/>
              </a:spcAft>
            </a:pPr>
            <a:r>
              <a:rPr sz="1300" b="0">
                <a:solidFill>
                  <a:srgbClr val="5B6372"/>
                </a:solidFill>
                <a:latin typeface="Arial"/>
              </a:rPr>
              <a:t>Complete four tasks and preserve source/test/deployment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Approved materials</a:t>
            </a:r>
          </a:p>
          <a:p>
            <a:pPr algn="l">
              <a:spcAft>
                <a:spcPts val="300"/>
              </a:spcAft>
            </a:pPr>
            <a:r>
              <a:rPr sz="1300" b="0">
                <a:solidFill>
                  <a:srgbClr val="5B6372"/>
                </a:solidFill>
                <a:latin typeface="Arial"/>
              </a:rPr>
              <a:t>Open-book slides, LG and approved materials.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Public deployment boundary</a:t>
            </a:r>
          </a:p>
          <a:p>
            <a:pPr algn="l">
              <a:spcAft>
                <a:spcPts val="300"/>
              </a:spcAft>
            </a:pPr>
            <a:r>
              <a:rPr sz="1300" b="0">
                <a:solidFill>
                  <a:srgbClr val="5B6372"/>
                </a:solidFill>
                <a:latin typeface="Arial"/>
              </a:rPr>
              <a:t>Follow assessor instructions for Sepolia. Local EVM evidence does not replace a required public-chain task.</a:t>
            </a:r>
          </a:p>
        </p:txBody>
      </p:sp>
      <p:sp>
        <p:nvSpPr>
          <p:cNvPr id="27" name="TextBox 2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28" name="TextBox 2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29" name="TextBox 2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265</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APPROVED INSTRUMENTS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Assessment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WA 60 minutes • PP 90 minutes</a:t>
            </a:r>
          </a:p>
        </p:txBody>
      </p:sp>
      <p:sp>
        <p:nvSpPr>
          <p:cNvPr id="7" name="TextBox 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8" name="TextBox 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9" name="TextBox 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266</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WA</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K1–K5 / 60 min</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PP</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A1–A7 / 90 min</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Assessor review</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Evidence + outcome</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Sign-off / appeal</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Candidate informed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COMPETENCY DECISION</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Assessor records evidence and competency decision under the approved assessment plan.</a:t>
            </a:r>
          </a:p>
        </p:txBody>
      </p:sp>
      <p:sp>
        <p:nvSpPr>
          <p:cNvPr id="75" name="TextBox 74"/>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76" name="TextBox 75"/>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77" name="TextBox 76"/>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CLOSING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and TRAQOM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Current SSG QR</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LMS course page</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Course sign-off</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Evidence retained</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COMPLETE BEFORE LEAVING</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Trainer supplies session QR and survey access. Do not publish live attendance QR in the static learner deck.</a:t>
            </a:r>
          </a:p>
        </p:txBody>
      </p:sp>
      <p:sp>
        <p:nvSpPr>
          <p:cNvPr id="55" name="TextBox 54"/>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56" name="TextBox 55"/>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57" name="TextBox 56"/>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TERTIARY INFOTECH ACADEMY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enquiry@tertiaryinfotech.com | +65 6100 0613</a:t>
            </a:r>
          </a:p>
        </p:txBody>
      </p:sp>
      <p:sp>
        <p:nvSpPr>
          <p:cNvPr id="7" name="TextBox 6"/>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8" name="TextBox 7"/>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9" name="TextBox 8"/>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269</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6473952"/>
            <a:ext cx="7040880" cy="219456"/>
          </a:xfrm>
          <a:prstGeom prst="rect">
            <a:avLst/>
          </a:prstGeom>
          <a:noFill/>
        </p:spPr>
        <p:txBody>
          <a:bodyPr wrap="square" anchor="t">
            <a:spAutoFit/>
          </a:bodyPr>
          <a:lstStyle/>
          <a:p>
            <a:pPr algn="l">
              <a:spcAft>
                <a:spcPts val="400"/>
              </a:spcAft>
            </a:pPr>
            <a:r>
              <a:rPr sz="800" b="0">
                <a:solidFill>
                  <a:srgbClr val="5B6372"/>
                </a:solidFill>
                <a:latin typeface="Arial"/>
              </a:rPr>
              <a:t>Develop Blockchain and Web3 App with Vibe Coding | TGS-2021009338</a:t>
            </a:r>
          </a:p>
        </p:txBody>
      </p:sp>
      <p:sp>
        <p:nvSpPr>
          <p:cNvPr id="56" name="TextBox 55"/>
          <p:cNvSpPr txBox="1"/>
          <p:nvPr/>
        </p:nvSpPr>
        <p:spPr>
          <a:xfrm>
            <a:off x="7589520" y="6473952"/>
            <a:ext cx="3657600" cy="219456"/>
          </a:xfrm>
          <a:prstGeom prst="rect">
            <a:avLst/>
          </a:prstGeom>
          <a:noFill/>
        </p:spPr>
        <p:txBody>
          <a:bodyPr wrap="square" anchor="t">
            <a:spAutoFit/>
          </a:bodyPr>
          <a:lstStyle/>
          <a:p>
            <a:pPr algn="l">
              <a:spcAft>
                <a:spcPts val="400"/>
              </a:spcAft>
            </a:pPr>
            <a:r>
              <a:rPr sz="800" b="0">
                <a:solidFill>
                  <a:srgbClr val="5B6372"/>
                </a:solidFill>
                <a:latin typeface="Arial"/>
              </a:rPr>
              <a:t>© 2026 Tertiary Infotech Academy Pte Ltd</a:t>
            </a:r>
          </a:p>
        </p:txBody>
      </p:sp>
      <p:sp>
        <p:nvSpPr>
          <p:cNvPr id="57" name="TextBox 56"/>
          <p:cNvSpPr txBox="1"/>
          <p:nvPr/>
        </p:nvSpPr>
        <p:spPr>
          <a:xfrm>
            <a:off x="11247120" y="6473952"/>
            <a:ext cx="731520" cy="219456"/>
          </a:xfrm>
          <a:prstGeom prst="rect">
            <a:avLst/>
          </a:prstGeom>
          <a:noFill/>
        </p:spPr>
        <p:txBody>
          <a:bodyPr wrap="square" anchor="t">
            <a:spAutoFit/>
          </a:bodyPr>
          <a:lstStyle/>
          <a:p>
            <a:pPr algn="l">
              <a:spcAft>
                <a:spcPts val="400"/>
              </a:spcAft>
            </a:pPr>
            <a:r>
              <a:rPr sz="900" b="0">
                <a:solidFill>
                  <a:srgbClr val="5B6372"/>
                </a:solidFill>
                <a:latin typeface="Arial"/>
              </a:rPr>
              <a:t>11</a:t>
            </a:r>
          </a:p>
        </p:txBody>
      </p:sp>
      <p:pic>
        <p:nvPicPr>
          <p:cNvPr id="58" name="Picture 57" descr="ref_login.png"/>
          <p:cNvPicPr>
            <a:picLocks noChangeAspect="1"/>
          </p:cNvPicPr>
          <p:nvPr/>
        </p:nvPicPr>
        <p:blipFill>
          <a:blip r:embed="rId3"/>
          <a:stretch>
            <a:fillRect/>
          </a:stretch>
        </p:blipFill>
        <p:spPr>
          <a:xfrm>
            <a:off x="1955775" y="1723644"/>
            <a:ext cx="8280144" cy="4119372"/>
          </a:xfrm>
          <a:prstGeom prst="rect">
            <a:avLst/>
          </a:prstGeom>
          <a:ln w="12700">
            <a:solidFill>
              <a:srgbClr val="E2E8F0"/>
            </a:solidFill>
          </a:ln>
        </p:spPr>
      </p:pic>
      <p:sp>
        <p:nvSpPr>
          <p:cNvPr id="59" name="TextBox 58"/>
          <p:cNvSpPr txBox="1"/>
          <p:nvPr/>
        </p:nvSpPr>
        <p:spPr>
          <a:xfrm>
            <a:off x="777240" y="5925312"/>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